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1"/>
    <p:restoredTop sz="85174"/>
  </p:normalViewPr>
  <p:slideViewPr>
    <p:cSldViewPr snapToGrid="0" snapToObjects="1">
      <p:cViewPr varScale="1">
        <p:scale>
          <a:sx n="70" d="100"/>
          <a:sy n="70" d="100"/>
        </p:scale>
        <p:origin x="1373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E9DD4A-0870-4B12-9EDE-32CC9E2BE48F}" type="doc">
      <dgm:prSet loTypeId="urn:microsoft.com/office/officeart/2005/8/layout/radial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30BEC992-142F-4E73-83B4-8CA653889836}">
      <dgm:prSet phldrT="[Text]"/>
      <dgm:spPr/>
      <dgm:t>
        <a:bodyPr/>
        <a:lstStyle/>
        <a:p>
          <a:pPr>
            <a:buNone/>
          </a:pPr>
          <a:r>
            <a:rPr lang="en-IN" b="1" dirty="0"/>
            <a:t>Tools Used</a:t>
          </a:r>
          <a:endParaRPr lang="en-IN" dirty="0"/>
        </a:p>
      </dgm:t>
    </dgm:pt>
    <dgm:pt modelId="{5E22B84F-6C3C-407D-8C10-7E96C92167E7}" type="parTrans" cxnId="{A1127CEF-8AD3-4D47-99DA-530872DEDC64}">
      <dgm:prSet/>
      <dgm:spPr/>
      <dgm:t>
        <a:bodyPr/>
        <a:lstStyle/>
        <a:p>
          <a:endParaRPr lang="en-IN"/>
        </a:p>
      </dgm:t>
    </dgm:pt>
    <dgm:pt modelId="{921DA6E7-4E92-40C7-AB68-91D4DD05D13B}" type="sibTrans" cxnId="{A1127CEF-8AD3-4D47-99DA-530872DEDC64}">
      <dgm:prSet/>
      <dgm:spPr/>
      <dgm:t>
        <a:bodyPr/>
        <a:lstStyle/>
        <a:p>
          <a:endParaRPr lang="en-IN"/>
        </a:p>
      </dgm:t>
    </dgm:pt>
    <dgm:pt modelId="{28006729-3F3D-489A-8A5C-2178AC7C7C7E}">
      <dgm:prSet phldrT="[Text]"/>
      <dgm:spPr/>
      <dgm:t>
        <a:bodyPr/>
        <a:lstStyle/>
        <a:p>
          <a:pPr>
            <a:buNone/>
          </a:pPr>
          <a:r>
            <a:rPr lang="en-IN" dirty="0"/>
            <a:t>Pandas</a:t>
          </a:r>
        </a:p>
      </dgm:t>
    </dgm:pt>
    <dgm:pt modelId="{AF7E736B-E24B-425D-9FB7-26988823F377}" type="parTrans" cxnId="{CD41DB74-2D77-452E-8813-78B96E486E75}">
      <dgm:prSet/>
      <dgm:spPr/>
      <dgm:t>
        <a:bodyPr/>
        <a:lstStyle/>
        <a:p>
          <a:endParaRPr lang="en-IN"/>
        </a:p>
      </dgm:t>
    </dgm:pt>
    <dgm:pt modelId="{E6D5F825-B4C7-449B-BCB0-D832CE011D58}" type="sibTrans" cxnId="{CD41DB74-2D77-452E-8813-78B96E486E75}">
      <dgm:prSet/>
      <dgm:spPr/>
      <dgm:t>
        <a:bodyPr/>
        <a:lstStyle/>
        <a:p>
          <a:endParaRPr lang="en-IN"/>
        </a:p>
      </dgm:t>
    </dgm:pt>
    <dgm:pt modelId="{59DFCD24-92D7-417D-9BB2-492A993BAA48}">
      <dgm:prSet phldrT="[Text]"/>
      <dgm:spPr/>
      <dgm:t>
        <a:bodyPr/>
        <a:lstStyle/>
        <a:p>
          <a:pPr>
            <a:buNone/>
          </a:pPr>
          <a:r>
            <a:rPr lang="en-IN" dirty="0"/>
            <a:t>Python</a:t>
          </a:r>
        </a:p>
      </dgm:t>
    </dgm:pt>
    <dgm:pt modelId="{0934CDCA-DEBB-4966-A22D-13B1F7348CA3}" type="parTrans" cxnId="{582B62C5-4EC9-49BA-BED9-44B676D3BBEB}">
      <dgm:prSet/>
      <dgm:spPr/>
      <dgm:t>
        <a:bodyPr/>
        <a:lstStyle/>
        <a:p>
          <a:endParaRPr lang="en-IN"/>
        </a:p>
      </dgm:t>
    </dgm:pt>
    <dgm:pt modelId="{423B548D-2EB1-4194-AD0E-573534C3475A}" type="sibTrans" cxnId="{582B62C5-4EC9-49BA-BED9-44B676D3BBEB}">
      <dgm:prSet/>
      <dgm:spPr/>
      <dgm:t>
        <a:bodyPr/>
        <a:lstStyle/>
        <a:p>
          <a:endParaRPr lang="en-IN"/>
        </a:p>
      </dgm:t>
    </dgm:pt>
    <dgm:pt modelId="{A28154CD-4741-4263-ADE6-5AE1E24DA43B}">
      <dgm:prSet phldrT="[Text]"/>
      <dgm:spPr/>
      <dgm:t>
        <a:bodyPr/>
        <a:lstStyle/>
        <a:p>
          <a:pPr>
            <a:buNone/>
          </a:pPr>
          <a:r>
            <a:rPr lang="en-IN" dirty="0"/>
            <a:t>Requests</a:t>
          </a:r>
        </a:p>
      </dgm:t>
    </dgm:pt>
    <dgm:pt modelId="{D8ACE754-6802-4699-87B0-1683A1233CCB}" type="parTrans" cxnId="{1066756C-5478-4981-A507-827282057220}">
      <dgm:prSet/>
      <dgm:spPr/>
      <dgm:t>
        <a:bodyPr/>
        <a:lstStyle/>
        <a:p>
          <a:endParaRPr lang="en-IN"/>
        </a:p>
      </dgm:t>
    </dgm:pt>
    <dgm:pt modelId="{00B773F2-1B67-4F60-9338-DF32B78401CB}" type="sibTrans" cxnId="{1066756C-5478-4981-A507-827282057220}">
      <dgm:prSet/>
      <dgm:spPr/>
      <dgm:t>
        <a:bodyPr/>
        <a:lstStyle/>
        <a:p>
          <a:endParaRPr lang="en-IN"/>
        </a:p>
      </dgm:t>
    </dgm:pt>
    <dgm:pt modelId="{626CFEF6-E3AF-408A-B4C2-8ED9B51C66F1}">
      <dgm:prSet phldrT="[Text]"/>
      <dgm:spPr/>
      <dgm:t>
        <a:bodyPr/>
        <a:lstStyle/>
        <a:p>
          <a:pPr>
            <a:buNone/>
          </a:pPr>
          <a:r>
            <a:rPr lang="en-IN" dirty="0" err="1"/>
            <a:t>BeautifulSoup</a:t>
          </a:r>
          <a:endParaRPr lang="en-IN" dirty="0"/>
        </a:p>
      </dgm:t>
    </dgm:pt>
    <dgm:pt modelId="{92F0CE12-F6BA-487E-927F-7631977C5F80}" type="parTrans" cxnId="{A4BA76CD-E1D8-4DB0-8168-D5A57FB4C704}">
      <dgm:prSet/>
      <dgm:spPr/>
      <dgm:t>
        <a:bodyPr/>
        <a:lstStyle/>
        <a:p>
          <a:endParaRPr lang="en-IN"/>
        </a:p>
      </dgm:t>
    </dgm:pt>
    <dgm:pt modelId="{71F8C8DF-10D8-453C-9FD5-46B4A3AE5A90}" type="sibTrans" cxnId="{A4BA76CD-E1D8-4DB0-8168-D5A57FB4C704}">
      <dgm:prSet/>
      <dgm:spPr/>
      <dgm:t>
        <a:bodyPr/>
        <a:lstStyle/>
        <a:p>
          <a:endParaRPr lang="en-IN"/>
        </a:p>
      </dgm:t>
    </dgm:pt>
    <dgm:pt modelId="{1452E6DC-0FAD-4906-B02D-94643791FE3C}">
      <dgm:prSet/>
      <dgm:spPr/>
      <dgm:t>
        <a:bodyPr/>
        <a:lstStyle/>
        <a:p>
          <a:pPr>
            <a:buNone/>
          </a:pPr>
          <a:r>
            <a:rPr lang="en-IN" dirty="0"/>
            <a:t>JSON</a:t>
          </a:r>
        </a:p>
      </dgm:t>
    </dgm:pt>
    <dgm:pt modelId="{4DB8E0B8-9885-4490-ACC1-6DAAC2D0DF74}" type="parTrans" cxnId="{CC73277B-C0C3-4A2F-9B6A-10DF256CBDDD}">
      <dgm:prSet/>
      <dgm:spPr/>
      <dgm:t>
        <a:bodyPr/>
        <a:lstStyle/>
        <a:p>
          <a:endParaRPr lang="en-IN"/>
        </a:p>
      </dgm:t>
    </dgm:pt>
    <dgm:pt modelId="{3A0350DF-DA12-47AD-BE15-7A5558067098}" type="sibTrans" cxnId="{CC73277B-C0C3-4A2F-9B6A-10DF256CBDDD}">
      <dgm:prSet/>
      <dgm:spPr/>
      <dgm:t>
        <a:bodyPr/>
        <a:lstStyle/>
        <a:p>
          <a:endParaRPr lang="en-IN"/>
        </a:p>
      </dgm:t>
    </dgm:pt>
    <dgm:pt modelId="{9B3ED1B1-DB00-4821-9B2A-5D1734D73736}" type="pres">
      <dgm:prSet presAssocID="{41E9DD4A-0870-4B12-9EDE-32CC9E2BE48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ABD46BAD-F679-464B-AB93-6E8055C59DD7}" type="pres">
      <dgm:prSet presAssocID="{30BEC992-142F-4E73-83B4-8CA653889836}" presName="centerShape" presStyleLbl="node0" presStyleIdx="0" presStyleCnt="1" custLinFactNeighborX="-121" custLinFactNeighborY="1244"/>
      <dgm:spPr/>
    </dgm:pt>
    <dgm:pt modelId="{D1182EFF-920D-4863-B82F-9139292497BB}" type="pres">
      <dgm:prSet presAssocID="{AF7E736B-E24B-425D-9FB7-26988823F377}" presName="Name9" presStyleLbl="parChTrans1D2" presStyleIdx="0" presStyleCnt="5"/>
      <dgm:spPr/>
    </dgm:pt>
    <dgm:pt modelId="{FD5242E4-F7AC-442D-A419-C683361429E3}" type="pres">
      <dgm:prSet presAssocID="{AF7E736B-E24B-425D-9FB7-26988823F377}" presName="connTx" presStyleLbl="parChTrans1D2" presStyleIdx="0" presStyleCnt="5"/>
      <dgm:spPr/>
    </dgm:pt>
    <dgm:pt modelId="{8D745FAE-AA60-42D6-A43D-7F9C58E60CF9}" type="pres">
      <dgm:prSet presAssocID="{28006729-3F3D-489A-8A5C-2178AC7C7C7E}" presName="node" presStyleLbl="node1" presStyleIdx="0" presStyleCnt="5">
        <dgm:presLayoutVars>
          <dgm:bulletEnabled val="1"/>
        </dgm:presLayoutVars>
      </dgm:prSet>
      <dgm:spPr/>
    </dgm:pt>
    <dgm:pt modelId="{3EFEE321-1CDA-4379-BC15-CBD6CB6E9B1B}" type="pres">
      <dgm:prSet presAssocID="{4DB8E0B8-9885-4490-ACC1-6DAAC2D0DF74}" presName="Name9" presStyleLbl="parChTrans1D2" presStyleIdx="1" presStyleCnt="5"/>
      <dgm:spPr/>
    </dgm:pt>
    <dgm:pt modelId="{E7A7C9E0-65C6-4BD7-A592-E317EC95EAA8}" type="pres">
      <dgm:prSet presAssocID="{4DB8E0B8-9885-4490-ACC1-6DAAC2D0DF74}" presName="connTx" presStyleLbl="parChTrans1D2" presStyleIdx="1" presStyleCnt="5"/>
      <dgm:spPr/>
    </dgm:pt>
    <dgm:pt modelId="{C15E5145-DD26-41FD-8290-1BB469FF4E69}" type="pres">
      <dgm:prSet presAssocID="{1452E6DC-0FAD-4906-B02D-94643791FE3C}" presName="node" presStyleLbl="node1" presStyleIdx="1" presStyleCnt="5">
        <dgm:presLayoutVars>
          <dgm:bulletEnabled val="1"/>
        </dgm:presLayoutVars>
      </dgm:prSet>
      <dgm:spPr/>
    </dgm:pt>
    <dgm:pt modelId="{4FFB5D54-091E-44C3-B257-2FDA3BA6C29A}" type="pres">
      <dgm:prSet presAssocID="{0934CDCA-DEBB-4966-A22D-13B1F7348CA3}" presName="Name9" presStyleLbl="parChTrans1D2" presStyleIdx="2" presStyleCnt="5"/>
      <dgm:spPr/>
    </dgm:pt>
    <dgm:pt modelId="{3513191F-0311-4D52-853E-C48683FA57E2}" type="pres">
      <dgm:prSet presAssocID="{0934CDCA-DEBB-4966-A22D-13B1F7348CA3}" presName="connTx" presStyleLbl="parChTrans1D2" presStyleIdx="2" presStyleCnt="5"/>
      <dgm:spPr/>
    </dgm:pt>
    <dgm:pt modelId="{CB0C921B-5576-4128-AF77-55067D82C621}" type="pres">
      <dgm:prSet presAssocID="{59DFCD24-92D7-417D-9BB2-492A993BAA48}" presName="node" presStyleLbl="node1" presStyleIdx="2" presStyleCnt="5">
        <dgm:presLayoutVars>
          <dgm:bulletEnabled val="1"/>
        </dgm:presLayoutVars>
      </dgm:prSet>
      <dgm:spPr/>
    </dgm:pt>
    <dgm:pt modelId="{2183988F-BE7A-4C95-AFB5-2A16CFDFD0C5}" type="pres">
      <dgm:prSet presAssocID="{D8ACE754-6802-4699-87B0-1683A1233CCB}" presName="Name9" presStyleLbl="parChTrans1D2" presStyleIdx="3" presStyleCnt="5"/>
      <dgm:spPr/>
    </dgm:pt>
    <dgm:pt modelId="{9B71E149-2C7B-498F-99DD-901FB21CC0FF}" type="pres">
      <dgm:prSet presAssocID="{D8ACE754-6802-4699-87B0-1683A1233CCB}" presName="connTx" presStyleLbl="parChTrans1D2" presStyleIdx="3" presStyleCnt="5"/>
      <dgm:spPr/>
    </dgm:pt>
    <dgm:pt modelId="{84A4895E-3359-482F-955B-2D6A121A8485}" type="pres">
      <dgm:prSet presAssocID="{A28154CD-4741-4263-ADE6-5AE1E24DA43B}" presName="node" presStyleLbl="node1" presStyleIdx="3" presStyleCnt="5">
        <dgm:presLayoutVars>
          <dgm:bulletEnabled val="1"/>
        </dgm:presLayoutVars>
      </dgm:prSet>
      <dgm:spPr/>
    </dgm:pt>
    <dgm:pt modelId="{38CE6B70-2484-494C-B13C-8AFBF166F9A6}" type="pres">
      <dgm:prSet presAssocID="{92F0CE12-F6BA-487E-927F-7631977C5F80}" presName="Name9" presStyleLbl="parChTrans1D2" presStyleIdx="4" presStyleCnt="5"/>
      <dgm:spPr/>
    </dgm:pt>
    <dgm:pt modelId="{A5403023-5242-4999-8C3D-42963C72014C}" type="pres">
      <dgm:prSet presAssocID="{92F0CE12-F6BA-487E-927F-7631977C5F80}" presName="connTx" presStyleLbl="parChTrans1D2" presStyleIdx="4" presStyleCnt="5"/>
      <dgm:spPr/>
    </dgm:pt>
    <dgm:pt modelId="{8AC9EBB0-ADC1-4F50-B0B3-F4692423BABD}" type="pres">
      <dgm:prSet presAssocID="{626CFEF6-E3AF-408A-B4C2-8ED9B51C66F1}" presName="node" presStyleLbl="node1" presStyleIdx="4" presStyleCnt="5">
        <dgm:presLayoutVars>
          <dgm:bulletEnabled val="1"/>
        </dgm:presLayoutVars>
      </dgm:prSet>
      <dgm:spPr/>
    </dgm:pt>
  </dgm:ptLst>
  <dgm:cxnLst>
    <dgm:cxn modelId="{3F124613-63D2-4CB2-A2AA-510542EAF712}" type="presOf" srcId="{1452E6DC-0FAD-4906-B02D-94643791FE3C}" destId="{C15E5145-DD26-41FD-8290-1BB469FF4E69}" srcOrd="0" destOrd="0" presId="urn:microsoft.com/office/officeart/2005/8/layout/radial1"/>
    <dgm:cxn modelId="{1806742B-808C-4EEA-B1BB-E4A06734FB31}" type="presOf" srcId="{D8ACE754-6802-4699-87B0-1683A1233CCB}" destId="{9B71E149-2C7B-498F-99DD-901FB21CC0FF}" srcOrd="1" destOrd="0" presId="urn:microsoft.com/office/officeart/2005/8/layout/radial1"/>
    <dgm:cxn modelId="{2AF4BF2F-8604-461D-8666-C7F32AA937B4}" type="presOf" srcId="{A28154CD-4741-4263-ADE6-5AE1E24DA43B}" destId="{84A4895E-3359-482F-955B-2D6A121A8485}" srcOrd="0" destOrd="0" presId="urn:microsoft.com/office/officeart/2005/8/layout/radial1"/>
    <dgm:cxn modelId="{7F632A3E-470C-4288-81A2-3FD6C9EBBB49}" type="presOf" srcId="{92F0CE12-F6BA-487E-927F-7631977C5F80}" destId="{38CE6B70-2484-494C-B13C-8AFBF166F9A6}" srcOrd="0" destOrd="0" presId="urn:microsoft.com/office/officeart/2005/8/layout/radial1"/>
    <dgm:cxn modelId="{B15F485D-6284-44DD-B20B-CDFBFFC2E732}" type="presOf" srcId="{28006729-3F3D-489A-8A5C-2178AC7C7C7E}" destId="{8D745FAE-AA60-42D6-A43D-7F9C58E60CF9}" srcOrd="0" destOrd="0" presId="urn:microsoft.com/office/officeart/2005/8/layout/radial1"/>
    <dgm:cxn modelId="{17AF0443-619B-494C-9D74-4F33569648B1}" type="presOf" srcId="{626CFEF6-E3AF-408A-B4C2-8ED9B51C66F1}" destId="{8AC9EBB0-ADC1-4F50-B0B3-F4692423BABD}" srcOrd="0" destOrd="0" presId="urn:microsoft.com/office/officeart/2005/8/layout/radial1"/>
    <dgm:cxn modelId="{75E0F866-F0C8-4AA3-B2A5-D2C0ED8E9040}" type="presOf" srcId="{AF7E736B-E24B-425D-9FB7-26988823F377}" destId="{D1182EFF-920D-4863-B82F-9139292497BB}" srcOrd="0" destOrd="0" presId="urn:microsoft.com/office/officeart/2005/8/layout/radial1"/>
    <dgm:cxn modelId="{0F59AE6B-4538-43DD-B187-3E37050EDC25}" type="presOf" srcId="{4DB8E0B8-9885-4490-ACC1-6DAAC2D0DF74}" destId="{E7A7C9E0-65C6-4BD7-A592-E317EC95EAA8}" srcOrd="1" destOrd="0" presId="urn:microsoft.com/office/officeart/2005/8/layout/radial1"/>
    <dgm:cxn modelId="{1066756C-5478-4981-A507-827282057220}" srcId="{30BEC992-142F-4E73-83B4-8CA653889836}" destId="{A28154CD-4741-4263-ADE6-5AE1E24DA43B}" srcOrd="3" destOrd="0" parTransId="{D8ACE754-6802-4699-87B0-1683A1233CCB}" sibTransId="{00B773F2-1B67-4F60-9338-DF32B78401CB}"/>
    <dgm:cxn modelId="{F4E6F952-CEC9-4E0F-9A1F-E1A5853702CA}" type="presOf" srcId="{4DB8E0B8-9885-4490-ACC1-6DAAC2D0DF74}" destId="{3EFEE321-1CDA-4379-BC15-CBD6CB6E9B1B}" srcOrd="0" destOrd="0" presId="urn:microsoft.com/office/officeart/2005/8/layout/radial1"/>
    <dgm:cxn modelId="{CD41DB74-2D77-452E-8813-78B96E486E75}" srcId="{30BEC992-142F-4E73-83B4-8CA653889836}" destId="{28006729-3F3D-489A-8A5C-2178AC7C7C7E}" srcOrd="0" destOrd="0" parTransId="{AF7E736B-E24B-425D-9FB7-26988823F377}" sibTransId="{E6D5F825-B4C7-449B-BCB0-D832CE011D58}"/>
    <dgm:cxn modelId="{CC73277B-C0C3-4A2F-9B6A-10DF256CBDDD}" srcId="{30BEC992-142F-4E73-83B4-8CA653889836}" destId="{1452E6DC-0FAD-4906-B02D-94643791FE3C}" srcOrd="1" destOrd="0" parTransId="{4DB8E0B8-9885-4490-ACC1-6DAAC2D0DF74}" sibTransId="{3A0350DF-DA12-47AD-BE15-7A5558067098}"/>
    <dgm:cxn modelId="{8D17E9A0-0F07-4DFD-9215-0EF8E38F3AB4}" type="presOf" srcId="{0934CDCA-DEBB-4966-A22D-13B1F7348CA3}" destId="{3513191F-0311-4D52-853E-C48683FA57E2}" srcOrd="1" destOrd="0" presId="urn:microsoft.com/office/officeart/2005/8/layout/radial1"/>
    <dgm:cxn modelId="{232E72B9-531E-4A6B-908D-4515229216F3}" type="presOf" srcId="{AF7E736B-E24B-425D-9FB7-26988823F377}" destId="{FD5242E4-F7AC-442D-A419-C683361429E3}" srcOrd="1" destOrd="0" presId="urn:microsoft.com/office/officeart/2005/8/layout/radial1"/>
    <dgm:cxn modelId="{210678BF-0068-4AF1-9AB6-642CF4B4C5A7}" type="presOf" srcId="{0934CDCA-DEBB-4966-A22D-13B1F7348CA3}" destId="{4FFB5D54-091E-44C3-B257-2FDA3BA6C29A}" srcOrd="0" destOrd="0" presId="urn:microsoft.com/office/officeart/2005/8/layout/radial1"/>
    <dgm:cxn modelId="{65D17BBF-5FF3-45B4-AB0B-9DD1B8A72EC2}" type="presOf" srcId="{41E9DD4A-0870-4B12-9EDE-32CC9E2BE48F}" destId="{9B3ED1B1-DB00-4821-9B2A-5D1734D73736}" srcOrd="0" destOrd="0" presId="urn:microsoft.com/office/officeart/2005/8/layout/radial1"/>
    <dgm:cxn modelId="{582B62C5-4EC9-49BA-BED9-44B676D3BBEB}" srcId="{30BEC992-142F-4E73-83B4-8CA653889836}" destId="{59DFCD24-92D7-417D-9BB2-492A993BAA48}" srcOrd="2" destOrd="0" parTransId="{0934CDCA-DEBB-4966-A22D-13B1F7348CA3}" sibTransId="{423B548D-2EB1-4194-AD0E-573534C3475A}"/>
    <dgm:cxn modelId="{B7E134CB-384C-4260-9CEF-D56C20785893}" type="presOf" srcId="{D8ACE754-6802-4699-87B0-1683A1233CCB}" destId="{2183988F-BE7A-4C95-AFB5-2A16CFDFD0C5}" srcOrd="0" destOrd="0" presId="urn:microsoft.com/office/officeart/2005/8/layout/radial1"/>
    <dgm:cxn modelId="{A4BA76CD-E1D8-4DB0-8168-D5A57FB4C704}" srcId="{30BEC992-142F-4E73-83B4-8CA653889836}" destId="{626CFEF6-E3AF-408A-B4C2-8ED9B51C66F1}" srcOrd="4" destOrd="0" parTransId="{92F0CE12-F6BA-487E-927F-7631977C5F80}" sibTransId="{71F8C8DF-10D8-453C-9FD5-46B4A3AE5A90}"/>
    <dgm:cxn modelId="{4952C4E1-0424-451F-B9EB-4EA58D9FBD8B}" type="presOf" srcId="{92F0CE12-F6BA-487E-927F-7631977C5F80}" destId="{A5403023-5242-4999-8C3D-42963C72014C}" srcOrd="1" destOrd="0" presId="urn:microsoft.com/office/officeart/2005/8/layout/radial1"/>
    <dgm:cxn modelId="{1DB7C6E3-B02E-4C22-8732-E34224FF60B0}" type="presOf" srcId="{30BEC992-142F-4E73-83B4-8CA653889836}" destId="{ABD46BAD-F679-464B-AB93-6E8055C59DD7}" srcOrd="0" destOrd="0" presId="urn:microsoft.com/office/officeart/2005/8/layout/radial1"/>
    <dgm:cxn modelId="{A1127CEF-8AD3-4D47-99DA-530872DEDC64}" srcId="{41E9DD4A-0870-4B12-9EDE-32CC9E2BE48F}" destId="{30BEC992-142F-4E73-83B4-8CA653889836}" srcOrd="0" destOrd="0" parTransId="{5E22B84F-6C3C-407D-8C10-7E96C92167E7}" sibTransId="{921DA6E7-4E92-40C7-AB68-91D4DD05D13B}"/>
    <dgm:cxn modelId="{A3B45DF0-0A83-42D6-A6F0-3294F6AFAAE2}" type="presOf" srcId="{59DFCD24-92D7-417D-9BB2-492A993BAA48}" destId="{CB0C921B-5576-4128-AF77-55067D82C621}" srcOrd="0" destOrd="0" presId="urn:microsoft.com/office/officeart/2005/8/layout/radial1"/>
    <dgm:cxn modelId="{DD7FCE8F-C586-4579-9D3C-3C536CF3630B}" type="presParOf" srcId="{9B3ED1B1-DB00-4821-9B2A-5D1734D73736}" destId="{ABD46BAD-F679-464B-AB93-6E8055C59DD7}" srcOrd="0" destOrd="0" presId="urn:microsoft.com/office/officeart/2005/8/layout/radial1"/>
    <dgm:cxn modelId="{BB0CD042-B24B-48D9-A89A-6F97654BE8E1}" type="presParOf" srcId="{9B3ED1B1-DB00-4821-9B2A-5D1734D73736}" destId="{D1182EFF-920D-4863-B82F-9139292497BB}" srcOrd="1" destOrd="0" presId="urn:microsoft.com/office/officeart/2005/8/layout/radial1"/>
    <dgm:cxn modelId="{AD3F59EE-54C4-44AB-848A-560329174904}" type="presParOf" srcId="{D1182EFF-920D-4863-B82F-9139292497BB}" destId="{FD5242E4-F7AC-442D-A419-C683361429E3}" srcOrd="0" destOrd="0" presId="urn:microsoft.com/office/officeart/2005/8/layout/radial1"/>
    <dgm:cxn modelId="{C4AD5C96-F717-4DD0-9DB5-598AF51A3E22}" type="presParOf" srcId="{9B3ED1B1-DB00-4821-9B2A-5D1734D73736}" destId="{8D745FAE-AA60-42D6-A43D-7F9C58E60CF9}" srcOrd="2" destOrd="0" presId="urn:microsoft.com/office/officeart/2005/8/layout/radial1"/>
    <dgm:cxn modelId="{98338F7C-CC9F-4E2D-BF29-99A8AD2EFF2F}" type="presParOf" srcId="{9B3ED1B1-DB00-4821-9B2A-5D1734D73736}" destId="{3EFEE321-1CDA-4379-BC15-CBD6CB6E9B1B}" srcOrd="3" destOrd="0" presId="urn:microsoft.com/office/officeart/2005/8/layout/radial1"/>
    <dgm:cxn modelId="{5CB32773-AF21-4F14-A756-4EF095B13C54}" type="presParOf" srcId="{3EFEE321-1CDA-4379-BC15-CBD6CB6E9B1B}" destId="{E7A7C9E0-65C6-4BD7-A592-E317EC95EAA8}" srcOrd="0" destOrd="0" presId="urn:microsoft.com/office/officeart/2005/8/layout/radial1"/>
    <dgm:cxn modelId="{45AC6D11-8857-46FE-8136-4B59F8DEAF4D}" type="presParOf" srcId="{9B3ED1B1-DB00-4821-9B2A-5D1734D73736}" destId="{C15E5145-DD26-41FD-8290-1BB469FF4E69}" srcOrd="4" destOrd="0" presId="urn:microsoft.com/office/officeart/2005/8/layout/radial1"/>
    <dgm:cxn modelId="{4E7978BC-3F6E-4681-ADFB-1CC76BD079EE}" type="presParOf" srcId="{9B3ED1B1-DB00-4821-9B2A-5D1734D73736}" destId="{4FFB5D54-091E-44C3-B257-2FDA3BA6C29A}" srcOrd="5" destOrd="0" presId="urn:microsoft.com/office/officeart/2005/8/layout/radial1"/>
    <dgm:cxn modelId="{E3CB77B0-A829-442E-A371-6EF00B53ED4D}" type="presParOf" srcId="{4FFB5D54-091E-44C3-B257-2FDA3BA6C29A}" destId="{3513191F-0311-4D52-853E-C48683FA57E2}" srcOrd="0" destOrd="0" presId="urn:microsoft.com/office/officeart/2005/8/layout/radial1"/>
    <dgm:cxn modelId="{D5FE6B9E-228D-44D8-9BF3-517EA6AEE253}" type="presParOf" srcId="{9B3ED1B1-DB00-4821-9B2A-5D1734D73736}" destId="{CB0C921B-5576-4128-AF77-55067D82C621}" srcOrd="6" destOrd="0" presId="urn:microsoft.com/office/officeart/2005/8/layout/radial1"/>
    <dgm:cxn modelId="{3117C4A8-2DE4-4AFA-B823-C6FB010CA70E}" type="presParOf" srcId="{9B3ED1B1-DB00-4821-9B2A-5D1734D73736}" destId="{2183988F-BE7A-4C95-AFB5-2A16CFDFD0C5}" srcOrd="7" destOrd="0" presId="urn:microsoft.com/office/officeart/2005/8/layout/radial1"/>
    <dgm:cxn modelId="{0345D90D-A077-4A47-8138-D9BE191B6ADB}" type="presParOf" srcId="{2183988F-BE7A-4C95-AFB5-2A16CFDFD0C5}" destId="{9B71E149-2C7B-498F-99DD-901FB21CC0FF}" srcOrd="0" destOrd="0" presId="urn:microsoft.com/office/officeart/2005/8/layout/radial1"/>
    <dgm:cxn modelId="{C5E261A1-5ABD-4E8A-BAD1-64B16B425773}" type="presParOf" srcId="{9B3ED1B1-DB00-4821-9B2A-5D1734D73736}" destId="{84A4895E-3359-482F-955B-2D6A121A8485}" srcOrd="8" destOrd="0" presId="urn:microsoft.com/office/officeart/2005/8/layout/radial1"/>
    <dgm:cxn modelId="{3BA0D892-7173-4B80-88CB-0AB525BFC91B}" type="presParOf" srcId="{9B3ED1B1-DB00-4821-9B2A-5D1734D73736}" destId="{38CE6B70-2484-494C-B13C-8AFBF166F9A6}" srcOrd="9" destOrd="0" presId="urn:microsoft.com/office/officeart/2005/8/layout/radial1"/>
    <dgm:cxn modelId="{D53E2DB3-17D6-47F0-915D-B6FF1AA43330}" type="presParOf" srcId="{38CE6B70-2484-494C-B13C-8AFBF166F9A6}" destId="{A5403023-5242-4999-8C3D-42963C72014C}" srcOrd="0" destOrd="0" presId="urn:microsoft.com/office/officeart/2005/8/layout/radial1"/>
    <dgm:cxn modelId="{FAE0DE3B-CE72-432F-9323-DE754A1A2BC4}" type="presParOf" srcId="{9B3ED1B1-DB00-4821-9B2A-5D1734D73736}" destId="{8AC9EBB0-ADC1-4F50-B0B3-F4692423BABD}" srcOrd="10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D46BAD-F679-464B-AB93-6E8055C59DD7}">
      <dsp:nvSpPr>
        <dsp:cNvPr id="0" name=""/>
        <dsp:cNvSpPr/>
      </dsp:nvSpPr>
      <dsp:spPr>
        <a:xfrm>
          <a:off x="2267566" y="1368401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b="1" kern="1200" dirty="0"/>
            <a:t>Tools Used</a:t>
          </a:r>
          <a:endParaRPr lang="en-IN" sz="2400" kern="1200" dirty="0"/>
        </a:p>
      </dsp:txBody>
      <dsp:txXfrm>
        <a:off x="2417621" y="1518456"/>
        <a:ext cx="724532" cy="724532"/>
      </dsp:txXfrm>
    </dsp:sp>
    <dsp:sp modelId="{D1182EFF-920D-4863-B82F-9139292497BB}">
      <dsp:nvSpPr>
        <dsp:cNvPr id="0" name=""/>
        <dsp:cNvSpPr/>
      </dsp:nvSpPr>
      <dsp:spPr>
        <a:xfrm rot="16208117">
          <a:off x="2610473" y="1180807"/>
          <a:ext cx="342055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342055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772949" y="1188823"/>
        <a:ext cx="17102" cy="17102"/>
      </dsp:txXfrm>
    </dsp:sp>
    <dsp:sp modelId="{8D745FAE-AA60-42D6-A43D-7F9C58E60CF9}">
      <dsp:nvSpPr>
        <dsp:cNvPr id="0" name=""/>
        <dsp:cNvSpPr/>
      </dsp:nvSpPr>
      <dsp:spPr>
        <a:xfrm>
          <a:off x="2270793" y="1706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Pandas</a:t>
          </a:r>
        </a:p>
      </dsp:txBody>
      <dsp:txXfrm>
        <a:off x="2420848" y="151761"/>
        <a:ext cx="724532" cy="724532"/>
      </dsp:txXfrm>
    </dsp:sp>
    <dsp:sp modelId="{3EFEE321-1CDA-4379-BC15-CBD6CB6E9B1B}">
      <dsp:nvSpPr>
        <dsp:cNvPr id="0" name=""/>
        <dsp:cNvSpPr/>
      </dsp:nvSpPr>
      <dsp:spPr>
        <a:xfrm rot="20442018">
          <a:off x="3254354" y="1641526"/>
          <a:ext cx="322542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322542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407562" y="1650030"/>
        <a:ext cx="16127" cy="16127"/>
      </dsp:txXfrm>
    </dsp:sp>
    <dsp:sp modelId="{C15E5145-DD26-41FD-8290-1BB469FF4E69}">
      <dsp:nvSpPr>
        <dsp:cNvPr id="0" name=""/>
        <dsp:cNvSpPr/>
      </dsp:nvSpPr>
      <dsp:spPr>
        <a:xfrm>
          <a:off x="3539042" y="923143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JSON</a:t>
          </a:r>
        </a:p>
      </dsp:txBody>
      <dsp:txXfrm>
        <a:off x="3689097" y="1073198"/>
        <a:ext cx="724532" cy="724532"/>
      </dsp:txXfrm>
    </dsp:sp>
    <dsp:sp modelId="{4FFB5D54-091E-44C3-B257-2FDA3BA6C29A}">
      <dsp:nvSpPr>
        <dsp:cNvPr id="0" name=""/>
        <dsp:cNvSpPr/>
      </dsp:nvSpPr>
      <dsp:spPr>
        <a:xfrm rot="3181914">
          <a:off x="3031353" y="2386984"/>
          <a:ext cx="284116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284116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3166308" y="2396449"/>
        <a:ext cx="14205" cy="14205"/>
      </dsp:txXfrm>
    </dsp:sp>
    <dsp:sp modelId="{CB0C921B-5576-4128-AF77-55067D82C621}">
      <dsp:nvSpPr>
        <dsp:cNvPr id="0" name=""/>
        <dsp:cNvSpPr/>
      </dsp:nvSpPr>
      <dsp:spPr>
        <a:xfrm>
          <a:off x="3054614" y="2414060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Python</a:t>
          </a:r>
        </a:p>
      </dsp:txBody>
      <dsp:txXfrm>
        <a:off x="3204669" y="2564115"/>
        <a:ext cx="724532" cy="724532"/>
      </dsp:txXfrm>
    </dsp:sp>
    <dsp:sp modelId="{2183988F-BE7A-4C95-AFB5-2A16CFDFD0C5}">
      <dsp:nvSpPr>
        <dsp:cNvPr id="0" name=""/>
        <dsp:cNvSpPr/>
      </dsp:nvSpPr>
      <dsp:spPr>
        <a:xfrm rot="7604500">
          <a:off x="2249467" y="2386984"/>
          <a:ext cx="280244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280244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2382584" y="2396546"/>
        <a:ext cx="14012" cy="14012"/>
      </dsp:txXfrm>
    </dsp:sp>
    <dsp:sp modelId="{84A4895E-3359-482F-955B-2D6A121A8485}">
      <dsp:nvSpPr>
        <dsp:cNvPr id="0" name=""/>
        <dsp:cNvSpPr/>
      </dsp:nvSpPr>
      <dsp:spPr>
        <a:xfrm>
          <a:off x="1486971" y="2414060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/>
            <a:t>Requests</a:t>
          </a:r>
        </a:p>
      </dsp:txBody>
      <dsp:txXfrm>
        <a:off x="1637026" y="2564115"/>
        <a:ext cx="724532" cy="724532"/>
      </dsp:txXfrm>
    </dsp:sp>
    <dsp:sp modelId="{38CE6B70-2484-494C-B13C-8AFBF166F9A6}">
      <dsp:nvSpPr>
        <dsp:cNvPr id="0" name=""/>
        <dsp:cNvSpPr/>
      </dsp:nvSpPr>
      <dsp:spPr>
        <a:xfrm rot="11963450">
          <a:off x="1989149" y="1641526"/>
          <a:ext cx="316452" cy="33134"/>
        </a:xfrm>
        <a:custGeom>
          <a:avLst/>
          <a:gdLst/>
          <a:ahLst/>
          <a:cxnLst/>
          <a:rect l="0" t="0" r="0" b="0"/>
          <a:pathLst>
            <a:path>
              <a:moveTo>
                <a:pt x="0" y="16567"/>
              </a:moveTo>
              <a:lnTo>
                <a:pt x="316452" y="1656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2139464" y="1650182"/>
        <a:ext cx="15822" cy="15822"/>
      </dsp:txXfrm>
    </dsp:sp>
    <dsp:sp modelId="{8AC9EBB0-ADC1-4F50-B0B3-F4692423BABD}">
      <dsp:nvSpPr>
        <dsp:cNvPr id="0" name=""/>
        <dsp:cNvSpPr/>
      </dsp:nvSpPr>
      <dsp:spPr>
        <a:xfrm>
          <a:off x="1002543" y="923143"/>
          <a:ext cx="1024642" cy="102464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kern="1200" dirty="0" err="1"/>
            <a:t>BeautifulSoup</a:t>
          </a:r>
          <a:endParaRPr lang="en-IN" sz="900" kern="1200" dirty="0"/>
        </a:p>
      </dsp:txBody>
      <dsp:txXfrm>
        <a:off x="1152598" y="1073198"/>
        <a:ext cx="724532" cy="724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0991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4328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  <p:sldLayoutId id="2147483789" r:id="rId14"/>
    <p:sldLayoutId id="214748379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atesan-01/Data-Science-Capstone--IBM/blob/main/jupyter-labs-spacex-data-collection-api-v2.ipynb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labs-jupyter-spacex-Data%20wrangling-v2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jupyter-labs-eda-dataviz-v2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jupyter-labs-eda-sql-coursera_sqllite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atesan-01/Data-Science-Capstone--IBM/blob/main/lab-jupyter-launch-site-location-v2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6" y="4568734"/>
            <a:ext cx="251460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&lt;Name&gt;</a:t>
            </a:r>
          </a:p>
          <a:p>
            <a:r>
              <a:rPr lang="en-US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</a:rPr>
              <a:t>&lt;Date&gt;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Methodology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Outline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CBBBF-CD20-6B7C-DC96-24967D64281A}"/>
              </a:ext>
            </a:extLst>
          </p:cNvPr>
          <p:cNvSpPr txBox="1"/>
          <p:nvPr/>
        </p:nvSpPr>
        <p:spPr>
          <a:xfrm>
            <a:off x="1245354" y="3547943"/>
            <a:ext cx="289121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Data Collection &amp; Web Scraping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Data Wrangling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EDA &amp; SQL Analysis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Interactive Visual Analytics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 Narrow" panose="020B0606020202030204" pitchFamily="34" charset="0"/>
              </a:rPr>
              <a:t>Predictive Analysis</a:t>
            </a:r>
          </a:p>
          <a:p>
            <a:pPr marL="342900" indent="-342900">
              <a:buFont typeface="+mj-lt"/>
              <a:buAutoNum type="arabicPeriod"/>
            </a:pP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764C5A-92AF-D101-8710-B2356D28A1C3}"/>
              </a:ext>
            </a:extLst>
          </p:cNvPr>
          <p:cNvSpPr txBox="1"/>
          <p:nvPr/>
        </p:nvSpPr>
        <p:spPr>
          <a:xfrm>
            <a:off x="7010399" y="1983470"/>
            <a:ext cx="23295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8BFF12-37BC-4D46-EBAC-33A07F451573}"/>
              </a:ext>
            </a:extLst>
          </p:cNvPr>
          <p:cNvSpPr txBox="1"/>
          <p:nvPr/>
        </p:nvSpPr>
        <p:spPr>
          <a:xfrm>
            <a:off x="7422206" y="2432965"/>
            <a:ext cx="28736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EDA Visualization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SQL Analysis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Folium Map Results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Plotly</a:t>
            </a: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Dash Dashboard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Machine Learning Results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BA84A0-6664-4C68-E0B7-AC471CE1A2E4}"/>
              </a:ext>
            </a:extLst>
          </p:cNvPr>
          <p:cNvSpPr txBox="1"/>
          <p:nvPr/>
        </p:nvSpPr>
        <p:spPr>
          <a:xfrm>
            <a:off x="7052012" y="4290383"/>
            <a:ext cx="1839221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Conclusion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endParaRPr lang="en-IN" sz="2200" dirty="0">
              <a:latin typeface="Abadi" panose="020B0604020104020204" pitchFamily="34" charset="0"/>
            </a:endParaRPr>
          </a:p>
          <a:p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5449F2-0FA3-1C78-B09A-17C1EA19C8C9}"/>
              </a:ext>
            </a:extLst>
          </p:cNvPr>
          <p:cNvSpPr txBox="1"/>
          <p:nvPr/>
        </p:nvSpPr>
        <p:spPr>
          <a:xfrm>
            <a:off x="7034078" y="4547672"/>
            <a:ext cx="167308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endParaRPr lang="en-IN" dirty="0"/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2200" dirty="0">
                <a:latin typeface="Abadi" panose="020B0604020104020204" pitchFamily="34" charset="0"/>
              </a:rPr>
              <a:t>Appendix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903" y="2684972"/>
            <a:ext cx="4017889" cy="1039909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ACB788-2158-EB9A-1FD0-BBA75D69D694}"/>
              </a:ext>
            </a:extLst>
          </p:cNvPr>
          <p:cNvSpPr txBox="1"/>
          <p:nvPr/>
        </p:nvSpPr>
        <p:spPr>
          <a:xfrm>
            <a:off x="620486" y="1198451"/>
            <a:ext cx="11353800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sz="2200" dirty="0">
                <a:latin typeface="Abadi" panose="020B0604020104020204" pitchFamily="34" charset="0"/>
              </a:rPr>
              <a:t>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Predict the landing success of SpaceX Falcon 9's first stage to understand rocket reusability and launch costs.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endParaRPr lang="en-IN" dirty="0"/>
          </a:p>
          <a:p>
            <a:r>
              <a:rPr lang="en-IN" sz="2200" dirty="0">
                <a:latin typeface="Abadi" panose="020B0604020104020204" pitchFamily="34" charset="0"/>
              </a:rPr>
              <a:t>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Collected data using the SpaceX API and web scraping.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Performed data cleaning, data wrangling, EDA, and SQL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Created interactive maps using Folium and dashboards using </a:t>
            </a:r>
            <a:r>
              <a:rPr lang="en-IN" dirty="0" err="1">
                <a:latin typeface="Aptos" panose="020B0004020202020204" pitchFamily="34" charset="0"/>
              </a:rPr>
              <a:t>Plotly</a:t>
            </a:r>
            <a:r>
              <a:rPr lang="en-IN" dirty="0">
                <a:latin typeface="Aptos" panose="020B0004020202020204" pitchFamily="34" charset="0"/>
              </a:rPr>
              <a:t> Dash.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Built and evaluated Logistic Regression, SVM, Decision Tree, and KNN models.</a:t>
            </a:r>
          </a:p>
          <a:p>
            <a:pPr lvl="0"/>
            <a:endParaRPr lang="en-IN" sz="2200" b="1" dirty="0"/>
          </a:p>
          <a:p>
            <a:r>
              <a:rPr lang="en-IN" sz="2200" dirty="0">
                <a:latin typeface="Abadi" panose="020B0604020104020204" pitchFamily="34" charset="0"/>
              </a:rPr>
              <a:t>Key Results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 err="1"/>
              <a:t>Analyzed</a:t>
            </a:r>
            <a:r>
              <a:rPr lang="en-IN" dirty="0"/>
              <a:t> </a:t>
            </a:r>
            <a:r>
              <a:rPr lang="en-IN" dirty="0">
                <a:latin typeface="Aptos" panose="020B0004020202020204" pitchFamily="34" charset="0"/>
              </a:rPr>
              <a:t>launch success patterns across launch sites, orbit types, payloads, and years.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Used interactive visualizations to explore launch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Evaluated classification models using accuracy and confusion matrices.</a:t>
            </a:r>
          </a:p>
          <a:p>
            <a:pPr lvl="0"/>
            <a:endParaRPr lang="en-IN" dirty="0"/>
          </a:p>
          <a:p>
            <a:r>
              <a:rPr lang="en-IN" sz="2200" dirty="0">
                <a:latin typeface="Abadi" panose="020B0604020104020204" pitchFamily="34" charset="0"/>
              </a:rPr>
              <a:t>Conclusion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Data analytics and machine learning can help predict first-stage landing outcomes and support decisions about booster reusability and launch-cost estimation.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958697" y="2521403"/>
            <a:ext cx="5660840" cy="18984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A5FF7-59E4-756F-726C-4957CEACD720}"/>
              </a:ext>
            </a:extLst>
          </p:cNvPr>
          <p:cNvSpPr txBox="1"/>
          <p:nvPr/>
        </p:nvSpPr>
        <p:spPr>
          <a:xfrm>
            <a:off x="734028" y="1346956"/>
            <a:ext cx="11190514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sz="2200" dirty="0">
                <a:latin typeface="Abadi" panose="020B0604020104020204" pitchFamily="34" charset="0"/>
              </a:rPr>
              <a:t>Project Background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SpaceX operates the Falcon 9 rocket, which is designed to recover and reuse its first stage.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Reusing the first stage can reduce launch costs compared with expendable rockets.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Space Y aims to compete in the commercial space-launch industry by understanding the factors affecting launch success.</a:t>
            </a:r>
          </a:p>
          <a:p>
            <a:pPr lvl="0"/>
            <a:endParaRPr lang="en-IN" sz="2200" dirty="0">
              <a:latin typeface="Abadi" panose="020B0604020104020204" pitchFamily="34" charset="0"/>
            </a:endParaRPr>
          </a:p>
          <a:p>
            <a:r>
              <a:rPr lang="en-IN" sz="2200" dirty="0">
                <a:latin typeface="Abadi" panose="020B0604020104020204" pitchFamily="34" charset="0"/>
              </a:rPr>
              <a:t>Problem Statement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Determine whether the Falcon 9 first stage will land successfully.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Identify relationships between launch sites, payload mass, orbit type, and landing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Use historical launch data and machine learning to predict landing success.</a:t>
            </a:r>
          </a:p>
          <a:p>
            <a:pPr lvl="0"/>
            <a:endParaRPr lang="en-IN" sz="2200" dirty="0">
              <a:latin typeface="Abadi" panose="020B0604020104020204" pitchFamily="34" charset="0"/>
            </a:endParaRPr>
          </a:p>
          <a:p>
            <a:r>
              <a:rPr lang="en-IN" sz="2200" dirty="0">
                <a:latin typeface="Abadi" panose="020B0604020104020204" pitchFamily="34" charset="0"/>
              </a:rPr>
              <a:t>Project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Collect and </a:t>
            </a:r>
            <a:r>
              <a:rPr lang="en-IN" dirty="0" err="1">
                <a:latin typeface="Aptos" panose="020B0004020202020204" pitchFamily="34" charset="0"/>
              </a:rPr>
              <a:t>Analyze</a:t>
            </a:r>
            <a:r>
              <a:rPr lang="en-IN" dirty="0">
                <a:latin typeface="Aptos" panose="020B0004020202020204" pitchFamily="34" charset="0"/>
              </a:rPr>
              <a:t> SpaceX launch data.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Build interactive visualizations and dashboards.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>
                <a:latin typeface="Aptos" panose="020B0004020202020204" pitchFamily="34" charset="0"/>
              </a:rPr>
              <a:t>Compare classification models and identify the best-performing model for predicting landing outcomes.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14772" y="6025573"/>
            <a:ext cx="2743200" cy="401638"/>
          </a:xfrm>
        </p:spPr>
        <p:txBody>
          <a:bodyPr/>
          <a:lstStyle/>
          <a:p>
            <a:fld id="{5075537C-CA84-1446-933C-8E9D027F920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>
                <a:solidFill>
                  <a:srgbClr val="0B49CB"/>
                </a:solidFill>
                <a:latin typeface="Abadi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F1C738-6E3F-8158-8C58-D140B787D7A4}"/>
              </a:ext>
            </a:extLst>
          </p:cNvPr>
          <p:cNvSpPr txBox="1"/>
          <p:nvPr/>
        </p:nvSpPr>
        <p:spPr>
          <a:xfrm>
            <a:off x="701371" y="1032190"/>
            <a:ext cx="1145797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r>
              <a:rPr lang="en-IN" b="1" dirty="0"/>
              <a:t>1. Data Collection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SpaceX API:</a:t>
            </a:r>
            <a:r>
              <a:rPr lang="en-IN" dirty="0"/>
              <a:t> Retrieved launch records and mission details in JSON format.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Web Scraping:</a:t>
            </a:r>
            <a:r>
              <a:rPr lang="en-IN" dirty="0"/>
              <a:t> Extracted supplementary launch information from web pages using Python libraries such as Pandas and </a:t>
            </a:r>
            <a:r>
              <a:rPr lang="en-IN" dirty="0" err="1"/>
              <a:t>BeautifulSoup</a:t>
            </a:r>
            <a:r>
              <a:rPr lang="en-IN" dirty="0"/>
              <a:t>.</a:t>
            </a:r>
          </a:p>
          <a:p>
            <a:r>
              <a:rPr lang="en-IN" b="1" dirty="0"/>
              <a:t>2. Data Wrangling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Cleaned the collected data and handled missing values.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Selected relevant features for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Applied one-hot encoding to categorical variables to prepare data for machine learning.</a:t>
            </a:r>
          </a:p>
          <a:p>
            <a:r>
              <a:rPr lang="en-IN" b="1" dirty="0"/>
              <a:t>3. Exploratory Data Analysis (EDA)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Used Python, Pandas, Matplotlib, and Seaborn to visualize launch outcomes and identify patterns.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Used SQL queries to </a:t>
            </a:r>
            <a:r>
              <a:rPr lang="en-IN" dirty="0" err="1"/>
              <a:t>analyze</a:t>
            </a:r>
            <a:r>
              <a:rPr lang="en-IN" dirty="0"/>
              <a:t> launch sites, payloads, success rates, rankings, and launch trends over time.</a:t>
            </a:r>
          </a:p>
          <a:p>
            <a:r>
              <a:rPr lang="en-IN" b="1" dirty="0"/>
              <a:t>4. Interactive Visual Analytics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Folium:</a:t>
            </a:r>
            <a:r>
              <a:rPr lang="en-IN" dirty="0"/>
              <a:t> Created an interactive map showing launch sites and launch outcomes, with markers and proximity analysis.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 err="1"/>
              <a:t>Plotly</a:t>
            </a:r>
            <a:r>
              <a:rPr lang="en-IN" b="1" dirty="0"/>
              <a:t> Dash:</a:t>
            </a:r>
            <a:r>
              <a:rPr lang="en-IN" dirty="0"/>
              <a:t> Developed an interactive dashboard with dropdown filters, a payload range slider, a success pie chart, and a scatter plot.</a:t>
            </a:r>
          </a:p>
          <a:p>
            <a:r>
              <a:rPr lang="en-IN" b="1" dirty="0"/>
              <a:t>5. Predictive Analysis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Defined landing outcome (Class) as the target variable. Split the dataset into training and testing sets.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Trained and tuned Logistic Regression, Support Vector Machine (SVM), Decision Tree, and K-Nearest </a:t>
            </a:r>
            <a:r>
              <a:rPr lang="en-IN" dirty="0" err="1"/>
              <a:t>Neighbors</a:t>
            </a:r>
            <a:r>
              <a:rPr lang="en-IN" dirty="0"/>
              <a:t> (KNN) models.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Evaluated model performance using accuracy scores and confusion matrices to identify the best-performing model.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28EA21-97E6-B748-B2F0-A0F6DF697A0A}"/>
              </a:ext>
            </a:extLst>
          </p:cNvPr>
          <p:cNvSpPr txBox="1"/>
          <p:nvPr/>
        </p:nvSpPr>
        <p:spPr>
          <a:xfrm>
            <a:off x="756025" y="1303912"/>
            <a:ext cx="10543572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Data Sources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SpaceX REST API:</a:t>
            </a:r>
            <a:r>
              <a:rPr lang="en-IN" sz="2000" dirty="0"/>
              <a:t> Collected historical Falcon 9 launch records and mission details in JSON format.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Web Scraping:</a:t>
            </a:r>
            <a:r>
              <a:rPr lang="en-IN" sz="2000" dirty="0"/>
              <a:t> Extracted supplementary launch information from web pages using Python.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sz="2000" b="1" dirty="0"/>
              <a:t>Data Storage:</a:t>
            </a:r>
            <a:r>
              <a:rPr lang="en-IN" sz="2000" dirty="0"/>
              <a:t> Converted the collected information into Pandas </a:t>
            </a:r>
            <a:r>
              <a:rPr lang="en-IN" sz="2000" dirty="0" err="1"/>
              <a:t>DataFrames</a:t>
            </a:r>
            <a:r>
              <a:rPr lang="en-IN" sz="2000" dirty="0"/>
              <a:t> for analysis.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9192D-5BD5-DF81-2DC4-3CFB2B5D7A95}"/>
              </a:ext>
            </a:extLst>
          </p:cNvPr>
          <p:cNvSpPr txBox="1"/>
          <p:nvPr/>
        </p:nvSpPr>
        <p:spPr>
          <a:xfrm>
            <a:off x="770011" y="3214987"/>
            <a:ext cx="494498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Information Collected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Flight number and launch date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Booster version and launch site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Payload mass and orbit type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dirty="0"/>
              <a:t>Landing outcome and booster reuse information</a:t>
            </a:r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2075FF50-0027-C529-CE22-DC50F26EA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5380"/>
              </p:ext>
            </p:extLst>
          </p:nvPr>
        </p:nvGraphicFramePr>
        <p:xfrm>
          <a:off x="5461000" y="2695144"/>
          <a:ext cx="5566229" cy="34404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731000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  <a:p>
            <a:pPr marL="0" indent="0">
              <a:buNone/>
            </a:pPr>
            <a:r>
              <a:rPr lang="en-US" sz="2200">
                <a:solidFill>
                  <a:srgbClr val="1C7DDB"/>
                </a:solidFill>
                <a:latin typeface="Abadi"/>
              </a:rPr>
              <a:t>Place your flowchart of SpaceX API calls </a:t>
            </a:r>
            <a:r>
              <a:rPr lang="en-US" sz="2200" dirty="0">
                <a:solidFill>
                  <a:srgbClr val="1C7DDB"/>
                </a:solidFill>
                <a:latin typeface="Abadi"/>
              </a:rPr>
              <a:t>here</a:t>
            </a:r>
            <a:endParaRPr lang="en-US"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1800225"/>
            <a:ext cx="4640263" cy="42259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– SpaceX API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BA7D17-3225-B211-95A9-FE36D6FED806}"/>
              </a:ext>
            </a:extLst>
          </p:cNvPr>
          <p:cNvSpPr txBox="1"/>
          <p:nvPr/>
        </p:nvSpPr>
        <p:spPr>
          <a:xfrm>
            <a:off x="650268" y="1440731"/>
            <a:ext cx="517071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Used the public SpaceX API to retrieve Falcon 9 launch data.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Sent HTTP GET requests to API endpoints using Python's requests library.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Received launch information in JSON format.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Extracted relevant details such as flight number, launch date, launch site, payload, orbit, and landing outcome.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200" dirty="0"/>
              <a:t>Converted the collected data into a Pandas </a:t>
            </a:r>
            <a:r>
              <a:rPr lang="en-IN" sz="2200" dirty="0" err="1"/>
              <a:t>DataFrame</a:t>
            </a:r>
            <a:r>
              <a:rPr lang="en-IN" sz="2200" dirty="0"/>
              <a:t> for further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sz="2200" dirty="0"/>
          </a:p>
          <a:p>
            <a:r>
              <a:rPr lang="en-IN" b="1" dirty="0"/>
              <a:t>Tools:</a:t>
            </a:r>
            <a:r>
              <a:rPr lang="en-IN" dirty="0"/>
              <a:t> Python, Requests, JSON, Pandas</a:t>
            </a:r>
          </a:p>
          <a:p>
            <a:endParaRPr lang="en-IN" dirty="0"/>
          </a:p>
          <a:p>
            <a:r>
              <a:rPr lang="en-IN" b="1" dirty="0"/>
              <a:t>GitHub Repository:</a:t>
            </a:r>
            <a:br>
              <a:rPr lang="en-IN" dirty="0"/>
            </a:br>
            <a:r>
              <a:rPr lang="en-IN" dirty="0"/>
              <a:t>[Insert your GitHub repository URL here]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4F399B3-B041-D347-D424-C9A5F5BD0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476" y="1636991"/>
            <a:ext cx="5873524" cy="451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6A146-D631-33F2-9428-2F95862DAE76}"/>
              </a:ext>
            </a:extLst>
          </p:cNvPr>
          <p:cNvSpPr txBox="1"/>
          <p:nvPr/>
        </p:nvSpPr>
        <p:spPr>
          <a:xfrm>
            <a:off x="693811" y="1370727"/>
            <a:ext cx="10668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Extract historical Falcon 9 launch information from web pages.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FD8B7E-64AA-FF46-E160-840A72A86FDD}"/>
              </a:ext>
            </a:extLst>
          </p:cNvPr>
          <p:cNvSpPr txBox="1"/>
          <p:nvPr/>
        </p:nvSpPr>
        <p:spPr>
          <a:xfrm>
            <a:off x="693811" y="2124605"/>
            <a:ext cx="7611989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Accessed the SpaceX launch records webpage.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Retrieved HTML content using Python's requests library.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Parsed HTML using </a:t>
            </a:r>
            <a:r>
              <a:rPr lang="en-IN" dirty="0" err="1"/>
              <a:t>BeautifulSoup</a:t>
            </a:r>
            <a:r>
              <a:rPr lang="en-IN" dirty="0"/>
              <a:t>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Located HTML tables containing launch information.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Converted the extracted table into a Pandas </a:t>
            </a:r>
            <a:r>
              <a:rPr lang="en-IN" dirty="0" err="1"/>
              <a:t>DataFrame</a:t>
            </a:r>
            <a:r>
              <a:rPr lang="en-IN" dirty="0"/>
              <a:t> using </a:t>
            </a:r>
            <a:r>
              <a:rPr lang="en-IN" dirty="0" err="1"/>
              <a:t>pd.read_html</a:t>
            </a:r>
            <a:r>
              <a:rPr lang="en-IN" dirty="0"/>
              <a:t>().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Cleaned and prepared the data for further analysis.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14037-E903-A445-58ED-90242C509781}"/>
              </a:ext>
            </a:extLst>
          </p:cNvPr>
          <p:cNvSpPr txBox="1"/>
          <p:nvPr/>
        </p:nvSpPr>
        <p:spPr>
          <a:xfrm>
            <a:off x="770011" y="4615543"/>
            <a:ext cx="532598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  <a:endParaRPr lang="en-IN" sz="2200" b="1" dirty="0">
              <a:latin typeface="Abadi" panose="020B0604020104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Requests, </a:t>
            </a:r>
            <a:r>
              <a:rPr lang="en-IN" dirty="0" err="1"/>
              <a:t>BeautifulSoup</a:t>
            </a:r>
            <a:r>
              <a:rPr lang="en-IN" dirty="0"/>
              <a:t>, Pandas</a:t>
            </a:r>
          </a:p>
          <a:p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ADF09F-B454-7892-81B8-448D3F692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1439085"/>
            <a:ext cx="5215695" cy="522601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EFA5E5B-77A7-A7C9-D0A8-781A0E967E50}"/>
              </a:ext>
            </a:extLst>
          </p:cNvPr>
          <p:cNvSpPr txBox="1"/>
          <p:nvPr/>
        </p:nvSpPr>
        <p:spPr>
          <a:xfrm>
            <a:off x="617611" y="5286909"/>
            <a:ext cx="44551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GitHub : </a:t>
            </a:r>
            <a:r>
              <a:rPr lang="en-US" dirty="0">
                <a:hlinkClick r:id="rId4"/>
              </a:rPr>
              <a:t>https://github.com/anatesan-01/Data-Science-Capstone--IBM/blob/main/jupyter-labs-spacex-data-collection-api-v2.ipynb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Wrangling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8B9909-F954-8AF7-8054-AAC1F2A07804}"/>
              </a:ext>
            </a:extLst>
          </p:cNvPr>
          <p:cNvSpPr txBox="1"/>
          <p:nvPr/>
        </p:nvSpPr>
        <p:spPr>
          <a:xfrm>
            <a:off x="541411" y="1458686"/>
            <a:ext cx="704305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Data Wrangling Methodology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Data Filtering:</a:t>
            </a:r>
            <a:r>
              <a:rPr lang="en-IN" sz="2000" dirty="0"/>
              <a:t> Selected Falcon 9 launch records.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Missing Values:</a:t>
            </a:r>
            <a:r>
              <a:rPr lang="en-IN" sz="2000" dirty="0"/>
              <a:t> Identified and handled missing payload values.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Feature Extraction:</a:t>
            </a:r>
            <a:r>
              <a:rPr lang="en-IN" sz="2000" dirty="0"/>
              <a:t> Selected relevant launch features, including payload mass, orbit, launch site, and landing outcome.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Feature Encoding:</a:t>
            </a:r>
            <a:r>
              <a:rPr lang="en-IN" sz="2000" dirty="0"/>
              <a:t> Applied one-hot encoding to categorical variables.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Feature and Target Definition:</a:t>
            </a:r>
            <a:r>
              <a:rPr lang="en-IN" sz="2000" dirty="0"/>
              <a:t> Defined input features (X) and target variable (Y = Class).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sz="2000" b="1" dirty="0"/>
              <a:t>Data Splitting:</a:t>
            </a:r>
            <a:r>
              <a:rPr lang="en-IN" sz="2000" dirty="0"/>
              <a:t> Prepared training and testing datasets for machine learning.</a:t>
            </a:r>
          </a:p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B6A0D-76EB-A5A5-65FF-FECA0437573C}"/>
              </a:ext>
            </a:extLst>
          </p:cNvPr>
          <p:cNvSpPr txBox="1"/>
          <p:nvPr/>
        </p:nvSpPr>
        <p:spPr>
          <a:xfrm>
            <a:off x="650268" y="5040688"/>
            <a:ext cx="49667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</a:t>
            </a:r>
            <a:endParaRPr lang="en-IN" sz="2200" b="1" dirty="0">
              <a:latin typeface="Abadi" panose="020B0604020104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</a:t>
            </a:r>
            <a:r>
              <a:rPr lang="en-IN" sz="2000" dirty="0"/>
              <a:t>Python, Pandas, NumPy, Scikit-learn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9E823-A007-21B7-1C41-93ECF0EF1975}"/>
              </a:ext>
            </a:extLst>
          </p:cNvPr>
          <p:cNvSpPr txBox="1"/>
          <p:nvPr/>
        </p:nvSpPr>
        <p:spPr>
          <a:xfrm>
            <a:off x="650268" y="5857685"/>
            <a:ext cx="4847017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badi" panose="020B0604020104020204" pitchFamily="34" charset="0"/>
              </a:rPr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https://github.com/anatesan-01/Data-Science-Capstone--IBM/blob/main/labs-jupyter-spacex-Data%20wrangling-v2.ipynb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0F3504-FBF8-F710-1AAB-3D8FE4E8C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3325" y="1289931"/>
            <a:ext cx="4357161" cy="556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 Data Visualization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9326F6-0A8F-9FB7-5432-16ED9637CEEE}"/>
              </a:ext>
            </a:extLst>
          </p:cNvPr>
          <p:cNvSpPr txBox="1"/>
          <p:nvPr/>
        </p:nvSpPr>
        <p:spPr>
          <a:xfrm>
            <a:off x="617611" y="1325540"/>
            <a:ext cx="1143000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Charts Used and Their Purpose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Scatter Plot</a:t>
            </a:r>
            <a:r>
              <a:rPr lang="en-IN" b="1" dirty="0"/>
              <a:t>:</a:t>
            </a:r>
            <a:r>
              <a:rPr lang="en-IN" dirty="0"/>
              <a:t> Examined the relationship between payload mass and launch outcomes at different launch sites.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Bar Chart</a:t>
            </a:r>
            <a:r>
              <a:rPr lang="en-IN" b="1" dirty="0"/>
              <a:t>:</a:t>
            </a:r>
            <a:r>
              <a:rPr lang="en-IN" dirty="0"/>
              <a:t> Compared the mean of the Class variable across different orbit types, including ES-L1, GEO, GTO, HEO, ISS, LEO, MEO, PO, SO, SSO, and VLEO.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Line Chart</a:t>
            </a:r>
            <a:r>
              <a:rPr lang="en-IN" b="1" dirty="0"/>
              <a:t>:</a:t>
            </a:r>
            <a:r>
              <a:rPr lang="en-IN" dirty="0"/>
              <a:t> </a:t>
            </a:r>
            <a:r>
              <a:rPr lang="en-IN" dirty="0" err="1"/>
              <a:t>Analyzed</a:t>
            </a:r>
            <a:r>
              <a:rPr lang="en-IN" dirty="0"/>
              <a:t> yearly trends in the Class variable from 2010 to 2020, showing an overall upward trend with some fluctuations.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Orbit Analysis</a:t>
            </a:r>
            <a:r>
              <a:rPr lang="en-IN" b="1" dirty="0"/>
              <a:t>:</a:t>
            </a:r>
            <a:r>
              <a:rPr lang="en-IN" dirty="0"/>
              <a:t> Compared landing outcomes across different orbit types using flight number and payload mass.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u="sng" dirty="0"/>
              <a:t>Flight Number Analysis</a:t>
            </a:r>
            <a:r>
              <a:rPr lang="en-IN" b="1" dirty="0"/>
              <a:t>:</a:t>
            </a:r>
            <a:r>
              <a:rPr lang="en-IN" dirty="0"/>
              <a:t> Investigated successful and unsuccessful landing outcomes across different launch sites and flight numbers.</a:t>
            </a:r>
          </a:p>
          <a:p>
            <a:pPr lvl="0"/>
            <a:endParaRPr lang="en-IN" sz="2200" b="1" dirty="0"/>
          </a:p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IN" dirty="0"/>
              <a:t>Identify factors associated with successful Falcon 9 first-stage landings.</a:t>
            </a: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IN" dirty="0"/>
              <a:t>Discover patterns in launch performance based on payload mass, launch site, orbit type, flight number, and yearly trends.</a:t>
            </a:r>
          </a:p>
          <a:p>
            <a:pPr lvl="0"/>
            <a:endParaRPr lang="en-IN" dirty="0"/>
          </a:p>
          <a:p>
            <a:r>
              <a:rPr lang="en-IN" sz="2200" dirty="0"/>
              <a:t>Tools Used</a:t>
            </a:r>
            <a:endParaRPr lang="en-IN" sz="2200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Pandas, Matplotlib, Seaborn</a:t>
            </a:r>
          </a:p>
          <a:p>
            <a:r>
              <a:rPr lang="en-IN" sz="2200" dirty="0"/>
              <a:t>GitHub </a:t>
            </a:r>
            <a:r>
              <a:rPr lang="en-IN" sz="2200" dirty="0" err="1"/>
              <a:t>Repository</a:t>
            </a:r>
            <a:r>
              <a:rPr lang="en-IN" b="1" dirty="0" err="1"/>
              <a:t>:</a:t>
            </a:r>
            <a:r>
              <a:rPr lang="en-IN" b="1" dirty="0" err="1">
                <a:hlinkClick r:id="rId3"/>
              </a:rPr>
              <a:t>https</a:t>
            </a:r>
            <a:r>
              <a:rPr lang="en-IN" b="1" dirty="0">
                <a:hlinkClick r:id="rId3"/>
              </a:rPr>
              <a:t>://github.com/anatesan-01/Data-Science-Capstone--IBM/blob/main/jupyter-labs-eda-dataviz-v2.ipynb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D82F13-6F36-C510-715F-116E19706D54}"/>
              </a:ext>
            </a:extLst>
          </p:cNvPr>
          <p:cNvSpPr txBox="1"/>
          <p:nvPr/>
        </p:nvSpPr>
        <p:spPr>
          <a:xfrm>
            <a:off x="683830" y="1277664"/>
            <a:ext cx="10687961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SQL Queries Performed and Their Purpose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Launch Site Analysis</a:t>
            </a:r>
            <a:r>
              <a:rPr lang="en-IN" dirty="0"/>
              <a:t>: Identified unique launch sites and filtered CCA sites.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Payload Analysis</a:t>
            </a:r>
            <a:r>
              <a:rPr lang="en-IN" dirty="0"/>
              <a:t>: Calculated total and average payload mass.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Landing Outcome Analysis</a:t>
            </a:r>
            <a:r>
              <a:rPr lang="en-IN" dirty="0"/>
              <a:t>: Found the earliest successful landing and qualifying drone-ship landings.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Mission Success and Failure</a:t>
            </a:r>
            <a:r>
              <a:rPr lang="en-IN" dirty="0"/>
              <a:t>: Counted successful and unsuccessful outcomes.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Maximum Payload</a:t>
            </a:r>
            <a:r>
              <a:rPr lang="en-IN" dirty="0"/>
              <a:t>: Identified boosters carrying the maximum payload.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Monthly Analysis</a:t>
            </a:r>
            <a:r>
              <a:rPr lang="en-IN" dirty="0"/>
              <a:t>: Retrieved failed drone-ship landings from 2015.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Time-Based Ranking</a:t>
            </a:r>
            <a:r>
              <a:rPr lang="en-IN" dirty="0"/>
              <a:t>: Ranked landing outcomes by count within the specified date range.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5400E-3451-897C-2F17-2C32E53ED9EC}"/>
              </a:ext>
            </a:extLst>
          </p:cNvPr>
          <p:cNvSpPr txBox="1"/>
          <p:nvPr/>
        </p:nvSpPr>
        <p:spPr>
          <a:xfrm>
            <a:off x="683830" y="3848395"/>
            <a:ext cx="837398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 err="1"/>
              <a:t>Analyze</a:t>
            </a:r>
            <a:r>
              <a:rPr lang="en-IN" dirty="0"/>
              <a:t> launch sites, payloads, and landing outcomes.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Identify success patterns and historical trends.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Support Falcon 9 landing-success analysis.</a:t>
            </a:r>
          </a:p>
          <a:p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5E200A-F263-68A7-3969-7B977FD85F52}"/>
              </a:ext>
            </a:extLst>
          </p:cNvPr>
          <p:cNvSpPr txBox="1"/>
          <p:nvPr/>
        </p:nvSpPr>
        <p:spPr>
          <a:xfrm>
            <a:off x="683830" y="5234186"/>
            <a:ext cx="45422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SQL, SQLite, Python, Pandas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FEA7FF-47A0-F6EA-7BE4-296D88A601E7}"/>
              </a:ext>
            </a:extLst>
          </p:cNvPr>
          <p:cNvSpPr txBox="1"/>
          <p:nvPr/>
        </p:nvSpPr>
        <p:spPr>
          <a:xfrm>
            <a:off x="683830" y="6090887"/>
            <a:ext cx="11672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https://github.com/anatesan-01/Data-Science-Capstone--IBM/blob/main/jupyter-labs-eda-sql-coursera_sqllite.ipynb</a:t>
            </a:r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F47325-945F-0321-167F-322879562E59}"/>
              </a:ext>
            </a:extLst>
          </p:cNvPr>
          <p:cNvSpPr txBox="1"/>
          <p:nvPr/>
        </p:nvSpPr>
        <p:spPr>
          <a:xfrm>
            <a:off x="734028" y="1264914"/>
            <a:ext cx="1068796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Map Objects Used and Their Purpose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Markers</a:t>
            </a:r>
            <a:r>
              <a:rPr lang="en-IN" dirty="0"/>
              <a:t>: Identified SpaceX launch sites, including CCAFS SLC-40, KSC LC-39A, and VAFB SLC-4E.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Pop-ups</a:t>
            </a:r>
            <a:r>
              <a:rPr lang="en-IN" dirty="0"/>
              <a:t>: Displayed launch site details when users clicked on the markers.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Circles</a:t>
            </a:r>
            <a:r>
              <a:rPr lang="en-IN" dirty="0"/>
              <a:t>: Highlighted launch site locations to make them easier to identify.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Interactive</a:t>
            </a:r>
            <a:r>
              <a:rPr lang="en-IN" dirty="0"/>
              <a:t> </a:t>
            </a:r>
            <a:r>
              <a:rPr lang="en-IN" b="1" dirty="0"/>
              <a:t>Features</a:t>
            </a:r>
            <a:r>
              <a:rPr lang="en-IN" dirty="0"/>
              <a:t>: Enabled users to zoom in, zoom out, and explore the geographical locations on the map.</a:t>
            </a:r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822E5A-0B5E-B3E0-7617-63DA271CA27C}"/>
              </a:ext>
            </a:extLst>
          </p:cNvPr>
          <p:cNvSpPr txBox="1"/>
          <p:nvPr/>
        </p:nvSpPr>
        <p:spPr>
          <a:xfrm>
            <a:off x="734028" y="2773703"/>
            <a:ext cx="11095418" cy="15850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Why These Objects Were Added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visualize the geographical distribution of SpaceX launch sites.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compare launch site locations and explore their positions.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support the analysis of launch sites and Falcon 9 landing performance.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0D6011-D39C-0268-B463-1A0EC4D629C1}"/>
              </a:ext>
            </a:extLst>
          </p:cNvPr>
          <p:cNvSpPr txBox="1"/>
          <p:nvPr/>
        </p:nvSpPr>
        <p:spPr>
          <a:xfrm>
            <a:off x="734028" y="4066161"/>
            <a:ext cx="1011282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Create an interactive map of SpaceX launch sites.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Explore launch locations and their geographical distribution.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Understand the role of launch sites in Falcon 9 mission analysis.</a:t>
            </a: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2DCCC1-4D22-F003-3B01-09C65FFF6DAC}"/>
              </a:ext>
            </a:extLst>
          </p:cNvPr>
          <p:cNvSpPr txBox="1"/>
          <p:nvPr/>
        </p:nvSpPr>
        <p:spPr>
          <a:xfrm>
            <a:off x="734028" y="5251101"/>
            <a:ext cx="64145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Folium, Pandas, Jupyter Notebook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A8116-C9AD-28B2-F014-43B177565453}"/>
              </a:ext>
            </a:extLst>
          </p:cNvPr>
          <p:cNvSpPr txBox="1"/>
          <p:nvPr/>
        </p:nvSpPr>
        <p:spPr>
          <a:xfrm>
            <a:off x="734028" y="6003404"/>
            <a:ext cx="11327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badi" panose="020B0604020104020204" pitchFamily="34" charset="0"/>
              </a:rPr>
              <a:t>GitHub</a:t>
            </a:r>
            <a:r>
              <a:rPr lang="en-US" dirty="0"/>
              <a:t> : </a:t>
            </a:r>
            <a:r>
              <a:rPr lang="en-US" dirty="0">
                <a:hlinkClick r:id="rId3"/>
              </a:rPr>
              <a:t>https://github.com/anatesan-01/Data-Science-Capstone--IBM/blob/main/lab-jupyter-launch-site-location-v2.ipynb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 Dashboard with </a:t>
            </a:r>
            <a:r>
              <a:rPr lang="en-US" dirty="0" err="1">
                <a:solidFill>
                  <a:srgbClr val="0B49CB"/>
                </a:solidFill>
                <a:latin typeface="Abadi"/>
              </a:rPr>
              <a:t>Plotly</a:t>
            </a:r>
            <a:r>
              <a:rPr lang="en-US" dirty="0">
                <a:solidFill>
                  <a:srgbClr val="0B49CB"/>
                </a:solidFill>
                <a:latin typeface="Abadi"/>
              </a:rPr>
              <a:t> Dash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EE61FC-A97E-1627-8325-3F1E8ED96250}"/>
              </a:ext>
            </a:extLst>
          </p:cNvPr>
          <p:cNvSpPr txBox="1"/>
          <p:nvPr/>
        </p:nvSpPr>
        <p:spPr>
          <a:xfrm>
            <a:off x="770011" y="1371600"/>
            <a:ext cx="959031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Plots and Interactions Used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Scatter Plot</a:t>
            </a:r>
            <a:r>
              <a:rPr lang="en-IN" dirty="0"/>
              <a:t>: Compared payload mass with launch outcomes to identify performance patterns.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Bar Chart</a:t>
            </a:r>
            <a:r>
              <a:rPr lang="en-IN" dirty="0"/>
              <a:t>: Displayed launch success rates across different launch sites.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Pie Chart</a:t>
            </a:r>
            <a:r>
              <a:rPr lang="en-IN" dirty="0"/>
              <a:t>: Showed the proportion of successful and unsuccessful first-stage landings.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IN" b="1" dirty="0"/>
              <a:t>Interactive Filters</a:t>
            </a:r>
            <a:r>
              <a:rPr lang="en-IN" dirty="0"/>
              <a:t>: Allowed users to select launch sites and explore the corresponding results.</a:t>
            </a:r>
          </a:p>
          <a:p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0D73D-4609-14D8-208C-F658C922C765}"/>
              </a:ext>
            </a:extLst>
          </p:cNvPr>
          <p:cNvSpPr txBox="1"/>
          <p:nvPr/>
        </p:nvSpPr>
        <p:spPr>
          <a:xfrm>
            <a:off x="770011" y="3039577"/>
            <a:ext cx="948946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Why These Plots Were Added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compare launch performance across different launch sites.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understand the relationship between payload mass and landing success.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To explore launch outcomes interactively and identify useful patterns.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C7950-E48F-614E-21D6-9E9F4C1DAC1C}"/>
              </a:ext>
            </a:extLst>
          </p:cNvPr>
          <p:cNvSpPr txBox="1"/>
          <p:nvPr/>
        </p:nvSpPr>
        <p:spPr>
          <a:xfrm>
            <a:off x="770011" y="4312347"/>
            <a:ext cx="83820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Key Objective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Build an interactive dashboard to </a:t>
            </a:r>
            <a:r>
              <a:rPr lang="en-IN" dirty="0" err="1"/>
              <a:t>analyze</a:t>
            </a:r>
            <a:r>
              <a:rPr lang="en-IN" dirty="0"/>
              <a:t> Falcon 9 launch and landing performance.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IN" dirty="0"/>
              <a:t>Present key findings through clear visualizations and interactive filters.</a:t>
            </a: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140190-4178-EFE9-194C-B0BF8DCDB7C0}"/>
              </a:ext>
            </a:extLst>
          </p:cNvPr>
          <p:cNvSpPr txBox="1"/>
          <p:nvPr/>
        </p:nvSpPr>
        <p:spPr>
          <a:xfrm>
            <a:off x="770011" y="5296661"/>
            <a:ext cx="82593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>
                <a:latin typeface="Abadi" panose="020B0604020104020204" pitchFamily="34" charset="0"/>
              </a:rPr>
              <a:t>Tools Used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dirty="0"/>
              <a:t> Python, </a:t>
            </a:r>
            <a:r>
              <a:rPr lang="en-IN" dirty="0" err="1"/>
              <a:t>Plotly</a:t>
            </a:r>
            <a:r>
              <a:rPr lang="en-IN" dirty="0"/>
              <a:t> Express, </a:t>
            </a:r>
            <a:r>
              <a:rPr lang="en-IN" dirty="0" err="1"/>
              <a:t>Plotly</a:t>
            </a:r>
            <a:r>
              <a:rPr lang="en-IN" dirty="0"/>
              <a:t> Dash, Pandas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Summarize how you built, evaluated, improved, and found the best performing classification model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You need present your model development process using key phrases and flowchart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Add the GitHub URL of your completed predictive analysis lab, as an external reference and peer-review purpose</a:t>
            </a:r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Predictive Analysis (Classification)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Exploratory data analysis 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Interactive analytics demo in screenshots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Predictive analysis results</a:t>
            </a:r>
          </a:p>
          <a:p>
            <a:pPr lvl="1"/>
            <a:endParaRPr lang="en-US" sz="1800"/>
          </a:p>
          <a:p>
            <a:pPr marL="457200" lvl="1" indent="0">
              <a:buNone/>
            </a:pP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Flight Number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Launch Site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scatter plot of Payload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Launch Site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828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bar chart for the success rate of each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Flight number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point of payload vs. orbit type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Orbit Type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70100"/>
            <a:ext cx="3932238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CA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a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line chart of yearly average success rate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screenshot of the scatter plot with explanations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Success Yearly Trend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the names of the unique launch sites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All Launch Site Names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5 records where launch sites begin with `CCA`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Site Names Begin with 'CCA'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payload carried by boosters from NASA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Payload Mass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average payload mass carried by booster version F9 v1.1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Average Payload Mass by F9 v1.1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Find the dates of the first successful landing outcome on ground pad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First Successful Ground Landing Date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names of boosters which have successfully landed on drone ship and had payload mass greater than 4000 but less than 6000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Successful Drone Ship Landing with Payload between 4000 and 6000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total number of successful and failure mission outcomes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Total Number of Successful and Failure Mission Outcomes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 which have carried the maximum payload mass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Boosters Carried Maximum Payload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List the failed 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landing_outcomes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in drone ship, their booster versions, and launch site names for in year 2015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Present your query result with a short explanation here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2015 Launch Records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Rank the count of landing outcomes (such as Failure (drone ship) or Success (ground pad)) between the date 2010-06-04 and 2017-03-20, in descending order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Present your query result with a short explanation here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Rank Landing Outcomes Between 2010-06-04 and 2017-03-20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make a proper screenshot to include all launch sites’ location markers on a global map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  <a:ea typeface="+mn-lt"/>
                <a:cs typeface="+mn-lt"/>
              </a:rPr>
              <a:t>Explore the folium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map and make a proper screenshot to show the color-labeled launch outcomes on the map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spcBef>
                <a:spcPts val="1400"/>
              </a:spcBef>
            </a:pPr>
            <a:endParaRPr lang="en-US">
              <a:solidFill>
                <a:schemeClr val="accent3">
                  <a:lumMod val="25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690688"/>
            <a:ext cx="8597900" cy="4314825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&lt;Folium map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Explore the generated folium map and show the screenshot of a selected launch site to its proximities such as railway, highway, coastline, with distance calculated and displayed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&lt;Folium Map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974566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1&gt;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launch success count for all sites, in a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1&gt;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552113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Replace &lt;Dashboard screenshot 2&gt;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Show the screenshot of the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piechart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for the launch site with highest launch success ratio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</a:t>
            </a:r>
            <a:endParaRPr lang="en-US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2&gt;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825625"/>
            <a:ext cx="10414000" cy="4351338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Replace &lt;Dashboard screenshot 3&gt; title with an appropriate title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screenshots of Payload vs. Launch Outcome scatter plot for all sites, with different payload selected in the range slider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Explain the important elements and findings on the screenshot, such as which payload range or booster version have the largest success rate, etc.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&lt;Dashboard Screenshot 3&gt;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82800"/>
            <a:ext cx="5326063" cy="38115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Visualize the built model accuracy for all </a:t>
            </a: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/>
              </a:rPr>
              <a:t>built classification models, in a bar chart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Find which model has the highest classification accuracy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0" y="2057400"/>
            <a:ext cx="9477375" cy="381158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Show the confusion matrix of the best performing model with an explanation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74838"/>
            <a:ext cx="5903913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1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2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3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Point 4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…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58963"/>
            <a:ext cx="10515600" cy="4351337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Include any relevant assets like Python code snippets, SQL queries, charts, Notebook outputs, or data sets that you may have created during this project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Appendix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2F7CB0-C005-400D-8101-957D1D433F39}">
  <we:reference id="wa200005566" version="3.0.1.2" store="en-US" storeType="OMEX"/>
  <we:alternateReferences>
    <we:reference id="wa200005566" version="3.0.1.2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</TotalTime>
  <Words>2503</Words>
  <Application>Microsoft Office PowerPoint</Application>
  <PresentationFormat>Widescreen</PresentationFormat>
  <Paragraphs>357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Abadi</vt:lpstr>
      <vt:lpstr>Aptos</vt:lpstr>
      <vt:lpstr>Arial</vt:lpstr>
      <vt:lpstr>Arial Narrow</vt:lpstr>
      <vt:lpstr>Calibri</vt:lpstr>
      <vt:lpstr>IBM Plex Mono SemiBold</vt:lpstr>
      <vt:lpstr>Wingdings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&lt;Title&gt;</dc:title>
  <dc:creator>YAN Luo</dc:creator>
  <cp:lastModifiedBy>natesan a</cp:lastModifiedBy>
  <cp:revision>202</cp:revision>
  <dcterms:created xsi:type="dcterms:W3CDTF">2021-04-29T18:58:34Z</dcterms:created>
  <dcterms:modified xsi:type="dcterms:W3CDTF">2026-10-19T14:19:18Z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