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2" r:id="rId4"/>
  </p:sldMasterIdLst>
  <p:notesMasterIdLst>
    <p:notesMasterId r:id="rId52"/>
  </p:notesMasterIdLst>
  <p:handoutMasterIdLst>
    <p:handoutMasterId r:id="rId53"/>
  </p:handoutMasterIdLst>
  <p:sldIdLst>
    <p:sldId id="327" r:id="rId5"/>
    <p:sldId id="330" r:id="rId6"/>
    <p:sldId id="331" r:id="rId7"/>
    <p:sldId id="332" r:id="rId8"/>
    <p:sldId id="298" r:id="rId9"/>
    <p:sldId id="262" r:id="rId10"/>
    <p:sldId id="263" r:id="rId11"/>
    <p:sldId id="299" r:id="rId12"/>
    <p:sldId id="302" r:id="rId13"/>
    <p:sldId id="264" r:id="rId14"/>
    <p:sldId id="266" r:id="rId15"/>
    <p:sldId id="265" r:id="rId16"/>
    <p:sldId id="276" r:id="rId17"/>
    <p:sldId id="303" r:id="rId18"/>
    <p:sldId id="293" r:id="rId19"/>
    <p:sldId id="277" r:id="rId20"/>
    <p:sldId id="284" r:id="rId21"/>
    <p:sldId id="269" r:id="rId22"/>
    <p:sldId id="304" r:id="rId23"/>
    <p:sldId id="305" r:id="rId24"/>
    <p:sldId id="307" r:id="rId25"/>
    <p:sldId id="306" r:id="rId26"/>
    <p:sldId id="308" r:id="rId27"/>
    <p:sldId id="270" r:id="rId28"/>
    <p:sldId id="309" r:id="rId29"/>
    <p:sldId id="310" r:id="rId30"/>
    <p:sldId id="311" r:id="rId31"/>
    <p:sldId id="312" r:id="rId32"/>
    <p:sldId id="314" r:id="rId33"/>
    <p:sldId id="313" r:id="rId34"/>
    <p:sldId id="315" r:id="rId35"/>
    <p:sldId id="316" r:id="rId36"/>
    <p:sldId id="317" r:id="rId37"/>
    <p:sldId id="294" r:id="rId38"/>
    <p:sldId id="296" r:id="rId39"/>
    <p:sldId id="318" r:id="rId40"/>
    <p:sldId id="319" r:id="rId41"/>
    <p:sldId id="321" r:id="rId42"/>
    <p:sldId id="322" r:id="rId43"/>
    <p:sldId id="323" r:id="rId44"/>
    <p:sldId id="324" r:id="rId45"/>
    <p:sldId id="288" r:id="rId46"/>
    <p:sldId id="289" r:id="rId47"/>
    <p:sldId id="320" r:id="rId48"/>
    <p:sldId id="274" r:id="rId49"/>
    <p:sldId id="275" r:id="rId50"/>
    <p:sldId id="329" r:id="rId51"/>
  </p:sldIdLst>
  <p:sldSz cx="12192000" cy="6858000"/>
  <p:notesSz cx="6858000" cy="18573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Leon Katsnelson" initials="LK" lastIdx="21" clrIdx="4">
    <p:extLst>
      <p:ext uri="{19B8F6BF-5375-455C-9EA6-DF929625EA0E}">
        <p15:presenceInfo xmlns:p15="http://schemas.microsoft.com/office/powerpoint/2012/main" userId="S::leon@ca.ibm.com::68697268-d1ba-4c91-8538-7f4d439d4f70" providerId="AD"/>
      </p:ext>
    </p:extLst>
  </p:cmAuthor>
  <p:cmAuthor id="6" name="YAN LUO" initials="YL"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49CB"/>
    <a:srgbClr val="0948CB"/>
    <a:srgbClr val="F2F4F8"/>
    <a:srgbClr val="1C7DDB"/>
    <a:srgbClr val="121619"/>
    <a:srgbClr val="F2F2F2"/>
    <a:srgbClr val="145579"/>
    <a:srgbClr val="3A6483"/>
    <a:srgbClr val="204E79"/>
    <a:srgbClr val="0054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01"/>
    <p:restoredTop sz="85174"/>
  </p:normalViewPr>
  <p:slideViewPr>
    <p:cSldViewPr snapToGrid="0" snapToObjects="1">
      <p:cViewPr varScale="1">
        <p:scale>
          <a:sx n="70" d="100"/>
          <a:sy n="70" d="100"/>
        </p:scale>
        <p:origin x="1373" y="5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1E9DD4A-0870-4B12-9EDE-32CC9E2BE48F}" type="doc">
      <dgm:prSet loTypeId="urn:microsoft.com/office/officeart/2005/8/layout/radial1" loCatId="cycle" qsTypeId="urn:microsoft.com/office/officeart/2005/8/quickstyle/simple1" qsCatId="simple" csTypeId="urn:microsoft.com/office/officeart/2005/8/colors/accent1_2" csCatId="accent1" phldr="1"/>
      <dgm:spPr/>
      <dgm:t>
        <a:bodyPr/>
        <a:lstStyle/>
        <a:p>
          <a:endParaRPr lang="en-IN"/>
        </a:p>
      </dgm:t>
    </dgm:pt>
    <dgm:pt modelId="{30BEC992-142F-4E73-83B4-8CA653889836}">
      <dgm:prSet phldrT="[Text]"/>
      <dgm:spPr/>
      <dgm:t>
        <a:bodyPr/>
        <a:lstStyle/>
        <a:p>
          <a:pPr>
            <a:buNone/>
          </a:pPr>
          <a:r>
            <a:rPr lang="en-IN" b="1" dirty="0"/>
            <a:t>Tools Used</a:t>
          </a:r>
          <a:endParaRPr lang="en-IN" dirty="0"/>
        </a:p>
      </dgm:t>
    </dgm:pt>
    <dgm:pt modelId="{5E22B84F-6C3C-407D-8C10-7E96C92167E7}" type="parTrans" cxnId="{A1127CEF-8AD3-4D47-99DA-530872DEDC64}">
      <dgm:prSet/>
      <dgm:spPr/>
      <dgm:t>
        <a:bodyPr/>
        <a:lstStyle/>
        <a:p>
          <a:endParaRPr lang="en-IN"/>
        </a:p>
      </dgm:t>
    </dgm:pt>
    <dgm:pt modelId="{921DA6E7-4E92-40C7-AB68-91D4DD05D13B}" type="sibTrans" cxnId="{A1127CEF-8AD3-4D47-99DA-530872DEDC64}">
      <dgm:prSet/>
      <dgm:spPr/>
      <dgm:t>
        <a:bodyPr/>
        <a:lstStyle/>
        <a:p>
          <a:endParaRPr lang="en-IN"/>
        </a:p>
      </dgm:t>
    </dgm:pt>
    <dgm:pt modelId="{28006729-3F3D-489A-8A5C-2178AC7C7C7E}">
      <dgm:prSet phldrT="[Text]"/>
      <dgm:spPr/>
      <dgm:t>
        <a:bodyPr/>
        <a:lstStyle/>
        <a:p>
          <a:pPr>
            <a:buNone/>
          </a:pPr>
          <a:r>
            <a:rPr lang="en-IN" dirty="0"/>
            <a:t>Pandas</a:t>
          </a:r>
        </a:p>
      </dgm:t>
    </dgm:pt>
    <dgm:pt modelId="{AF7E736B-E24B-425D-9FB7-26988823F377}" type="parTrans" cxnId="{CD41DB74-2D77-452E-8813-78B96E486E75}">
      <dgm:prSet/>
      <dgm:spPr/>
      <dgm:t>
        <a:bodyPr/>
        <a:lstStyle/>
        <a:p>
          <a:endParaRPr lang="en-IN"/>
        </a:p>
      </dgm:t>
    </dgm:pt>
    <dgm:pt modelId="{E6D5F825-B4C7-449B-BCB0-D832CE011D58}" type="sibTrans" cxnId="{CD41DB74-2D77-452E-8813-78B96E486E75}">
      <dgm:prSet/>
      <dgm:spPr/>
      <dgm:t>
        <a:bodyPr/>
        <a:lstStyle/>
        <a:p>
          <a:endParaRPr lang="en-IN"/>
        </a:p>
      </dgm:t>
    </dgm:pt>
    <dgm:pt modelId="{59DFCD24-92D7-417D-9BB2-492A993BAA48}">
      <dgm:prSet phldrT="[Text]"/>
      <dgm:spPr/>
      <dgm:t>
        <a:bodyPr/>
        <a:lstStyle/>
        <a:p>
          <a:pPr>
            <a:buNone/>
          </a:pPr>
          <a:r>
            <a:rPr lang="en-IN" dirty="0"/>
            <a:t>Python</a:t>
          </a:r>
        </a:p>
      </dgm:t>
    </dgm:pt>
    <dgm:pt modelId="{0934CDCA-DEBB-4966-A22D-13B1F7348CA3}" type="parTrans" cxnId="{582B62C5-4EC9-49BA-BED9-44B676D3BBEB}">
      <dgm:prSet/>
      <dgm:spPr/>
      <dgm:t>
        <a:bodyPr/>
        <a:lstStyle/>
        <a:p>
          <a:endParaRPr lang="en-IN"/>
        </a:p>
      </dgm:t>
    </dgm:pt>
    <dgm:pt modelId="{423B548D-2EB1-4194-AD0E-573534C3475A}" type="sibTrans" cxnId="{582B62C5-4EC9-49BA-BED9-44B676D3BBEB}">
      <dgm:prSet/>
      <dgm:spPr/>
      <dgm:t>
        <a:bodyPr/>
        <a:lstStyle/>
        <a:p>
          <a:endParaRPr lang="en-IN"/>
        </a:p>
      </dgm:t>
    </dgm:pt>
    <dgm:pt modelId="{A28154CD-4741-4263-ADE6-5AE1E24DA43B}">
      <dgm:prSet phldrT="[Text]"/>
      <dgm:spPr/>
      <dgm:t>
        <a:bodyPr/>
        <a:lstStyle/>
        <a:p>
          <a:pPr>
            <a:buNone/>
          </a:pPr>
          <a:r>
            <a:rPr lang="en-IN" dirty="0"/>
            <a:t>Requests</a:t>
          </a:r>
        </a:p>
      </dgm:t>
    </dgm:pt>
    <dgm:pt modelId="{D8ACE754-6802-4699-87B0-1683A1233CCB}" type="parTrans" cxnId="{1066756C-5478-4981-A507-827282057220}">
      <dgm:prSet/>
      <dgm:spPr/>
      <dgm:t>
        <a:bodyPr/>
        <a:lstStyle/>
        <a:p>
          <a:endParaRPr lang="en-IN"/>
        </a:p>
      </dgm:t>
    </dgm:pt>
    <dgm:pt modelId="{00B773F2-1B67-4F60-9338-DF32B78401CB}" type="sibTrans" cxnId="{1066756C-5478-4981-A507-827282057220}">
      <dgm:prSet/>
      <dgm:spPr/>
      <dgm:t>
        <a:bodyPr/>
        <a:lstStyle/>
        <a:p>
          <a:endParaRPr lang="en-IN"/>
        </a:p>
      </dgm:t>
    </dgm:pt>
    <dgm:pt modelId="{626CFEF6-E3AF-408A-B4C2-8ED9B51C66F1}">
      <dgm:prSet phldrT="[Text]"/>
      <dgm:spPr/>
      <dgm:t>
        <a:bodyPr/>
        <a:lstStyle/>
        <a:p>
          <a:pPr>
            <a:buNone/>
          </a:pPr>
          <a:r>
            <a:rPr lang="en-IN" dirty="0" err="1"/>
            <a:t>BeautifulSoup</a:t>
          </a:r>
          <a:endParaRPr lang="en-IN" dirty="0"/>
        </a:p>
      </dgm:t>
    </dgm:pt>
    <dgm:pt modelId="{92F0CE12-F6BA-487E-927F-7631977C5F80}" type="parTrans" cxnId="{A4BA76CD-E1D8-4DB0-8168-D5A57FB4C704}">
      <dgm:prSet/>
      <dgm:spPr/>
      <dgm:t>
        <a:bodyPr/>
        <a:lstStyle/>
        <a:p>
          <a:endParaRPr lang="en-IN"/>
        </a:p>
      </dgm:t>
    </dgm:pt>
    <dgm:pt modelId="{71F8C8DF-10D8-453C-9FD5-46B4A3AE5A90}" type="sibTrans" cxnId="{A4BA76CD-E1D8-4DB0-8168-D5A57FB4C704}">
      <dgm:prSet/>
      <dgm:spPr/>
      <dgm:t>
        <a:bodyPr/>
        <a:lstStyle/>
        <a:p>
          <a:endParaRPr lang="en-IN"/>
        </a:p>
      </dgm:t>
    </dgm:pt>
    <dgm:pt modelId="{1452E6DC-0FAD-4906-B02D-94643791FE3C}">
      <dgm:prSet/>
      <dgm:spPr/>
      <dgm:t>
        <a:bodyPr/>
        <a:lstStyle/>
        <a:p>
          <a:pPr>
            <a:buNone/>
          </a:pPr>
          <a:r>
            <a:rPr lang="en-IN" dirty="0"/>
            <a:t>JSON</a:t>
          </a:r>
        </a:p>
      </dgm:t>
    </dgm:pt>
    <dgm:pt modelId="{4DB8E0B8-9885-4490-ACC1-6DAAC2D0DF74}" type="parTrans" cxnId="{CC73277B-C0C3-4A2F-9B6A-10DF256CBDDD}">
      <dgm:prSet/>
      <dgm:spPr/>
      <dgm:t>
        <a:bodyPr/>
        <a:lstStyle/>
        <a:p>
          <a:endParaRPr lang="en-IN"/>
        </a:p>
      </dgm:t>
    </dgm:pt>
    <dgm:pt modelId="{3A0350DF-DA12-47AD-BE15-7A5558067098}" type="sibTrans" cxnId="{CC73277B-C0C3-4A2F-9B6A-10DF256CBDDD}">
      <dgm:prSet/>
      <dgm:spPr/>
      <dgm:t>
        <a:bodyPr/>
        <a:lstStyle/>
        <a:p>
          <a:endParaRPr lang="en-IN"/>
        </a:p>
      </dgm:t>
    </dgm:pt>
    <dgm:pt modelId="{9B3ED1B1-DB00-4821-9B2A-5D1734D73736}" type="pres">
      <dgm:prSet presAssocID="{41E9DD4A-0870-4B12-9EDE-32CC9E2BE48F}" presName="cycle" presStyleCnt="0">
        <dgm:presLayoutVars>
          <dgm:chMax val="1"/>
          <dgm:dir/>
          <dgm:animLvl val="ctr"/>
          <dgm:resizeHandles val="exact"/>
        </dgm:presLayoutVars>
      </dgm:prSet>
      <dgm:spPr/>
    </dgm:pt>
    <dgm:pt modelId="{ABD46BAD-F679-464B-AB93-6E8055C59DD7}" type="pres">
      <dgm:prSet presAssocID="{30BEC992-142F-4E73-83B4-8CA653889836}" presName="centerShape" presStyleLbl="node0" presStyleIdx="0" presStyleCnt="1" custLinFactNeighborX="-121" custLinFactNeighborY="1244"/>
      <dgm:spPr/>
    </dgm:pt>
    <dgm:pt modelId="{D1182EFF-920D-4863-B82F-9139292497BB}" type="pres">
      <dgm:prSet presAssocID="{AF7E736B-E24B-425D-9FB7-26988823F377}" presName="Name9" presStyleLbl="parChTrans1D2" presStyleIdx="0" presStyleCnt="5"/>
      <dgm:spPr/>
    </dgm:pt>
    <dgm:pt modelId="{FD5242E4-F7AC-442D-A419-C683361429E3}" type="pres">
      <dgm:prSet presAssocID="{AF7E736B-E24B-425D-9FB7-26988823F377}" presName="connTx" presStyleLbl="parChTrans1D2" presStyleIdx="0" presStyleCnt="5"/>
      <dgm:spPr/>
    </dgm:pt>
    <dgm:pt modelId="{8D745FAE-AA60-42D6-A43D-7F9C58E60CF9}" type="pres">
      <dgm:prSet presAssocID="{28006729-3F3D-489A-8A5C-2178AC7C7C7E}" presName="node" presStyleLbl="node1" presStyleIdx="0" presStyleCnt="5">
        <dgm:presLayoutVars>
          <dgm:bulletEnabled val="1"/>
        </dgm:presLayoutVars>
      </dgm:prSet>
      <dgm:spPr/>
    </dgm:pt>
    <dgm:pt modelId="{3EFEE321-1CDA-4379-BC15-CBD6CB6E9B1B}" type="pres">
      <dgm:prSet presAssocID="{4DB8E0B8-9885-4490-ACC1-6DAAC2D0DF74}" presName="Name9" presStyleLbl="parChTrans1D2" presStyleIdx="1" presStyleCnt="5"/>
      <dgm:spPr/>
    </dgm:pt>
    <dgm:pt modelId="{E7A7C9E0-65C6-4BD7-A592-E317EC95EAA8}" type="pres">
      <dgm:prSet presAssocID="{4DB8E0B8-9885-4490-ACC1-6DAAC2D0DF74}" presName="connTx" presStyleLbl="parChTrans1D2" presStyleIdx="1" presStyleCnt="5"/>
      <dgm:spPr/>
    </dgm:pt>
    <dgm:pt modelId="{C15E5145-DD26-41FD-8290-1BB469FF4E69}" type="pres">
      <dgm:prSet presAssocID="{1452E6DC-0FAD-4906-B02D-94643791FE3C}" presName="node" presStyleLbl="node1" presStyleIdx="1" presStyleCnt="5">
        <dgm:presLayoutVars>
          <dgm:bulletEnabled val="1"/>
        </dgm:presLayoutVars>
      </dgm:prSet>
      <dgm:spPr/>
    </dgm:pt>
    <dgm:pt modelId="{4FFB5D54-091E-44C3-B257-2FDA3BA6C29A}" type="pres">
      <dgm:prSet presAssocID="{0934CDCA-DEBB-4966-A22D-13B1F7348CA3}" presName="Name9" presStyleLbl="parChTrans1D2" presStyleIdx="2" presStyleCnt="5"/>
      <dgm:spPr/>
    </dgm:pt>
    <dgm:pt modelId="{3513191F-0311-4D52-853E-C48683FA57E2}" type="pres">
      <dgm:prSet presAssocID="{0934CDCA-DEBB-4966-A22D-13B1F7348CA3}" presName="connTx" presStyleLbl="parChTrans1D2" presStyleIdx="2" presStyleCnt="5"/>
      <dgm:spPr/>
    </dgm:pt>
    <dgm:pt modelId="{CB0C921B-5576-4128-AF77-55067D82C621}" type="pres">
      <dgm:prSet presAssocID="{59DFCD24-92D7-417D-9BB2-492A993BAA48}" presName="node" presStyleLbl="node1" presStyleIdx="2" presStyleCnt="5">
        <dgm:presLayoutVars>
          <dgm:bulletEnabled val="1"/>
        </dgm:presLayoutVars>
      </dgm:prSet>
      <dgm:spPr/>
    </dgm:pt>
    <dgm:pt modelId="{2183988F-BE7A-4C95-AFB5-2A16CFDFD0C5}" type="pres">
      <dgm:prSet presAssocID="{D8ACE754-6802-4699-87B0-1683A1233CCB}" presName="Name9" presStyleLbl="parChTrans1D2" presStyleIdx="3" presStyleCnt="5"/>
      <dgm:spPr/>
    </dgm:pt>
    <dgm:pt modelId="{9B71E149-2C7B-498F-99DD-901FB21CC0FF}" type="pres">
      <dgm:prSet presAssocID="{D8ACE754-6802-4699-87B0-1683A1233CCB}" presName="connTx" presStyleLbl="parChTrans1D2" presStyleIdx="3" presStyleCnt="5"/>
      <dgm:spPr/>
    </dgm:pt>
    <dgm:pt modelId="{84A4895E-3359-482F-955B-2D6A121A8485}" type="pres">
      <dgm:prSet presAssocID="{A28154CD-4741-4263-ADE6-5AE1E24DA43B}" presName="node" presStyleLbl="node1" presStyleIdx="3" presStyleCnt="5">
        <dgm:presLayoutVars>
          <dgm:bulletEnabled val="1"/>
        </dgm:presLayoutVars>
      </dgm:prSet>
      <dgm:spPr/>
    </dgm:pt>
    <dgm:pt modelId="{38CE6B70-2484-494C-B13C-8AFBF166F9A6}" type="pres">
      <dgm:prSet presAssocID="{92F0CE12-F6BA-487E-927F-7631977C5F80}" presName="Name9" presStyleLbl="parChTrans1D2" presStyleIdx="4" presStyleCnt="5"/>
      <dgm:spPr/>
    </dgm:pt>
    <dgm:pt modelId="{A5403023-5242-4999-8C3D-42963C72014C}" type="pres">
      <dgm:prSet presAssocID="{92F0CE12-F6BA-487E-927F-7631977C5F80}" presName="connTx" presStyleLbl="parChTrans1D2" presStyleIdx="4" presStyleCnt="5"/>
      <dgm:spPr/>
    </dgm:pt>
    <dgm:pt modelId="{8AC9EBB0-ADC1-4F50-B0B3-F4692423BABD}" type="pres">
      <dgm:prSet presAssocID="{626CFEF6-E3AF-408A-B4C2-8ED9B51C66F1}" presName="node" presStyleLbl="node1" presStyleIdx="4" presStyleCnt="5">
        <dgm:presLayoutVars>
          <dgm:bulletEnabled val="1"/>
        </dgm:presLayoutVars>
      </dgm:prSet>
      <dgm:spPr/>
    </dgm:pt>
  </dgm:ptLst>
  <dgm:cxnLst>
    <dgm:cxn modelId="{3F124613-63D2-4CB2-A2AA-510542EAF712}" type="presOf" srcId="{1452E6DC-0FAD-4906-B02D-94643791FE3C}" destId="{C15E5145-DD26-41FD-8290-1BB469FF4E69}" srcOrd="0" destOrd="0" presId="urn:microsoft.com/office/officeart/2005/8/layout/radial1"/>
    <dgm:cxn modelId="{1806742B-808C-4EEA-B1BB-E4A06734FB31}" type="presOf" srcId="{D8ACE754-6802-4699-87B0-1683A1233CCB}" destId="{9B71E149-2C7B-498F-99DD-901FB21CC0FF}" srcOrd="1" destOrd="0" presId="urn:microsoft.com/office/officeart/2005/8/layout/radial1"/>
    <dgm:cxn modelId="{2AF4BF2F-8604-461D-8666-C7F32AA937B4}" type="presOf" srcId="{A28154CD-4741-4263-ADE6-5AE1E24DA43B}" destId="{84A4895E-3359-482F-955B-2D6A121A8485}" srcOrd="0" destOrd="0" presId="urn:microsoft.com/office/officeart/2005/8/layout/radial1"/>
    <dgm:cxn modelId="{7F632A3E-470C-4288-81A2-3FD6C9EBBB49}" type="presOf" srcId="{92F0CE12-F6BA-487E-927F-7631977C5F80}" destId="{38CE6B70-2484-494C-B13C-8AFBF166F9A6}" srcOrd="0" destOrd="0" presId="urn:microsoft.com/office/officeart/2005/8/layout/radial1"/>
    <dgm:cxn modelId="{B15F485D-6284-44DD-B20B-CDFBFFC2E732}" type="presOf" srcId="{28006729-3F3D-489A-8A5C-2178AC7C7C7E}" destId="{8D745FAE-AA60-42D6-A43D-7F9C58E60CF9}" srcOrd="0" destOrd="0" presId="urn:microsoft.com/office/officeart/2005/8/layout/radial1"/>
    <dgm:cxn modelId="{17AF0443-619B-494C-9D74-4F33569648B1}" type="presOf" srcId="{626CFEF6-E3AF-408A-B4C2-8ED9B51C66F1}" destId="{8AC9EBB0-ADC1-4F50-B0B3-F4692423BABD}" srcOrd="0" destOrd="0" presId="urn:microsoft.com/office/officeart/2005/8/layout/radial1"/>
    <dgm:cxn modelId="{75E0F866-F0C8-4AA3-B2A5-D2C0ED8E9040}" type="presOf" srcId="{AF7E736B-E24B-425D-9FB7-26988823F377}" destId="{D1182EFF-920D-4863-B82F-9139292497BB}" srcOrd="0" destOrd="0" presId="urn:microsoft.com/office/officeart/2005/8/layout/radial1"/>
    <dgm:cxn modelId="{0F59AE6B-4538-43DD-B187-3E37050EDC25}" type="presOf" srcId="{4DB8E0B8-9885-4490-ACC1-6DAAC2D0DF74}" destId="{E7A7C9E0-65C6-4BD7-A592-E317EC95EAA8}" srcOrd="1" destOrd="0" presId="urn:microsoft.com/office/officeart/2005/8/layout/radial1"/>
    <dgm:cxn modelId="{1066756C-5478-4981-A507-827282057220}" srcId="{30BEC992-142F-4E73-83B4-8CA653889836}" destId="{A28154CD-4741-4263-ADE6-5AE1E24DA43B}" srcOrd="3" destOrd="0" parTransId="{D8ACE754-6802-4699-87B0-1683A1233CCB}" sibTransId="{00B773F2-1B67-4F60-9338-DF32B78401CB}"/>
    <dgm:cxn modelId="{F4E6F952-CEC9-4E0F-9A1F-E1A5853702CA}" type="presOf" srcId="{4DB8E0B8-9885-4490-ACC1-6DAAC2D0DF74}" destId="{3EFEE321-1CDA-4379-BC15-CBD6CB6E9B1B}" srcOrd="0" destOrd="0" presId="urn:microsoft.com/office/officeart/2005/8/layout/radial1"/>
    <dgm:cxn modelId="{CD41DB74-2D77-452E-8813-78B96E486E75}" srcId="{30BEC992-142F-4E73-83B4-8CA653889836}" destId="{28006729-3F3D-489A-8A5C-2178AC7C7C7E}" srcOrd="0" destOrd="0" parTransId="{AF7E736B-E24B-425D-9FB7-26988823F377}" sibTransId="{E6D5F825-B4C7-449B-BCB0-D832CE011D58}"/>
    <dgm:cxn modelId="{CC73277B-C0C3-4A2F-9B6A-10DF256CBDDD}" srcId="{30BEC992-142F-4E73-83B4-8CA653889836}" destId="{1452E6DC-0FAD-4906-B02D-94643791FE3C}" srcOrd="1" destOrd="0" parTransId="{4DB8E0B8-9885-4490-ACC1-6DAAC2D0DF74}" sibTransId="{3A0350DF-DA12-47AD-BE15-7A5558067098}"/>
    <dgm:cxn modelId="{8D17E9A0-0F07-4DFD-9215-0EF8E38F3AB4}" type="presOf" srcId="{0934CDCA-DEBB-4966-A22D-13B1F7348CA3}" destId="{3513191F-0311-4D52-853E-C48683FA57E2}" srcOrd="1" destOrd="0" presId="urn:microsoft.com/office/officeart/2005/8/layout/radial1"/>
    <dgm:cxn modelId="{232E72B9-531E-4A6B-908D-4515229216F3}" type="presOf" srcId="{AF7E736B-E24B-425D-9FB7-26988823F377}" destId="{FD5242E4-F7AC-442D-A419-C683361429E3}" srcOrd="1" destOrd="0" presId="urn:microsoft.com/office/officeart/2005/8/layout/radial1"/>
    <dgm:cxn modelId="{210678BF-0068-4AF1-9AB6-642CF4B4C5A7}" type="presOf" srcId="{0934CDCA-DEBB-4966-A22D-13B1F7348CA3}" destId="{4FFB5D54-091E-44C3-B257-2FDA3BA6C29A}" srcOrd="0" destOrd="0" presId="urn:microsoft.com/office/officeart/2005/8/layout/radial1"/>
    <dgm:cxn modelId="{65D17BBF-5FF3-45B4-AB0B-9DD1B8A72EC2}" type="presOf" srcId="{41E9DD4A-0870-4B12-9EDE-32CC9E2BE48F}" destId="{9B3ED1B1-DB00-4821-9B2A-5D1734D73736}" srcOrd="0" destOrd="0" presId="urn:microsoft.com/office/officeart/2005/8/layout/radial1"/>
    <dgm:cxn modelId="{582B62C5-4EC9-49BA-BED9-44B676D3BBEB}" srcId="{30BEC992-142F-4E73-83B4-8CA653889836}" destId="{59DFCD24-92D7-417D-9BB2-492A993BAA48}" srcOrd="2" destOrd="0" parTransId="{0934CDCA-DEBB-4966-A22D-13B1F7348CA3}" sibTransId="{423B548D-2EB1-4194-AD0E-573534C3475A}"/>
    <dgm:cxn modelId="{B7E134CB-384C-4260-9CEF-D56C20785893}" type="presOf" srcId="{D8ACE754-6802-4699-87B0-1683A1233CCB}" destId="{2183988F-BE7A-4C95-AFB5-2A16CFDFD0C5}" srcOrd="0" destOrd="0" presId="urn:microsoft.com/office/officeart/2005/8/layout/radial1"/>
    <dgm:cxn modelId="{A4BA76CD-E1D8-4DB0-8168-D5A57FB4C704}" srcId="{30BEC992-142F-4E73-83B4-8CA653889836}" destId="{626CFEF6-E3AF-408A-B4C2-8ED9B51C66F1}" srcOrd="4" destOrd="0" parTransId="{92F0CE12-F6BA-487E-927F-7631977C5F80}" sibTransId="{71F8C8DF-10D8-453C-9FD5-46B4A3AE5A90}"/>
    <dgm:cxn modelId="{4952C4E1-0424-451F-B9EB-4EA58D9FBD8B}" type="presOf" srcId="{92F0CE12-F6BA-487E-927F-7631977C5F80}" destId="{A5403023-5242-4999-8C3D-42963C72014C}" srcOrd="1" destOrd="0" presId="urn:microsoft.com/office/officeart/2005/8/layout/radial1"/>
    <dgm:cxn modelId="{1DB7C6E3-B02E-4C22-8732-E34224FF60B0}" type="presOf" srcId="{30BEC992-142F-4E73-83B4-8CA653889836}" destId="{ABD46BAD-F679-464B-AB93-6E8055C59DD7}" srcOrd="0" destOrd="0" presId="urn:microsoft.com/office/officeart/2005/8/layout/radial1"/>
    <dgm:cxn modelId="{A1127CEF-8AD3-4D47-99DA-530872DEDC64}" srcId="{41E9DD4A-0870-4B12-9EDE-32CC9E2BE48F}" destId="{30BEC992-142F-4E73-83B4-8CA653889836}" srcOrd="0" destOrd="0" parTransId="{5E22B84F-6C3C-407D-8C10-7E96C92167E7}" sibTransId="{921DA6E7-4E92-40C7-AB68-91D4DD05D13B}"/>
    <dgm:cxn modelId="{A3B45DF0-0A83-42D6-A6F0-3294F6AFAAE2}" type="presOf" srcId="{59DFCD24-92D7-417D-9BB2-492A993BAA48}" destId="{CB0C921B-5576-4128-AF77-55067D82C621}" srcOrd="0" destOrd="0" presId="urn:microsoft.com/office/officeart/2005/8/layout/radial1"/>
    <dgm:cxn modelId="{DD7FCE8F-C586-4579-9D3C-3C536CF3630B}" type="presParOf" srcId="{9B3ED1B1-DB00-4821-9B2A-5D1734D73736}" destId="{ABD46BAD-F679-464B-AB93-6E8055C59DD7}" srcOrd="0" destOrd="0" presId="urn:microsoft.com/office/officeart/2005/8/layout/radial1"/>
    <dgm:cxn modelId="{BB0CD042-B24B-48D9-A89A-6F97654BE8E1}" type="presParOf" srcId="{9B3ED1B1-DB00-4821-9B2A-5D1734D73736}" destId="{D1182EFF-920D-4863-B82F-9139292497BB}" srcOrd="1" destOrd="0" presId="urn:microsoft.com/office/officeart/2005/8/layout/radial1"/>
    <dgm:cxn modelId="{AD3F59EE-54C4-44AB-848A-560329174904}" type="presParOf" srcId="{D1182EFF-920D-4863-B82F-9139292497BB}" destId="{FD5242E4-F7AC-442D-A419-C683361429E3}" srcOrd="0" destOrd="0" presId="urn:microsoft.com/office/officeart/2005/8/layout/radial1"/>
    <dgm:cxn modelId="{C4AD5C96-F717-4DD0-9DB5-598AF51A3E22}" type="presParOf" srcId="{9B3ED1B1-DB00-4821-9B2A-5D1734D73736}" destId="{8D745FAE-AA60-42D6-A43D-7F9C58E60CF9}" srcOrd="2" destOrd="0" presId="urn:microsoft.com/office/officeart/2005/8/layout/radial1"/>
    <dgm:cxn modelId="{98338F7C-CC9F-4E2D-BF29-99A8AD2EFF2F}" type="presParOf" srcId="{9B3ED1B1-DB00-4821-9B2A-5D1734D73736}" destId="{3EFEE321-1CDA-4379-BC15-CBD6CB6E9B1B}" srcOrd="3" destOrd="0" presId="urn:microsoft.com/office/officeart/2005/8/layout/radial1"/>
    <dgm:cxn modelId="{5CB32773-AF21-4F14-A756-4EF095B13C54}" type="presParOf" srcId="{3EFEE321-1CDA-4379-BC15-CBD6CB6E9B1B}" destId="{E7A7C9E0-65C6-4BD7-A592-E317EC95EAA8}" srcOrd="0" destOrd="0" presId="urn:microsoft.com/office/officeart/2005/8/layout/radial1"/>
    <dgm:cxn modelId="{45AC6D11-8857-46FE-8136-4B59F8DEAF4D}" type="presParOf" srcId="{9B3ED1B1-DB00-4821-9B2A-5D1734D73736}" destId="{C15E5145-DD26-41FD-8290-1BB469FF4E69}" srcOrd="4" destOrd="0" presId="urn:microsoft.com/office/officeart/2005/8/layout/radial1"/>
    <dgm:cxn modelId="{4E7978BC-3F6E-4681-ADFB-1CC76BD079EE}" type="presParOf" srcId="{9B3ED1B1-DB00-4821-9B2A-5D1734D73736}" destId="{4FFB5D54-091E-44C3-B257-2FDA3BA6C29A}" srcOrd="5" destOrd="0" presId="urn:microsoft.com/office/officeart/2005/8/layout/radial1"/>
    <dgm:cxn modelId="{E3CB77B0-A829-442E-A371-6EF00B53ED4D}" type="presParOf" srcId="{4FFB5D54-091E-44C3-B257-2FDA3BA6C29A}" destId="{3513191F-0311-4D52-853E-C48683FA57E2}" srcOrd="0" destOrd="0" presId="urn:microsoft.com/office/officeart/2005/8/layout/radial1"/>
    <dgm:cxn modelId="{D5FE6B9E-228D-44D8-9BF3-517EA6AEE253}" type="presParOf" srcId="{9B3ED1B1-DB00-4821-9B2A-5D1734D73736}" destId="{CB0C921B-5576-4128-AF77-55067D82C621}" srcOrd="6" destOrd="0" presId="urn:microsoft.com/office/officeart/2005/8/layout/radial1"/>
    <dgm:cxn modelId="{3117C4A8-2DE4-4AFA-B823-C6FB010CA70E}" type="presParOf" srcId="{9B3ED1B1-DB00-4821-9B2A-5D1734D73736}" destId="{2183988F-BE7A-4C95-AFB5-2A16CFDFD0C5}" srcOrd="7" destOrd="0" presId="urn:microsoft.com/office/officeart/2005/8/layout/radial1"/>
    <dgm:cxn modelId="{0345D90D-A077-4A47-8138-D9BE191B6ADB}" type="presParOf" srcId="{2183988F-BE7A-4C95-AFB5-2A16CFDFD0C5}" destId="{9B71E149-2C7B-498F-99DD-901FB21CC0FF}" srcOrd="0" destOrd="0" presId="urn:microsoft.com/office/officeart/2005/8/layout/radial1"/>
    <dgm:cxn modelId="{C5E261A1-5ABD-4E8A-BAD1-64B16B425773}" type="presParOf" srcId="{9B3ED1B1-DB00-4821-9B2A-5D1734D73736}" destId="{84A4895E-3359-482F-955B-2D6A121A8485}" srcOrd="8" destOrd="0" presId="urn:microsoft.com/office/officeart/2005/8/layout/radial1"/>
    <dgm:cxn modelId="{3BA0D892-7173-4B80-88CB-0AB525BFC91B}" type="presParOf" srcId="{9B3ED1B1-DB00-4821-9B2A-5D1734D73736}" destId="{38CE6B70-2484-494C-B13C-8AFBF166F9A6}" srcOrd="9" destOrd="0" presId="urn:microsoft.com/office/officeart/2005/8/layout/radial1"/>
    <dgm:cxn modelId="{D53E2DB3-17D6-47F0-915D-B6FF1AA43330}" type="presParOf" srcId="{38CE6B70-2484-494C-B13C-8AFBF166F9A6}" destId="{A5403023-5242-4999-8C3D-42963C72014C}" srcOrd="0" destOrd="0" presId="urn:microsoft.com/office/officeart/2005/8/layout/radial1"/>
    <dgm:cxn modelId="{FAE0DE3B-CE72-432F-9323-DE754A1A2BC4}" type="presParOf" srcId="{9B3ED1B1-DB00-4821-9B2A-5D1734D73736}" destId="{8AC9EBB0-ADC1-4F50-B0B3-F4692423BABD}" srcOrd="10"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D46BAD-F679-464B-AB93-6E8055C59DD7}">
      <dsp:nvSpPr>
        <dsp:cNvPr id="0" name=""/>
        <dsp:cNvSpPr/>
      </dsp:nvSpPr>
      <dsp:spPr>
        <a:xfrm>
          <a:off x="2267566" y="1368401"/>
          <a:ext cx="1024642" cy="102464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IN" sz="2400" b="1" kern="1200" dirty="0"/>
            <a:t>Tools Used</a:t>
          </a:r>
          <a:endParaRPr lang="en-IN" sz="2400" kern="1200" dirty="0"/>
        </a:p>
      </dsp:txBody>
      <dsp:txXfrm>
        <a:off x="2417621" y="1518456"/>
        <a:ext cx="724532" cy="724532"/>
      </dsp:txXfrm>
    </dsp:sp>
    <dsp:sp modelId="{D1182EFF-920D-4863-B82F-9139292497BB}">
      <dsp:nvSpPr>
        <dsp:cNvPr id="0" name=""/>
        <dsp:cNvSpPr/>
      </dsp:nvSpPr>
      <dsp:spPr>
        <a:xfrm rot="16208117">
          <a:off x="2610473" y="1180807"/>
          <a:ext cx="342055" cy="33134"/>
        </a:xfrm>
        <a:custGeom>
          <a:avLst/>
          <a:gdLst/>
          <a:ahLst/>
          <a:cxnLst/>
          <a:rect l="0" t="0" r="0" b="0"/>
          <a:pathLst>
            <a:path>
              <a:moveTo>
                <a:pt x="0" y="16567"/>
              </a:moveTo>
              <a:lnTo>
                <a:pt x="342055" y="1656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2772949" y="1188823"/>
        <a:ext cx="17102" cy="17102"/>
      </dsp:txXfrm>
    </dsp:sp>
    <dsp:sp modelId="{8D745FAE-AA60-42D6-A43D-7F9C58E60CF9}">
      <dsp:nvSpPr>
        <dsp:cNvPr id="0" name=""/>
        <dsp:cNvSpPr/>
      </dsp:nvSpPr>
      <dsp:spPr>
        <a:xfrm>
          <a:off x="2270793" y="1706"/>
          <a:ext cx="1024642" cy="102464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IN" sz="900" kern="1200" dirty="0"/>
            <a:t>Pandas</a:t>
          </a:r>
        </a:p>
      </dsp:txBody>
      <dsp:txXfrm>
        <a:off x="2420848" y="151761"/>
        <a:ext cx="724532" cy="724532"/>
      </dsp:txXfrm>
    </dsp:sp>
    <dsp:sp modelId="{3EFEE321-1CDA-4379-BC15-CBD6CB6E9B1B}">
      <dsp:nvSpPr>
        <dsp:cNvPr id="0" name=""/>
        <dsp:cNvSpPr/>
      </dsp:nvSpPr>
      <dsp:spPr>
        <a:xfrm rot="20442018">
          <a:off x="3254354" y="1641526"/>
          <a:ext cx="322542" cy="33134"/>
        </a:xfrm>
        <a:custGeom>
          <a:avLst/>
          <a:gdLst/>
          <a:ahLst/>
          <a:cxnLst/>
          <a:rect l="0" t="0" r="0" b="0"/>
          <a:pathLst>
            <a:path>
              <a:moveTo>
                <a:pt x="0" y="16567"/>
              </a:moveTo>
              <a:lnTo>
                <a:pt x="322542" y="1656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407562" y="1650030"/>
        <a:ext cx="16127" cy="16127"/>
      </dsp:txXfrm>
    </dsp:sp>
    <dsp:sp modelId="{C15E5145-DD26-41FD-8290-1BB469FF4E69}">
      <dsp:nvSpPr>
        <dsp:cNvPr id="0" name=""/>
        <dsp:cNvSpPr/>
      </dsp:nvSpPr>
      <dsp:spPr>
        <a:xfrm>
          <a:off x="3539042" y="923143"/>
          <a:ext cx="1024642" cy="102464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IN" sz="900" kern="1200" dirty="0"/>
            <a:t>JSON</a:t>
          </a:r>
        </a:p>
      </dsp:txBody>
      <dsp:txXfrm>
        <a:off x="3689097" y="1073198"/>
        <a:ext cx="724532" cy="724532"/>
      </dsp:txXfrm>
    </dsp:sp>
    <dsp:sp modelId="{4FFB5D54-091E-44C3-B257-2FDA3BA6C29A}">
      <dsp:nvSpPr>
        <dsp:cNvPr id="0" name=""/>
        <dsp:cNvSpPr/>
      </dsp:nvSpPr>
      <dsp:spPr>
        <a:xfrm rot="3181914">
          <a:off x="3031353" y="2386984"/>
          <a:ext cx="284116" cy="33134"/>
        </a:xfrm>
        <a:custGeom>
          <a:avLst/>
          <a:gdLst/>
          <a:ahLst/>
          <a:cxnLst/>
          <a:rect l="0" t="0" r="0" b="0"/>
          <a:pathLst>
            <a:path>
              <a:moveTo>
                <a:pt x="0" y="16567"/>
              </a:moveTo>
              <a:lnTo>
                <a:pt x="284116" y="1656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166308" y="2396449"/>
        <a:ext cx="14205" cy="14205"/>
      </dsp:txXfrm>
    </dsp:sp>
    <dsp:sp modelId="{CB0C921B-5576-4128-AF77-55067D82C621}">
      <dsp:nvSpPr>
        <dsp:cNvPr id="0" name=""/>
        <dsp:cNvSpPr/>
      </dsp:nvSpPr>
      <dsp:spPr>
        <a:xfrm>
          <a:off x="3054614" y="2414060"/>
          <a:ext cx="1024642" cy="102464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IN" sz="900" kern="1200" dirty="0"/>
            <a:t>Python</a:t>
          </a:r>
        </a:p>
      </dsp:txBody>
      <dsp:txXfrm>
        <a:off x="3204669" y="2564115"/>
        <a:ext cx="724532" cy="724532"/>
      </dsp:txXfrm>
    </dsp:sp>
    <dsp:sp modelId="{2183988F-BE7A-4C95-AFB5-2A16CFDFD0C5}">
      <dsp:nvSpPr>
        <dsp:cNvPr id="0" name=""/>
        <dsp:cNvSpPr/>
      </dsp:nvSpPr>
      <dsp:spPr>
        <a:xfrm rot="7604500">
          <a:off x="2249467" y="2386984"/>
          <a:ext cx="280244" cy="33134"/>
        </a:xfrm>
        <a:custGeom>
          <a:avLst/>
          <a:gdLst/>
          <a:ahLst/>
          <a:cxnLst/>
          <a:rect l="0" t="0" r="0" b="0"/>
          <a:pathLst>
            <a:path>
              <a:moveTo>
                <a:pt x="0" y="16567"/>
              </a:moveTo>
              <a:lnTo>
                <a:pt x="280244" y="1656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rot="10800000">
        <a:off x="2382584" y="2396546"/>
        <a:ext cx="14012" cy="14012"/>
      </dsp:txXfrm>
    </dsp:sp>
    <dsp:sp modelId="{84A4895E-3359-482F-955B-2D6A121A8485}">
      <dsp:nvSpPr>
        <dsp:cNvPr id="0" name=""/>
        <dsp:cNvSpPr/>
      </dsp:nvSpPr>
      <dsp:spPr>
        <a:xfrm>
          <a:off x="1486971" y="2414060"/>
          <a:ext cx="1024642" cy="102464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IN" sz="900" kern="1200" dirty="0"/>
            <a:t>Requests</a:t>
          </a:r>
        </a:p>
      </dsp:txBody>
      <dsp:txXfrm>
        <a:off x="1637026" y="2564115"/>
        <a:ext cx="724532" cy="724532"/>
      </dsp:txXfrm>
    </dsp:sp>
    <dsp:sp modelId="{38CE6B70-2484-494C-B13C-8AFBF166F9A6}">
      <dsp:nvSpPr>
        <dsp:cNvPr id="0" name=""/>
        <dsp:cNvSpPr/>
      </dsp:nvSpPr>
      <dsp:spPr>
        <a:xfrm rot="11963450">
          <a:off x="1989149" y="1641526"/>
          <a:ext cx="316452" cy="33134"/>
        </a:xfrm>
        <a:custGeom>
          <a:avLst/>
          <a:gdLst/>
          <a:ahLst/>
          <a:cxnLst/>
          <a:rect l="0" t="0" r="0" b="0"/>
          <a:pathLst>
            <a:path>
              <a:moveTo>
                <a:pt x="0" y="16567"/>
              </a:moveTo>
              <a:lnTo>
                <a:pt x="316452" y="1656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rot="10800000">
        <a:off x="2139464" y="1650182"/>
        <a:ext cx="15822" cy="15822"/>
      </dsp:txXfrm>
    </dsp:sp>
    <dsp:sp modelId="{8AC9EBB0-ADC1-4F50-B0B3-F4692423BABD}">
      <dsp:nvSpPr>
        <dsp:cNvPr id="0" name=""/>
        <dsp:cNvSpPr/>
      </dsp:nvSpPr>
      <dsp:spPr>
        <a:xfrm>
          <a:off x="1002543" y="923143"/>
          <a:ext cx="1024642" cy="102464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IN" sz="900" kern="1200" dirty="0" err="1"/>
            <a:t>BeautifulSoup</a:t>
          </a:r>
          <a:endParaRPr lang="en-IN" sz="900" kern="1200" dirty="0"/>
        </a:p>
      </dsp:txBody>
      <dsp:txXfrm>
        <a:off x="1152598" y="1073198"/>
        <a:ext cx="724532" cy="724532"/>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167474-952B-AC43-BEC3-541C80E3FD9C}"/>
              </a:ext>
            </a:extLst>
          </p:cNvPr>
          <p:cNvSpPr>
            <a:spLocks noGrp="1"/>
          </p:cNvSpPr>
          <p:nvPr>
            <p:ph type="hdr" sz="quarter"/>
          </p:nvPr>
        </p:nvSpPr>
        <p:spPr>
          <a:xfrm>
            <a:off x="0" y="0"/>
            <a:ext cx="2971800" cy="9366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B6DC1C6-1287-2C4A-84C8-98EFD82F9A6C}"/>
              </a:ext>
            </a:extLst>
          </p:cNvPr>
          <p:cNvSpPr>
            <a:spLocks noGrp="1"/>
          </p:cNvSpPr>
          <p:nvPr>
            <p:ph type="dt" sz="quarter" idx="1"/>
          </p:nvPr>
        </p:nvSpPr>
        <p:spPr>
          <a:xfrm>
            <a:off x="3884613" y="0"/>
            <a:ext cx="2971800" cy="93663"/>
          </a:xfrm>
          <a:prstGeom prst="rect">
            <a:avLst/>
          </a:prstGeom>
        </p:spPr>
        <p:txBody>
          <a:bodyPr vert="horz" lIns="91440" tIns="45720" rIns="91440" bIns="45720" rtlCol="0"/>
          <a:lstStyle>
            <a:lvl1pPr algn="r">
              <a:defRPr sz="1200"/>
            </a:lvl1pPr>
          </a:lstStyle>
          <a:p>
            <a:fld id="{C61B1DFE-DEC1-F84C-B64B-0BC4AFB87332}" type="datetimeFigureOut">
              <a:rPr lang="en-US" smtClean="0"/>
              <a:t>10/28/2026</a:t>
            </a:fld>
            <a:endParaRPr lang="en-US"/>
          </a:p>
        </p:txBody>
      </p:sp>
      <p:sp>
        <p:nvSpPr>
          <p:cNvPr id="4" name="Footer Placeholder 3">
            <a:extLst>
              <a:ext uri="{FF2B5EF4-FFF2-40B4-BE49-F238E27FC236}">
                <a16:creationId xmlns:a16="http://schemas.microsoft.com/office/drawing/2014/main" id="{06B322D0-710C-764D-ADE9-C566FF3B05D7}"/>
              </a:ext>
            </a:extLst>
          </p:cNvPr>
          <p:cNvSpPr>
            <a:spLocks noGrp="1"/>
          </p:cNvSpPr>
          <p:nvPr>
            <p:ph type="ftr" sz="quarter" idx="2"/>
          </p:nvPr>
        </p:nvSpPr>
        <p:spPr>
          <a:xfrm>
            <a:off x="0" y="1763713"/>
            <a:ext cx="2971800" cy="9366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2A2AE0-FDA0-1248-8D07-A5244E897ED5}"/>
              </a:ext>
            </a:extLst>
          </p:cNvPr>
          <p:cNvSpPr>
            <a:spLocks noGrp="1"/>
          </p:cNvSpPr>
          <p:nvPr>
            <p:ph type="sldNum" sz="quarter" idx="3"/>
          </p:nvPr>
        </p:nvSpPr>
        <p:spPr>
          <a:xfrm>
            <a:off x="3884613" y="1763713"/>
            <a:ext cx="2971800" cy="93662"/>
          </a:xfrm>
          <a:prstGeom prst="rect">
            <a:avLst/>
          </a:prstGeom>
        </p:spPr>
        <p:txBody>
          <a:bodyPr vert="horz" lIns="91440" tIns="45720" rIns="91440" bIns="45720" rtlCol="0" anchor="b"/>
          <a:lstStyle>
            <a:lvl1pPr algn="r">
              <a:defRPr sz="1200"/>
            </a:lvl1pPr>
          </a:lstStyle>
          <a:p>
            <a:fld id="{FD91E733-BECA-E944-9B7F-321864631FC0}" type="slidenum">
              <a:rPr lang="en-US" smtClean="0"/>
              <a:t>‹#›</a:t>
            </a:fld>
            <a:endParaRPr lang="en-US"/>
          </a:p>
        </p:txBody>
      </p:sp>
    </p:spTree>
    <p:extLst>
      <p:ext uri="{BB962C8B-B14F-4D97-AF65-F5344CB8AC3E}">
        <p14:creationId xmlns:p14="http://schemas.microsoft.com/office/powerpoint/2010/main" val="40710155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a:t>
            </a:fld>
            <a:endParaRPr lang="en-US" dirty="0"/>
          </a:p>
        </p:txBody>
      </p:sp>
    </p:spTree>
    <p:extLst>
      <p:ext uri="{BB962C8B-B14F-4D97-AF65-F5344CB8AC3E}">
        <p14:creationId xmlns:p14="http://schemas.microsoft.com/office/powerpoint/2010/main" val="4208315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6</a:t>
            </a:fld>
            <a:endParaRPr lang="en-US"/>
          </a:p>
        </p:txBody>
      </p:sp>
    </p:spTree>
    <p:extLst>
      <p:ext uri="{BB962C8B-B14F-4D97-AF65-F5344CB8AC3E}">
        <p14:creationId xmlns:p14="http://schemas.microsoft.com/office/powerpoint/2010/main" val="42262750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16</a:t>
            </a:fld>
            <a:endParaRPr lang="en-US"/>
          </a:p>
        </p:txBody>
      </p:sp>
    </p:spTree>
    <p:extLst>
      <p:ext uri="{BB962C8B-B14F-4D97-AF65-F5344CB8AC3E}">
        <p14:creationId xmlns:p14="http://schemas.microsoft.com/office/powerpoint/2010/main" val="39249665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46</a:t>
            </a:fld>
            <a:endParaRPr lang="en-US"/>
          </a:p>
        </p:txBody>
      </p:sp>
    </p:spTree>
    <p:extLst>
      <p:ext uri="{BB962C8B-B14F-4D97-AF65-F5344CB8AC3E}">
        <p14:creationId xmlns:p14="http://schemas.microsoft.com/office/powerpoint/2010/main" val="998503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2FDF747-B622-7F48-9215-C3A606BDEB98}"/>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372729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E525-4063-4C4F-8334-FBA02DB6937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B14EC97-9D34-BE48-9367-02F3BA14827A}"/>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BB8E19-FEF2-7A4B-8575-5AFEB134BC5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10/28/2026</a:t>
            </a:fld>
            <a:endParaRPr lang="en-US"/>
          </a:p>
        </p:txBody>
      </p:sp>
      <p:sp>
        <p:nvSpPr>
          <p:cNvPr id="5" name="Footer Placeholder 4">
            <a:extLst>
              <a:ext uri="{FF2B5EF4-FFF2-40B4-BE49-F238E27FC236}">
                <a16:creationId xmlns:a16="http://schemas.microsoft.com/office/drawing/2014/main" id="{513A4E28-3138-784C-8CBB-8586D8EE030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FB07D0F-3645-6B43-9AD7-762199572C65}"/>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669837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63CE8-FC8A-B648-971E-6DC96997A7A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634958-58AE-3F4E-8C00-440B25A937A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872462-6007-A64A-86E6-F5ED46C87269}"/>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10/28/2026</a:t>
            </a:fld>
            <a:endParaRPr lang="en-US"/>
          </a:p>
        </p:txBody>
      </p:sp>
      <p:sp>
        <p:nvSpPr>
          <p:cNvPr id="5" name="Footer Placeholder 4">
            <a:extLst>
              <a:ext uri="{FF2B5EF4-FFF2-40B4-BE49-F238E27FC236}">
                <a16:creationId xmlns:a16="http://schemas.microsoft.com/office/drawing/2014/main" id="{99D379FD-EE00-8243-9FA5-BC4C116FA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2C754-6A4A-424A-B972-C341147C4E0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983851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8FC9-14F0-064F-BEB7-9DA0B58221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F565333-3885-5246-9997-584B944334C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A3D495-0AB7-4245-BD03-FEF725EE8B3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A3532B-22A8-4948-8614-690AB67FC7F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10/28/2026</a:t>
            </a:fld>
            <a:endParaRPr lang="en-US"/>
          </a:p>
        </p:txBody>
      </p:sp>
      <p:sp>
        <p:nvSpPr>
          <p:cNvPr id="6" name="Footer Placeholder 5">
            <a:extLst>
              <a:ext uri="{FF2B5EF4-FFF2-40B4-BE49-F238E27FC236}">
                <a16:creationId xmlns:a16="http://schemas.microsoft.com/office/drawing/2014/main" id="{BE45A5D6-868E-4849-A5DA-84702CEDFE8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D682E35-43FC-E946-AA84-7E00546A24B6}"/>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45983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4121-1457-7D45-BFFD-BECD6649741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CE09A76-C125-0945-BCD8-FF2A0498A56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B142CC-BC3F-664E-A6C2-3854B8D4E8C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FA8D54-9ED9-E345-B69E-FF5D485B13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B295F-F3C2-5646-A5F3-194FE6EFEB29}"/>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516157-5FC9-E841-A6FC-14EBCFDEC672}"/>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10/28/2026</a:t>
            </a:fld>
            <a:endParaRPr lang="en-US"/>
          </a:p>
        </p:txBody>
      </p:sp>
      <p:sp>
        <p:nvSpPr>
          <p:cNvPr id="8" name="Footer Placeholder 7">
            <a:extLst>
              <a:ext uri="{FF2B5EF4-FFF2-40B4-BE49-F238E27FC236}">
                <a16:creationId xmlns:a16="http://schemas.microsoft.com/office/drawing/2014/main" id="{3544E072-D5B7-D647-82C0-40BEAE857D4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7A73D6E-2A82-7344-BB8C-513E6DA4E143}"/>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472103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B4CE-9E7B-564C-A6C3-DCABF996FBD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CF8A31D-92A5-DF47-9C3A-9F9C1CF8FC6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10/28/2026</a:t>
            </a:fld>
            <a:endParaRPr lang="en-US"/>
          </a:p>
        </p:txBody>
      </p:sp>
      <p:sp>
        <p:nvSpPr>
          <p:cNvPr id="4" name="Footer Placeholder 3">
            <a:extLst>
              <a:ext uri="{FF2B5EF4-FFF2-40B4-BE49-F238E27FC236}">
                <a16:creationId xmlns:a16="http://schemas.microsoft.com/office/drawing/2014/main" id="{FFE7EADA-8BC4-974C-BBA1-7390F15FD5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89EC0A8-C281-FF40-A774-EAF6089BB00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428588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27EBC-C9EC-5844-B3BF-5151B2F70EA4}"/>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10/28/2026</a:t>
            </a:fld>
            <a:endParaRPr lang="en-US"/>
          </a:p>
        </p:txBody>
      </p:sp>
      <p:sp>
        <p:nvSpPr>
          <p:cNvPr id="3" name="Footer Placeholder 2">
            <a:extLst>
              <a:ext uri="{FF2B5EF4-FFF2-40B4-BE49-F238E27FC236}">
                <a16:creationId xmlns:a16="http://schemas.microsoft.com/office/drawing/2014/main" id="{A9F664BF-C7CE-DC46-9D6D-A9335EE9D8B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A1AAD4E-B732-E349-8793-C20A3D6B70AE}"/>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18628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A651-FEEA-2140-82D8-9C06A36F929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D2DAEA-C881-354D-A17E-2A95857F0CA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2148C2-62EB-B446-BB7C-69F5E480649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4D069-D155-9141-9045-DB41904753A7}"/>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10/28/2026</a:t>
            </a:fld>
            <a:endParaRPr lang="en-US"/>
          </a:p>
        </p:txBody>
      </p:sp>
      <p:sp>
        <p:nvSpPr>
          <p:cNvPr id="6" name="Footer Placeholder 5">
            <a:extLst>
              <a:ext uri="{FF2B5EF4-FFF2-40B4-BE49-F238E27FC236}">
                <a16:creationId xmlns:a16="http://schemas.microsoft.com/office/drawing/2014/main" id="{2C0EE34C-EABB-6848-A341-7CA0C29379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0C04AAD-C125-DD44-8102-9F28820805F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4126351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D611A-FFDF-C848-A433-C5B125C402E0}"/>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6C0E97-AC3D-784B-96B7-0D18B5A35AE1}"/>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B37986-0214-C348-AB5F-D54BF288107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6860A9-8610-9347-BAE7-F23CCA13E55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10/28/2026</a:t>
            </a:fld>
            <a:endParaRPr lang="en-US"/>
          </a:p>
        </p:txBody>
      </p:sp>
      <p:sp>
        <p:nvSpPr>
          <p:cNvPr id="6" name="Footer Placeholder 5">
            <a:extLst>
              <a:ext uri="{FF2B5EF4-FFF2-40B4-BE49-F238E27FC236}">
                <a16:creationId xmlns:a16="http://schemas.microsoft.com/office/drawing/2014/main" id="{14249D7C-BCAA-DE44-AE89-5178DA8D82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5319C3-A65D-764B-BD49-57D0082AE9A9}"/>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349313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DD383-EB92-5540-96BB-199B7760EF4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9FED7B-4DA5-4346-B7E2-D18782430F68}"/>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2B5F2C-52A9-3047-A473-9FFC051518A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10/28/2026</a:t>
            </a:fld>
            <a:endParaRPr lang="en-US"/>
          </a:p>
        </p:txBody>
      </p:sp>
      <p:sp>
        <p:nvSpPr>
          <p:cNvPr id="5" name="Footer Placeholder 4">
            <a:extLst>
              <a:ext uri="{FF2B5EF4-FFF2-40B4-BE49-F238E27FC236}">
                <a16:creationId xmlns:a16="http://schemas.microsoft.com/office/drawing/2014/main" id="{DAC041C9-0677-664D-B2BB-69B0A6A709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0B34EA4-D670-2C41-9EF4-392023D22E4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748549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05DB93-A58E-714C-BD6E-76F1D21AEA0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F83819-F149-7645-A0DD-B53DD9D84837}"/>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FB065F-A67E-EF4E-A12F-EB30F584E49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10/28/2026</a:t>
            </a:fld>
            <a:endParaRPr lang="en-US"/>
          </a:p>
        </p:txBody>
      </p:sp>
      <p:sp>
        <p:nvSpPr>
          <p:cNvPr id="5" name="Footer Placeholder 4">
            <a:extLst>
              <a:ext uri="{FF2B5EF4-FFF2-40B4-BE49-F238E27FC236}">
                <a16:creationId xmlns:a16="http://schemas.microsoft.com/office/drawing/2014/main" id="{356E9D5F-8CC5-8740-9426-35E9D812FC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BB1DE0B-93CB-5C41-B581-C00D0F9F7CC2}"/>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85729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1_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a:prstGeom prst="rect">
            <a:avLst/>
          </a:prstGeom>
        </p:spPr>
        <p:txBody>
          <a:bodyPr anchor="b">
            <a:normAutofit/>
          </a:bodyPr>
          <a:lstStyle>
            <a:lvl1pPr algn="ctr">
              <a:defRPr sz="48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a:t>Click to edit Master title style</a:t>
            </a:r>
          </a:p>
        </p:txBody>
      </p:sp>
      <p:sp>
        <p:nvSpPr>
          <p:cNvPr id="2" name="Footer Placeholder 1">
            <a:extLst>
              <a:ext uri="{FF2B5EF4-FFF2-40B4-BE49-F238E27FC236}">
                <a16:creationId xmlns:a16="http://schemas.microsoft.com/office/drawing/2014/main" id="{FD30FDD2-E0CC-3E4C-A49E-91BE8BE0367F}"/>
              </a:ext>
            </a:extLst>
          </p:cNvPr>
          <p:cNvSpPr>
            <a:spLocks noGrp="1"/>
          </p:cNvSpPr>
          <p:nvPr>
            <p:ph type="ftr" sz="quarter" idx="10"/>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1038078290"/>
      </p:ext>
    </p:extLst>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A119083-F06C-6F4F-9852-321B8C953CC2}"/>
              </a:ext>
            </a:extLst>
          </p:cNvPr>
          <p:cNvSpPr>
            <a:spLocks noGrp="1"/>
          </p:cNvSpPr>
          <p:nvPr>
            <p:ph type="ftr" sz="quarter" idx="10"/>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976210309"/>
      </p:ext>
    </p:extLst>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2FDF747-B622-7F48-9215-C3A606BDEB98}"/>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9360991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A119083-F06C-6F4F-9852-321B8C953CC2}"/>
              </a:ext>
            </a:extLst>
          </p:cNvPr>
          <p:cNvSpPr>
            <a:spLocks noGrp="1"/>
          </p:cNvSpPr>
          <p:nvPr>
            <p:ph type="ftr" sz="quarter" idx="10"/>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1099443284"/>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0D5B246-E282-3742-BD72-B1BCDC5A64B4}"/>
              </a:ext>
            </a:extLst>
          </p:cNvPr>
          <p:cNvSpPr>
            <a:spLocks noGrp="1"/>
          </p:cNvSpPr>
          <p:nvPr>
            <p:ph type="sldNum" sz="quarter" idx="4"/>
          </p:nvPr>
        </p:nvSpPr>
        <p:spPr>
          <a:xfrm>
            <a:off x="8714772" y="6025573"/>
            <a:ext cx="2743200" cy="401638"/>
          </a:xfrm>
          <a:prstGeom prst="rect">
            <a:avLst/>
          </a:prstGeom>
        </p:spPr>
        <p:txBody>
          <a:bodyPr vert="horz" lIns="91440" tIns="45720" rIns="91440" bIns="45720" rtlCol="0" anchor="ctr"/>
          <a:lstStyle>
            <a:lvl1pPr algn="r">
              <a:defRPr sz="1600">
                <a:solidFill>
                  <a:srgbClr val="1C7DDB"/>
                </a:solidFill>
                <a:latin typeface="Abadi" panose="020B0604020104020204" pitchFamily="34" charset="0"/>
              </a:defRPr>
            </a:lvl1pPr>
          </a:lstStyle>
          <a:p>
            <a:fld id="{A190C97C-0095-2443-AC12-FA4CBA4ACD4D}" type="slidenum">
              <a:rPr lang="en-US" smtClean="0"/>
              <a:pPr/>
              <a:t>‹#›</a:t>
            </a:fld>
            <a:endParaRPr lang="en-US"/>
          </a:p>
        </p:txBody>
      </p:sp>
    </p:spTree>
    <p:extLst>
      <p:ext uri="{BB962C8B-B14F-4D97-AF65-F5344CB8AC3E}">
        <p14:creationId xmlns:p14="http://schemas.microsoft.com/office/powerpoint/2010/main" val="2647310266"/>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789" r:id="rId14"/>
    <p:sldLayoutId id="2147483791"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hyperlink" Target="https://github.com/anatesan-01/Data-Science-Capstone--IBM/blob/main/jupyter-labs-spacex-data-collection-api-v2.ipynb"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anatesan-01/Data-Science-Capstone--IBM/blob/main/labs-jupyter-spacex-Data%20wrangling-v2.ipynb" TargetMode="External"/><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anatesan-01/Data-Science-Capstone--IBM/blob/main/jupyter-labs-eda-dataviz-v2.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anatesan-01/Data-Science-Capstone--IBM/blob/main/jupyter-labs-eda-sql-coursera_sqllite.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anatesan-01/Data-Science-Capstone--IBM/blob/main/lab-jupyter-launch-site-location-v2.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anatesan-01/Data-Science-Capstone--IBM/blob/main/spacex_dash_app.py"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anatesan-01/Data-Science-Capstone--IBM/blob/main/SpaceX-Machine-Learning-Prediction-Part-5-v1%20(1).ipynb" TargetMode="External"/><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4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hyperlink" Target="https://github.com/anatesan-01/Data-Science-Capstone--IBM" TargetMode="External"/></Relationships>
</file>

<file path=ppt/slides/_rels/slide47.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C36AF9D-A911-994B-90EA-013D4CDA5604}"/>
              </a:ext>
            </a:extLst>
          </p:cNvPr>
          <p:cNvSpPr txBox="1"/>
          <p:nvPr/>
        </p:nvSpPr>
        <p:spPr>
          <a:xfrm>
            <a:off x="888546" y="4568734"/>
            <a:ext cx="2514600" cy="646331"/>
          </a:xfrm>
          <a:prstGeom prst="rect">
            <a:avLst/>
          </a:prstGeom>
          <a:noFill/>
        </p:spPr>
        <p:txBody>
          <a:bodyPr wrap="square" lIns="91440" tIns="45720" rIns="91440" bIns="45720" rtlCol="0" anchor="t">
            <a:spAutoFit/>
          </a:bodyPr>
          <a:lstStyle/>
          <a:p>
            <a:r>
              <a:rPr lang="en-US" dirty="0">
                <a:solidFill>
                  <a:schemeClr val="bg2"/>
                </a:solidFill>
                <a:latin typeface="Abadi"/>
                <a:ea typeface="SF Pro" pitchFamily="2" charset="0"/>
                <a:cs typeface="SF Pro" pitchFamily="2" charset="0"/>
              </a:rPr>
              <a:t>Natesan A</a:t>
            </a:r>
          </a:p>
          <a:p>
            <a:r>
              <a:rPr lang="en-US" dirty="0">
                <a:solidFill>
                  <a:schemeClr val="bg2"/>
                </a:solidFill>
                <a:latin typeface="Abadi" panose="020B0604020104020204" pitchFamily="34" charset="0"/>
                <a:ea typeface="SF Pro" pitchFamily="2" charset="0"/>
                <a:cs typeface="SF Pro" pitchFamily="2" charset="0"/>
              </a:rPr>
              <a:t>28/10/2026</a:t>
            </a:r>
          </a:p>
        </p:txBody>
      </p:sp>
      <p:pic>
        <p:nvPicPr>
          <p:cNvPr id="2" name="Picture 2" descr="IBM Skills Network Logo - Horizontal-noai copy.png">
            <a:extLst>
              <a:ext uri="{FF2B5EF4-FFF2-40B4-BE49-F238E27FC236}">
                <a16:creationId xmlns:a16="http://schemas.microsoft.com/office/drawing/2014/main" id="{4F94DBE5-2DCC-401E-95AA-12E04A97FBA6}"/>
              </a:ext>
            </a:extLst>
          </p:cNvPr>
          <p:cNvPicPr>
            <a:picLocks noChangeAspect="1"/>
          </p:cNvPicPr>
          <p:nvPr/>
        </p:nvPicPr>
        <p:blipFill>
          <a:blip r:embed="rId3"/>
          <a:stretch>
            <a:fillRect/>
          </a:stretch>
        </p:blipFill>
        <p:spPr>
          <a:xfrm>
            <a:off x="889820" y="676828"/>
            <a:ext cx="2104103" cy="629183"/>
          </a:xfrm>
          <a:prstGeom prst="rect">
            <a:avLst/>
          </a:prstGeom>
        </p:spPr>
      </p:pic>
    </p:spTree>
    <p:extLst>
      <p:ext uri="{BB962C8B-B14F-4D97-AF65-F5344CB8AC3E}">
        <p14:creationId xmlns:p14="http://schemas.microsoft.com/office/powerpoint/2010/main" val="127761162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fld id="{5075537C-CA84-1446-933C-8E9D027F9201}" type="slidenum">
              <a:rPr lang="en-US" smtClean="0"/>
              <a:pPr/>
              <a:t>2</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958697" y="2113240"/>
            <a:ext cx="5167086" cy="3320824"/>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buFont typeface="Wingdings" panose="05000000000000000000" pitchFamily="2" charset="2"/>
              <a:buChar char="v"/>
            </a:pPr>
            <a:r>
              <a:rPr lang="en-US" sz="2200" dirty="0">
                <a:solidFill>
                  <a:schemeClr val="accent3">
                    <a:lumMod val="25000"/>
                  </a:schemeClr>
                </a:solidFill>
                <a:latin typeface="Abadi"/>
              </a:rPr>
              <a:t>Executive Summary</a:t>
            </a:r>
          </a:p>
          <a:p>
            <a:pPr>
              <a:lnSpc>
                <a:spcPct val="100000"/>
              </a:lnSpc>
              <a:spcBef>
                <a:spcPts val="1400"/>
              </a:spcBef>
              <a:buFont typeface="Wingdings" panose="05000000000000000000" pitchFamily="2" charset="2"/>
              <a:buChar char="v"/>
            </a:pPr>
            <a:r>
              <a:rPr lang="en-US" sz="2200" dirty="0">
                <a:solidFill>
                  <a:schemeClr val="accent3">
                    <a:lumMod val="25000"/>
                  </a:schemeClr>
                </a:solidFill>
                <a:latin typeface="Abadi"/>
              </a:rPr>
              <a:t>Introduction</a:t>
            </a:r>
          </a:p>
          <a:p>
            <a:pPr>
              <a:lnSpc>
                <a:spcPct val="100000"/>
              </a:lnSpc>
              <a:spcBef>
                <a:spcPts val="1400"/>
              </a:spcBef>
              <a:buFont typeface="Wingdings" panose="05000000000000000000" pitchFamily="2" charset="2"/>
              <a:buChar char="v"/>
            </a:pPr>
            <a:r>
              <a:rPr lang="en-US" sz="2200" dirty="0">
                <a:solidFill>
                  <a:schemeClr val="accent3">
                    <a:lumMod val="25000"/>
                  </a:schemeClr>
                </a:solidFill>
                <a:latin typeface="Abadi"/>
              </a:rPr>
              <a:t>Methodology</a:t>
            </a:r>
          </a:p>
          <a:p>
            <a:pPr marL="0" indent="0">
              <a:lnSpc>
                <a:spcPct val="100000"/>
              </a:lnSpc>
              <a:spcBef>
                <a:spcPts val="1400"/>
              </a:spcBef>
              <a:buNone/>
            </a:pPr>
            <a:endParaRPr lang="en-US" sz="2200" dirty="0">
              <a:solidFill>
                <a:schemeClr val="accent3">
                  <a:lumMod val="25000"/>
                </a:schemeClr>
              </a:solidFill>
              <a:latin typeface="Abadi"/>
            </a:endParaRP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Outline</a:t>
            </a:r>
          </a:p>
        </p:txBody>
      </p:sp>
      <p:sp>
        <p:nvSpPr>
          <p:cNvPr id="5" name="TextBox 4">
            <a:extLst>
              <a:ext uri="{FF2B5EF4-FFF2-40B4-BE49-F238E27FC236}">
                <a16:creationId xmlns:a16="http://schemas.microsoft.com/office/drawing/2014/main" id="{E81CBBBF-CD20-6B7C-DC96-24967D64281A}"/>
              </a:ext>
            </a:extLst>
          </p:cNvPr>
          <p:cNvSpPr txBox="1"/>
          <p:nvPr/>
        </p:nvSpPr>
        <p:spPr>
          <a:xfrm>
            <a:off x="1245354" y="3547943"/>
            <a:ext cx="2891217" cy="2031325"/>
          </a:xfrm>
          <a:prstGeom prst="rect">
            <a:avLst/>
          </a:prstGeom>
          <a:noFill/>
        </p:spPr>
        <p:txBody>
          <a:bodyPr wrap="square" rtlCol="0">
            <a:spAutoFit/>
          </a:bodyPr>
          <a:lstStyle/>
          <a:p>
            <a:pPr marL="342900" lvl="0" indent="-342900">
              <a:buFont typeface="Arial" panose="020B0604020202020204" pitchFamily="34" charset="0"/>
              <a:buChar char="•"/>
            </a:pPr>
            <a:r>
              <a:rPr lang="en-IN" dirty="0">
                <a:solidFill>
                  <a:schemeClr val="accent1">
                    <a:lumMod val="60000"/>
                    <a:lumOff val="40000"/>
                  </a:schemeClr>
                </a:solidFill>
                <a:latin typeface="Arial Narrow" panose="020B0606020202030204" pitchFamily="34" charset="0"/>
              </a:rPr>
              <a:t>Data Collection &amp; Web Scraping</a:t>
            </a:r>
          </a:p>
          <a:p>
            <a:pPr marL="342900" lvl="0" indent="-342900">
              <a:buFont typeface="Arial" panose="020B0604020202020204" pitchFamily="34" charset="0"/>
              <a:buChar char="•"/>
            </a:pPr>
            <a:r>
              <a:rPr lang="en-IN" dirty="0">
                <a:solidFill>
                  <a:schemeClr val="accent1">
                    <a:lumMod val="60000"/>
                    <a:lumOff val="40000"/>
                  </a:schemeClr>
                </a:solidFill>
                <a:latin typeface="Arial Narrow" panose="020B0606020202030204" pitchFamily="34" charset="0"/>
              </a:rPr>
              <a:t>Data Wrangling</a:t>
            </a:r>
          </a:p>
          <a:p>
            <a:pPr marL="342900" lvl="0" indent="-342900">
              <a:buFont typeface="Arial" panose="020B0604020202020204" pitchFamily="34" charset="0"/>
              <a:buChar char="•"/>
            </a:pPr>
            <a:r>
              <a:rPr lang="en-IN" dirty="0">
                <a:solidFill>
                  <a:schemeClr val="accent1">
                    <a:lumMod val="60000"/>
                    <a:lumOff val="40000"/>
                  </a:schemeClr>
                </a:solidFill>
                <a:latin typeface="Arial Narrow" panose="020B0606020202030204" pitchFamily="34" charset="0"/>
              </a:rPr>
              <a:t>EDA &amp; SQL Analysis</a:t>
            </a:r>
          </a:p>
          <a:p>
            <a:pPr marL="342900" lvl="0" indent="-342900">
              <a:buFont typeface="Arial" panose="020B0604020202020204" pitchFamily="34" charset="0"/>
              <a:buChar char="•"/>
            </a:pPr>
            <a:r>
              <a:rPr lang="en-IN" dirty="0">
                <a:solidFill>
                  <a:schemeClr val="accent1">
                    <a:lumMod val="60000"/>
                    <a:lumOff val="40000"/>
                  </a:schemeClr>
                </a:solidFill>
                <a:latin typeface="Arial Narrow" panose="020B0606020202030204" pitchFamily="34" charset="0"/>
              </a:rPr>
              <a:t>Interactive Visual Analytics</a:t>
            </a:r>
          </a:p>
          <a:p>
            <a:pPr marL="342900" lvl="0" indent="-342900">
              <a:buFont typeface="Arial" panose="020B0604020202020204" pitchFamily="34" charset="0"/>
              <a:buChar char="•"/>
            </a:pPr>
            <a:r>
              <a:rPr lang="en-IN" dirty="0">
                <a:solidFill>
                  <a:schemeClr val="accent1">
                    <a:lumMod val="60000"/>
                    <a:lumOff val="40000"/>
                  </a:schemeClr>
                </a:solidFill>
                <a:latin typeface="Arial Narrow" panose="020B0606020202030204" pitchFamily="34" charset="0"/>
              </a:rPr>
              <a:t>Predictive Analysis</a:t>
            </a:r>
          </a:p>
          <a:p>
            <a:pPr marL="342900" indent="-342900">
              <a:buFont typeface="+mj-lt"/>
              <a:buAutoNum type="arabicPeriod"/>
            </a:pPr>
            <a:endParaRPr lang="en-IN" dirty="0"/>
          </a:p>
        </p:txBody>
      </p:sp>
      <p:sp>
        <p:nvSpPr>
          <p:cNvPr id="6" name="TextBox 5">
            <a:extLst>
              <a:ext uri="{FF2B5EF4-FFF2-40B4-BE49-F238E27FC236}">
                <a16:creationId xmlns:a16="http://schemas.microsoft.com/office/drawing/2014/main" id="{12764C5A-92AF-D101-8710-B2356D28A1C3}"/>
              </a:ext>
            </a:extLst>
          </p:cNvPr>
          <p:cNvSpPr txBox="1"/>
          <p:nvPr/>
        </p:nvSpPr>
        <p:spPr>
          <a:xfrm>
            <a:off x="7010399" y="1983470"/>
            <a:ext cx="2329543" cy="430887"/>
          </a:xfrm>
          <a:prstGeom prst="rect">
            <a:avLst/>
          </a:prstGeom>
          <a:noFill/>
        </p:spPr>
        <p:txBody>
          <a:bodyPr wrap="square" rtlCol="0">
            <a:spAutoFit/>
          </a:bodyPr>
          <a:lstStyle/>
          <a:p>
            <a:pPr marL="342900" indent="-342900">
              <a:buFont typeface="Wingdings" panose="05000000000000000000" pitchFamily="2" charset="2"/>
              <a:buChar char="v"/>
            </a:pPr>
            <a:r>
              <a:rPr lang="en-IN" sz="2200" dirty="0">
                <a:latin typeface="Abadi" panose="020B0604020104020204" pitchFamily="34" charset="0"/>
              </a:rPr>
              <a:t>Results</a:t>
            </a:r>
          </a:p>
        </p:txBody>
      </p:sp>
      <p:sp>
        <p:nvSpPr>
          <p:cNvPr id="9" name="TextBox 8">
            <a:extLst>
              <a:ext uri="{FF2B5EF4-FFF2-40B4-BE49-F238E27FC236}">
                <a16:creationId xmlns:a16="http://schemas.microsoft.com/office/drawing/2014/main" id="{268BFF12-37BC-4D46-EBAC-33A07F451573}"/>
              </a:ext>
            </a:extLst>
          </p:cNvPr>
          <p:cNvSpPr txBox="1"/>
          <p:nvPr/>
        </p:nvSpPr>
        <p:spPr>
          <a:xfrm>
            <a:off x="7422206" y="2432965"/>
            <a:ext cx="2873672" cy="1754326"/>
          </a:xfrm>
          <a:prstGeom prst="rect">
            <a:avLst/>
          </a:prstGeom>
          <a:noFill/>
        </p:spPr>
        <p:txBody>
          <a:bodyPr wrap="none" rtlCol="0">
            <a:spAutoFit/>
          </a:bodyPr>
          <a:lstStyle/>
          <a:p>
            <a:pPr marL="285750" lvl="0" indent="-285750">
              <a:buFont typeface="Arial" panose="020B0604020202020204" pitchFamily="34" charset="0"/>
              <a:buChar char="•"/>
            </a:pPr>
            <a:r>
              <a:rPr lang="en-IN" dirty="0">
                <a:solidFill>
                  <a:schemeClr val="accent1">
                    <a:lumMod val="60000"/>
                    <a:lumOff val="40000"/>
                  </a:schemeClr>
                </a:solidFill>
              </a:rPr>
              <a:t>EDA Visualization Results</a:t>
            </a:r>
          </a:p>
          <a:p>
            <a:pPr marL="285750" lvl="0" indent="-285750">
              <a:buFont typeface="Arial" panose="020B0604020202020204" pitchFamily="34" charset="0"/>
              <a:buChar char="•"/>
            </a:pPr>
            <a:r>
              <a:rPr lang="en-IN" dirty="0">
                <a:solidFill>
                  <a:schemeClr val="accent1">
                    <a:lumMod val="60000"/>
                    <a:lumOff val="40000"/>
                  </a:schemeClr>
                </a:solidFill>
              </a:rPr>
              <a:t>SQL Analysis Results</a:t>
            </a:r>
          </a:p>
          <a:p>
            <a:pPr marL="285750" lvl="0" indent="-285750">
              <a:buFont typeface="Arial" panose="020B0604020202020204" pitchFamily="34" charset="0"/>
              <a:buChar char="•"/>
            </a:pPr>
            <a:r>
              <a:rPr lang="en-IN" dirty="0">
                <a:solidFill>
                  <a:schemeClr val="accent1">
                    <a:lumMod val="60000"/>
                    <a:lumOff val="40000"/>
                  </a:schemeClr>
                </a:solidFill>
              </a:rPr>
              <a:t>Folium Map Results</a:t>
            </a:r>
          </a:p>
          <a:p>
            <a:pPr marL="285750" lvl="0" indent="-285750">
              <a:buFont typeface="Arial" panose="020B0604020202020204" pitchFamily="34" charset="0"/>
              <a:buChar char="•"/>
            </a:pPr>
            <a:r>
              <a:rPr lang="en-IN" dirty="0" err="1">
                <a:solidFill>
                  <a:schemeClr val="accent1">
                    <a:lumMod val="60000"/>
                    <a:lumOff val="40000"/>
                  </a:schemeClr>
                </a:solidFill>
              </a:rPr>
              <a:t>Plotly</a:t>
            </a:r>
            <a:r>
              <a:rPr lang="en-IN" dirty="0">
                <a:solidFill>
                  <a:schemeClr val="accent1">
                    <a:lumMod val="60000"/>
                    <a:lumOff val="40000"/>
                  </a:schemeClr>
                </a:solidFill>
              </a:rPr>
              <a:t> Dash Dashboard</a:t>
            </a:r>
          </a:p>
          <a:p>
            <a:pPr marL="285750" lvl="0" indent="-285750">
              <a:buFont typeface="Arial" panose="020B0604020202020204" pitchFamily="34" charset="0"/>
              <a:buChar char="•"/>
            </a:pPr>
            <a:r>
              <a:rPr lang="en-IN" dirty="0">
                <a:solidFill>
                  <a:schemeClr val="accent1">
                    <a:lumMod val="60000"/>
                    <a:lumOff val="40000"/>
                  </a:schemeClr>
                </a:solidFill>
              </a:rPr>
              <a:t>Machine Learning Results</a:t>
            </a:r>
          </a:p>
          <a:p>
            <a:endParaRPr lang="en-IN" dirty="0"/>
          </a:p>
        </p:txBody>
      </p:sp>
      <p:sp>
        <p:nvSpPr>
          <p:cNvPr id="11" name="TextBox 10">
            <a:extLst>
              <a:ext uri="{FF2B5EF4-FFF2-40B4-BE49-F238E27FC236}">
                <a16:creationId xmlns:a16="http://schemas.microsoft.com/office/drawing/2014/main" id="{EEBA84A0-6664-4C68-E0B7-AC471CE1A2E4}"/>
              </a:ext>
            </a:extLst>
          </p:cNvPr>
          <p:cNvSpPr txBox="1"/>
          <p:nvPr/>
        </p:nvSpPr>
        <p:spPr>
          <a:xfrm>
            <a:off x="7052012" y="4290383"/>
            <a:ext cx="1839221" cy="1046440"/>
          </a:xfrm>
          <a:prstGeom prst="rect">
            <a:avLst/>
          </a:prstGeom>
          <a:noFill/>
        </p:spPr>
        <p:txBody>
          <a:bodyPr wrap="none" rtlCol="0">
            <a:spAutoFit/>
          </a:bodyPr>
          <a:lstStyle/>
          <a:p>
            <a:pPr marL="342900" lvl="0" indent="-342900">
              <a:buFont typeface="Wingdings" panose="05000000000000000000" pitchFamily="2" charset="2"/>
              <a:buChar char="v"/>
            </a:pPr>
            <a:r>
              <a:rPr lang="en-IN" sz="2200" dirty="0">
                <a:latin typeface="Abadi" panose="020B0604020104020204" pitchFamily="34" charset="0"/>
              </a:rPr>
              <a:t>Conclusion</a:t>
            </a:r>
          </a:p>
          <a:p>
            <a:pPr marL="342900" lvl="0" indent="-342900">
              <a:buFont typeface="Wingdings" panose="05000000000000000000" pitchFamily="2" charset="2"/>
              <a:buChar char="v"/>
            </a:pPr>
            <a:endParaRPr lang="en-IN" sz="2200" dirty="0">
              <a:latin typeface="Abadi" panose="020B0604020104020204" pitchFamily="34" charset="0"/>
            </a:endParaRPr>
          </a:p>
          <a:p>
            <a:endParaRPr lang="en-IN" dirty="0"/>
          </a:p>
        </p:txBody>
      </p:sp>
      <p:sp>
        <p:nvSpPr>
          <p:cNvPr id="13" name="TextBox 12">
            <a:extLst>
              <a:ext uri="{FF2B5EF4-FFF2-40B4-BE49-F238E27FC236}">
                <a16:creationId xmlns:a16="http://schemas.microsoft.com/office/drawing/2014/main" id="{C55449F2-0FA3-1C78-B09A-17C1EA19C8C9}"/>
              </a:ext>
            </a:extLst>
          </p:cNvPr>
          <p:cNvSpPr txBox="1"/>
          <p:nvPr/>
        </p:nvSpPr>
        <p:spPr>
          <a:xfrm>
            <a:off x="7034078" y="4547672"/>
            <a:ext cx="1673087" cy="984885"/>
          </a:xfrm>
          <a:prstGeom prst="rect">
            <a:avLst/>
          </a:prstGeom>
          <a:noFill/>
        </p:spPr>
        <p:txBody>
          <a:bodyPr wrap="none" rtlCol="0">
            <a:spAutoFit/>
          </a:bodyPr>
          <a:lstStyle/>
          <a:p>
            <a:pPr lvl="0"/>
            <a:endParaRPr lang="en-IN" dirty="0"/>
          </a:p>
          <a:p>
            <a:pPr marL="342900" lvl="0" indent="-342900">
              <a:buFont typeface="Wingdings" panose="05000000000000000000" pitchFamily="2" charset="2"/>
              <a:buChar char="v"/>
            </a:pPr>
            <a:r>
              <a:rPr lang="en-IN" sz="2200" dirty="0">
                <a:latin typeface="Abadi" panose="020B0604020104020204" pitchFamily="34" charset="0"/>
              </a:rPr>
              <a:t>Appendix</a:t>
            </a:r>
          </a:p>
          <a:p>
            <a:endParaRPr lang="en-IN" dirty="0"/>
          </a:p>
        </p:txBody>
      </p:sp>
    </p:spTree>
    <p:extLst>
      <p:ext uri="{BB962C8B-B14F-4D97-AF65-F5344CB8AC3E}">
        <p14:creationId xmlns:p14="http://schemas.microsoft.com/office/powerpoint/2010/main" val="724038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3</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958903" y="2684972"/>
            <a:ext cx="4017889" cy="1039909"/>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endParaRPr lang="en-US" sz="2200" dirty="0">
              <a:solidFill>
                <a:schemeClr val="accent3">
                  <a:lumMod val="25000"/>
                </a:schemeClr>
              </a:solidFill>
              <a:latin typeface="Abadi" panose="020B0604020104020204" pitchFamily="34" charset="0"/>
            </a:endParaRP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Executive Summary</a:t>
            </a:r>
            <a:endParaRPr lang="en-US">
              <a:solidFill>
                <a:srgbClr val="0B49CB"/>
              </a:solidFill>
            </a:endParaRPr>
          </a:p>
        </p:txBody>
      </p:sp>
      <p:sp>
        <p:nvSpPr>
          <p:cNvPr id="2" name="TextBox 1">
            <a:extLst>
              <a:ext uri="{FF2B5EF4-FFF2-40B4-BE49-F238E27FC236}">
                <a16:creationId xmlns:a16="http://schemas.microsoft.com/office/drawing/2014/main" id="{25ACB788-2158-EB9A-1FD0-BBA75D69D694}"/>
              </a:ext>
            </a:extLst>
          </p:cNvPr>
          <p:cNvSpPr txBox="1"/>
          <p:nvPr/>
        </p:nvSpPr>
        <p:spPr>
          <a:xfrm>
            <a:off x="620486" y="1198451"/>
            <a:ext cx="11353800" cy="5386090"/>
          </a:xfrm>
          <a:prstGeom prst="rect">
            <a:avLst/>
          </a:prstGeom>
          <a:noFill/>
        </p:spPr>
        <p:txBody>
          <a:bodyPr wrap="square" rtlCol="0">
            <a:spAutoFit/>
          </a:bodyPr>
          <a:lstStyle/>
          <a:p>
            <a:endParaRPr lang="en-IN" b="1" dirty="0"/>
          </a:p>
          <a:p>
            <a:r>
              <a:rPr lang="en-IN" sz="2200" dirty="0">
                <a:latin typeface="Abadi" panose="020B0604020104020204" pitchFamily="34" charset="0"/>
              </a:rPr>
              <a:t>Objective</a:t>
            </a:r>
          </a:p>
          <a:p>
            <a:pPr marL="285750" lvl="0" indent="-285750">
              <a:buFont typeface="Wingdings" panose="05000000000000000000" pitchFamily="2" charset="2"/>
              <a:buChar char="Ø"/>
            </a:pPr>
            <a:r>
              <a:rPr lang="en-IN" dirty="0">
                <a:latin typeface="Aptos" panose="020B0004020202020204" pitchFamily="34" charset="0"/>
              </a:rPr>
              <a:t>Predict the landing success of SpaceX Falcon 9's first stage to understand rocket reusability and launch costs.</a:t>
            </a:r>
          </a:p>
          <a:p>
            <a:pPr marL="285750" lvl="0" indent="-285750">
              <a:buFont typeface="Wingdings" panose="05000000000000000000" pitchFamily="2" charset="2"/>
              <a:buChar char="q"/>
            </a:pPr>
            <a:endParaRPr lang="en-IN" dirty="0"/>
          </a:p>
          <a:p>
            <a:r>
              <a:rPr lang="en-IN" sz="2200" dirty="0">
                <a:latin typeface="Abadi" panose="020B0604020104020204" pitchFamily="34" charset="0"/>
              </a:rPr>
              <a:t>Methodology</a:t>
            </a:r>
          </a:p>
          <a:p>
            <a:pPr marL="285750" lvl="0" indent="-285750">
              <a:buFont typeface="Wingdings" panose="05000000000000000000" pitchFamily="2" charset="2"/>
              <a:buChar char="Ø"/>
            </a:pPr>
            <a:r>
              <a:rPr lang="en-IN" dirty="0">
                <a:latin typeface="Aptos" panose="020B0004020202020204" pitchFamily="34" charset="0"/>
              </a:rPr>
              <a:t>Collected data using the SpaceX API and web scraping.</a:t>
            </a:r>
          </a:p>
          <a:p>
            <a:pPr marL="285750" lvl="0" indent="-285750">
              <a:buFont typeface="Wingdings" panose="05000000000000000000" pitchFamily="2" charset="2"/>
              <a:buChar char="Ø"/>
            </a:pPr>
            <a:r>
              <a:rPr lang="en-IN" dirty="0">
                <a:latin typeface="Aptos" panose="020B0004020202020204" pitchFamily="34" charset="0"/>
              </a:rPr>
              <a:t>Performed data cleaning, data wrangling, EDA, and SQL analysis.</a:t>
            </a:r>
          </a:p>
          <a:p>
            <a:pPr marL="285750" lvl="0" indent="-285750">
              <a:buFont typeface="Wingdings" panose="05000000000000000000" pitchFamily="2" charset="2"/>
              <a:buChar char="Ø"/>
            </a:pPr>
            <a:r>
              <a:rPr lang="en-IN" dirty="0">
                <a:latin typeface="Aptos" panose="020B0004020202020204" pitchFamily="34" charset="0"/>
              </a:rPr>
              <a:t>Created interactive maps using Folium and dashboards using </a:t>
            </a:r>
            <a:r>
              <a:rPr lang="en-IN" dirty="0" err="1">
                <a:latin typeface="Aptos" panose="020B0004020202020204" pitchFamily="34" charset="0"/>
              </a:rPr>
              <a:t>Plotly</a:t>
            </a:r>
            <a:r>
              <a:rPr lang="en-IN" dirty="0">
                <a:latin typeface="Aptos" panose="020B0004020202020204" pitchFamily="34" charset="0"/>
              </a:rPr>
              <a:t> Dash.</a:t>
            </a:r>
          </a:p>
          <a:p>
            <a:pPr marL="285750" lvl="0" indent="-285750">
              <a:buFont typeface="Wingdings" panose="05000000000000000000" pitchFamily="2" charset="2"/>
              <a:buChar char="Ø"/>
            </a:pPr>
            <a:r>
              <a:rPr lang="en-IN" dirty="0">
                <a:latin typeface="Aptos" panose="020B0004020202020204" pitchFamily="34" charset="0"/>
              </a:rPr>
              <a:t>Built and evaluated Logistic Regression, SVM, Decision Tree, and KNN models.</a:t>
            </a:r>
          </a:p>
          <a:p>
            <a:pPr lvl="0"/>
            <a:endParaRPr lang="en-IN" sz="2200" b="1" dirty="0"/>
          </a:p>
          <a:p>
            <a:r>
              <a:rPr lang="en-IN" sz="2200" dirty="0">
                <a:latin typeface="Abadi" panose="020B0604020104020204" pitchFamily="34" charset="0"/>
              </a:rPr>
              <a:t>Key Results</a:t>
            </a:r>
          </a:p>
          <a:p>
            <a:pPr marL="285750" lvl="0" indent="-285750">
              <a:buFont typeface="Wingdings" panose="05000000000000000000" pitchFamily="2" charset="2"/>
              <a:buChar char="Ø"/>
            </a:pPr>
            <a:r>
              <a:rPr lang="en-IN" dirty="0" err="1"/>
              <a:t>Analyzed</a:t>
            </a:r>
            <a:r>
              <a:rPr lang="en-IN" dirty="0"/>
              <a:t> </a:t>
            </a:r>
            <a:r>
              <a:rPr lang="en-IN" dirty="0">
                <a:latin typeface="Aptos" panose="020B0004020202020204" pitchFamily="34" charset="0"/>
              </a:rPr>
              <a:t>launch success patterns across launch sites, orbit types, payloads, and years.</a:t>
            </a:r>
          </a:p>
          <a:p>
            <a:pPr marL="285750" lvl="0" indent="-285750">
              <a:buFont typeface="Wingdings" panose="05000000000000000000" pitchFamily="2" charset="2"/>
              <a:buChar char="Ø"/>
            </a:pPr>
            <a:r>
              <a:rPr lang="en-IN" dirty="0">
                <a:latin typeface="Aptos" panose="020B0004020202020204" pitchFamily="34" charset="0"/>
              </a:rPr>
              <a:t>Used interactive visualizations to explore launch outcomes.</a:t>
            </a:r>
          </a:p>
          <a:p>
            <a:pPr marL="285750" lvl="0" indent="-285750">
              <a:buFont typeface="Wingdings" panose="05000000000000000000" pitchFamily="2" charset="2"/>
              <a:buChar char="Ø"/>
            </a:pPr>
            <a:r>
              <a:rPr lang="en-IN" dirty="0">
                <a:latin typeface="Aptos" panose="020B0004020202020204" pitchFamily="34" charset="0"/>
              </a:rPr>
              <a:t>Evaluated classification models using accuracy and confusion matrices.</a:t>
            </a:r>
          </a:p>
          <a:p>
            <a:pPr lvl="0"/>
            <a:endParaRPr lang="en-IN" dirty="0"/>
          </a:p>
          <a:p>
            <a:r>
              <a:rPr lang="en-IN" sz="2200" dirty="0">
                <a:latin typeface="Abadi" panose="020B0604020104020204" pitchFamily="34" charset="0"/>
              </a:rPr>
              <a:t>Conclusion</a:t>
            </a:r>
          </a:p>
          <a:p>
            <a:pPr marL="285750" lvl="0" indent="-285750">
              <a:buFont typeface="Wingdings" panose="05000000000000000000" pitchFamily="2" charset="2"/>
              <a:buChar char="Ø"/>
            </a:pPr>
            <a:r>
              <a:rPr lang="en-IN" dirty="0">
                <a:latin typeface="Aptos" panose="020B0004020202020204" pitchFamily="34" charset="0"/>
              </a:rPr>
              <a:t>Data analytics and machine learning can help predict first-stage landing outcomes and support decisions about booster reusability and launch-cost estimation.</a:t>
            </a:r>
          </a:p>
        </p:txBody>
      </p:sp>
    </p:spTree>
    <p:extLst>
      <p:ext uri="{BB962C8B-B14F-4D97-AF65-F5344CB8AC3E}">
        <p14:creationId xmlns:p14="http://schemas.microsoft.com/office/powerpoint/2010/main" val="1980221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4</a:t>
            </a:fld>
            <a:endParaRPr lang="en-US" dirty="0"/>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828068" y="538650"/>
            <a:ext cx="10530114"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Introduction</a:t>
            </a:r>
            <a:endParaRPr lang="en-US">
              <a:solidFill>
                <a:srgbClr val="0B49CB"/>
              </a:solidFill>
            </a:endParaRPr>
          </a:p>
        </p:txBody>
      </p:sp>
      <p:sp>
        <p:nvSpPr>
          <p:cNvPr id="5" name="Content Placeholder 2">
            <a:extLst>
              <a:ext uri="{FF2B5EF4-FFF2-40B4-BE49-F238E27FC236}">
                <a16:creationId xmlns:a16="http://schemas.microsoft.com/office/drawing/2014/main" id="{8E999A1B-8752-489F-A63B-EA2F60186B52}"/>
              </a:ext>
            </a:extLst>
          </p:cNvPr>
          <p:cNvSpPr txBox="1">
            <a:spLocks/>
          </p:cNvSpPr>
          <p:nvPr/>
        </p:nvSpPr>
        <p:spPr>
          <a:xfrm>
            <a:off x="958697" y="2521403"/>
            <a:ext cx="5660840" cy="18984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spcBef>
                <a:spcPts val="1400"/>
              </a:spcBef>
            </a:pPr>
            <a:endParaRPr lang="en-US" sz="2200" dirty="0">
              <a:solidFill>
                <a:schemeClr val="accent3">
                  <a:lumMod val="25000"/>
                </a:schemeClr>
              </a:solidFill>
              <a:latin typeface="Abadi" panose="020B0604020104020204" pitchFamily="34" charset="0"/>
            </a:endParaRPr>
          </a:p>
        </p:txBody>
      </p:sp>
      <p:sp>
        <p:nvSpPr>
          <p:cNvPr id="2" name="TextBox 1">
            <a:extLst>
              <a:ext uri="{FF2B5EF4-FFF2-40B4-BE49-F238E27FC236}">
                <a16:creationId xmlns:a16="http://schemas.microsoft.com/office/drawing/2014/main" id="{7C6A5FF7-59E4-756F-726C-4957CEACD720}"/>
              </a:ext>
            </a:extLst>
          </p:cNvPr>
          <p:cNvSpPr txBox="1"/>
          <p:nvPr/>
        </p:nvSpPr>
        <p:spPr>
          <a:xfrm>
            <a:off x="734028" y="1346956"/>
            <a:ext cx="11190514" cy="5109091"/>
          </a:xfrm>
          <a:prstGeom prst="rect">
            <a:avLst/>
          </a:prstGeom>
          <a:noFill/>
        </p:spPr>
        <p:txBody>
          <a:bodyPr wrap="square" rtlCol="0">
            <a:spAutoFit/>
          </a:bodyPr>
          <a:lstStyle/>
          <a:p>
            <a:endParaRPr lang="en-IN" b="1" dirty="0"/>
          </a:p>
          <a:p>
            <a:r>
              <a:rPr lang="en-IN" sz="2200" dirty="0">
                <a:latin typeface="Abadi" panose="020B0604020104020204" pitchFamily="34" charset="0"/>
              </a:rPr>
              <a:t>Project Background</a:t>
            </a:r>
          </a:p>
          <a:p>
            <a:pPr marL="285750" lvl="0" indent="-285750">
              <a:buFont typeface="Wingdings" panose="05000000000000000000" pitchFamily="2" charset="2"/>
              <a:buChar char="Ø"/>
            </a:pPr>
            <a:r>
              <a:rPr lang="en-IN" dirty="0">
                <a:latin typeface="Aptos" panose="020B0004020202020204" pitchFamily="34" charset="0"/>
              </a:rPr>
              <a:t>SpaceX operates the Falcon 9 rocket, which is designed to recover and reuse its first stage.</a:t>
            </a:r>
          </a:p>
          <a:p>
            <a:pPr marL="285750" lvl="0" indent="-285750">
              <a:buFont typeface="Wingdings" panose="05000000000000000000" pitchFamily="2" charset="2"/>
              <a:buChar char="Ø"/>
            </a:pPr>
            <a:r>
              <a:rPr lang="en-IN" dirty="0">
                <a:latin typeface="Aptos" panose="020B0004020202020204" pitchFamily="34" charset="0"/>
              </a:rPr>
              <a:t>Reusing the first stage can reduce launch costs compared with expendable rockets.</a:t>
            </a:r>
          </a:p>
          <a:p>
            <a:pPr marL="285750" lvl="0" indent="-285750">
              <a:buFont typeface="Wingdings" panose="05000000000000000000" pitchFamily="2" charset="2"/>
              <a:buChar char="Ø"/>
            </a:pPr>
            <a:r>
              <a:rPr lang="en-IN" dirty="0">
                <a:latin typeface="Aptos" panose="020B0004020202020204" pitchFamily="34" charset="0"/>
              </a:rPr>
              <a:t>Space Y aims to compete in the commercial space-launch industry by understanding the factors affecting launch success.</a:t>
            </a:r>
          </a:p>
          <a:p>
            <a:pPr lvl="0"/>
            <a:endParaRPr lang="en-IN" sz="2200" dirty="0">
              <a:latin typeface="Abadi" panose="020B0604020104020204" pitchFamily="34" charset="0"/>
            </a:endParaRPr>
          </a:p>
          <a:p>
            <a:r>
              <a:rPr lang="en-IN" sz="2200" dirty="0">
                <a:latin typeface="Abadi" panose="020B0604020104020204" pitchFamily="34" charset="0"/>
              </a:rPr>
              <a:t>Problem Statement</a:t>
            </a:r>
          </a:p>
          <a:p>
            <a:pPr marL="285750" lvl="0" indent="-285750">
              <a:buFont typeface="Wingdings" panose="05000000000000000000" pitchFamily="2" charset="2"/>
              <a:buChar char="Ø"/>
            </a:pPr>
            <a:r>
              <a:rPr lang="en-IN" dirty="0">
                <a:latin typeface="Aptos" panose="020B0004020202020204" pitchFamily="34" charset="0"/>
              </a:rPr>
              <a:t>Determine whether the Falcon 9 first stage will land successfully.</a:t>
            </a:r>
          </a:p>
          <a:p>
            <a:pPr marL="285750" lvl="0" indent="-285750">
              <a:buFont typeface="Wingdings" panose="05000000000000000000" pitchFamily="2" charset="2"/>
              <a:buChar char="Ø"/>
            </a:pPr>
            <a:r>
              <a:rPr lang="en-IN" dirty="0">
                <a:latin typeface="Aptos" panose="020B0004020202020204" pitchFamily="34" charset="0"/>
              </a:rPr>
              <a:t>Identify relationships between launch sites, payload mass, orbit type, and landing outcomes.</a:t>
            </a:r>
          </a:p>
          <a:p>
            <a:pPr marL="285750" lvl="0" indent="-285750">
              <a:buFont typeface="Wingdings" panose="05000000000000000000" pitchFamily="2" charset="2"/>
              <a:buChar char="Ø"/>
            </a:pPr>
            <a:r>
              <a:rPr lang="en-IN" dirty="0">
                <a:latin typeface="Aptos" panose="020B0004020202020204" pitchFamily="34" charset="0"/>
              </a:rPr>
              <a:t>Use historical launch data and machine learning to predict landing success.</a:t>
            </a:r>
          </a:p>
          <a:p>
            <a:pPr lvl="0"/>
            <a:endParaRPr lang="en-IN" sz="2200" dirty="0">
              <a:latin typeface="Abadi" panose="020B0604020104020204" pitchFamily="34" charset="0"/>
            </a:endParaRPr>
          </a:p>
          <a:p>
            <a:r>
              <a:rPr lang="en-IN" sz="2200" dirty="0">
                <a:latin typeface="Abadi" panose="020B0604020104020204" pitchFamily="34" charset="0"/>
              </a:rPr>
              <a:t>Project Objective</a:t>
            </a:r>
          </a:p>
          <a:p>
            <a:pPr marL="285750" lvl="0" indent="-285750">
              <a:buFont typeface="Wingdings" panose="05000000000000000000" pitchFamily="2" charset="2"/>
              <a:buChar char="Ø"/>
            </a:pPr>
            <a:r>
              <a:rPr lang="en-IN" dirty="0">
                <a:latin typeface="Aptos" panose="020B0004020202020204" pitchFamily="34" charset="0"/>
              </a:rPr>
              <a:t>Collect and </a:t>
            </a:r>
            <a:r>
              <a:rPr lang="en-IN" dirty="0" err="1">
                <a:latin typeface="Aptos" panose="020B0004020202020204" pitchFamily="34" charset="0"/>
              </a:rPr>
              <a:t>Analyze</a:t>
            </a:r>
            <a:r>
              <a:rPr lang="en-IN" dirty="0">
                <a:latin typeface="Aptos" panose="020B0004020202020204" pitchFamily="34" charset="0"/>
              </a:rPr>
              <a:t> SpaceX launch data.</a:t>
            </a:r>
          </a:p>
          <a:p>
            <a:pPr marL="285750" lvl="0" indent="-285750">
              <a:buFont typeface="Wingdings" panose="05000000000000000000" pitchFamily="2" charset="2"/>
              <a:buChar char="Ø"/>
            </a:pPr>
            <a:r>
              <a:rPr lang="en-IN" dirty="0">
                <a:latin typeface="Aptos" panose="020B0004020202020204" pitchFamily="34" charset="0"/>
              </a:rPr>
              <a:t>Build interactive visualizations and dashboards.</a:t>
            </a:r>
          </a:p>
          <a:p>
            <a:pPr marL="285750" lvl="0" indent="-285750">
              <a:buFont typeface="Wingdings" panose="05000000000000000000" pitchFamily="2" charset="2"/>
              <a:buChar char="Ø"/>
            </a:pPr>
            <a:r>
              <a:rPr lang="en-IN" dirty="0">
                <a:latin typeface="Aptos" panose="020B0004020202020204" pitchFamily="34" charset="0"/>
              </a:rPr>
              <a:t>Compare classification models and identify the best-performing model for predicting landing outcomes.</a:t>
            </a:r>
          </a:p>
          <a:p>
            <a:endParaRPr lang="en-IN" dirty="0"/>
          </a:p>
        </p:txBody>
      </p:sp>
    </p:spTree>
    <p:extLst>
      <p:ext uri="{BB962C8B-B14F-4D97-AF65-F5344CB8AC3E}">
        <p14:creationId xmlns:p14="http://schemas.microsoft.com/office/powerpoint/2010/main" val="2560061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A1BF29A-91D2-784B-9589-F5A3883168D5}"/>
              </a:ext>
            </a:extLst>
          </p:cNvPr>
          <p:cNvSpPr>
            <a:spLocks noGrp="1"/>
          </p:cNvSpPr>
          <p:nvPr>
            <p:ph type="sldNum" sz="quarter" idx="12"/>
          </p:nvPr>
        </p:nvSpPr>
        <p:spPr>
          <a:xfrm>
            <a:off x="9448800" y="6356350"/>
            <a:ext cx="2743200" cy="365125"/>
          </a:xfrm>
        </p:spPr>
        <p:txBody>
          <a:bodyPr/>
          <a:lstStyle/>
          <a:p>
            <a:fld id="{5075537C-CA84-1446-933C-8E9D027F9201}" type="slidenum">
              <a:rPr lang="en-US" smtClean="0"/>
              <a:t>5</a:t>
            </a:fld>
            <a:endParaRPr lang="en-US" dirty="0"/>
          </a:p>
        </p:txBody>
      </p:sp>
      <p:sp>
        <p:nvSpPr>
          <p:cNvPr id="2" name="TextBox 1">
            <a:extLst>
              <a:ext uri="{FF2B5EF4-FFF2-40B4-BE49-F238E27FC236}">
                <a16:creationId xmlns:a16="http://schemas.microsoft.com/office/drawing/2014/main" id="{99393D11-6810-B94E-A01A-A2D00E82E738}"/>
              </a:ext>
            </a:extLst>
          </p:cNvPr>
          <p:cNvSpPr txBox="1"/>
          <p:nvPr/>
        </p:nvSpPr>
        <p:spPr>
          <a:xfrm>
            <a:off x="765313" y="2812774"/>
            <a:ext cx="1058303" cy="369332"/>
          </a:xfrm>
          <a:prstGeom prst="rect">
            <a:avLst/>
          </a:prstGeom>
          <a:solidFill>
            <a:srgbClr val="0948CB"/>
          </a:solidFill>
        </p:spPr>
        <p:txBody>
          <a:bodyPr wrap="none" rtlCol="0">
            <a:spAutoFit/>
          </a:bodyPr>
          <a:lstStyle/>
          <a:p>
            <a:r>
              <a:rPr lang="en-US" dirty="0">
                <a:solidFill>
                  <a:schemeClr val="bg1"/>
                </a:solidFill>
              </a:rPr>
              <a:t>Section 1</a:t>
            </a:r>
          </a:p>
        </p:txBody>
      </p:sp>
    </p:spTree>
    <p:extLst>
      <p:ext uri="{BB962C8B-B14F-4D97-AF65-F5344CB8AC3E}">
        <p14:creationId xmlns:p14="http://schemas.microsoft.com/office/powerpoint/2010/main" val="3093198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92CF01-5F8F-9D43-96B9-A581954BA94A}"/>
              </a:ext>
            </a:extLst>
          </p:cNvPr>
          <p:cNvSpPr>
            <a:spLocks noGrp="1"/>
          </p:cNvSpPr>
          <p:nvPr>
            <p:ph type="sldNum" sz="quarter" idx="12"/>
          </p:nvPr>
        </p:nvSpPr>
        <p:spPr>
          <a:xfrm>
            <a:off x="8714772" y="6025573"/>
            <a:ext cx="2743200" cy="401638"/>
          </a:xfrm>
        </p:spPr>
        <p:txBody>
          <a:bodyPr/>
          <a:lstStyle/>
          <a:p>
            <a:fld id="{5075537C-CA84-1446-933C-8E9D027F9201}" type="slidenum">
              <a:rPr lang="en-US" smtClean="0"/>
              <a:pPr/>
              <a:t>6</a:t>
            </a:fld>
            <a:endParaRPr lang="en-US" dirty="0"/>
          </a:p>
        </p:txBody>
      </p:sp>
      <p:sp>
        <p:nvSpPr>
          <p:cNvPr id="7" name="Content Placeholder 2">
            <a:extLst>
              <a:ext uri="{FF2B5EF4-FFF2-40B4-BE49-F238E27FC236}">
                <a16:creationId xmlns:a16="http://schemas.microsoft.com/office/drawing/2014/main" id="{0BFEC426-B615-E549-83E5-140FD588BC64}"/>
              </a:ext>
            </a:extLst>
          </p:cNvPr>
          <p:cNvSpPr txBox="1">
            <a:spLocks/>
          </p:cNvSpPr>
          <p:nvPr/>
        </p:nvSpPr>
        <p:spPr>
          <a:xfrm>
            <a:off x="770011" y="1580808"/>
            <a:ext cx="10104817" cy="5211877"/>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endParaRPr lang="en-US" sz="2200" dirty="0">
              <a:solidFill>
                <a:schemeClr val="accent3">
                  <a:lumMod val="25000"/>
                </a:schemeClr>
              </a:solidFill>
              <a:latin typeface="Abadi"/>
            </a:endParaRPr>
          </a:p>
        </p:txBody>
      </p:sp>
      <p:sp>
        <p:nvSpPr>
          <p:cNvPr id="13" name="Title 1">
            <a:extLst>
              <a:ext uri="{FF2B5EF4-FFF2-40B4-BE49-F238E27FC236}">
                <a16:creationId xmlns:a16="http://schemas.microsoft.com/office/drawing/2014/main" id="{13C62649-0825-4926-8E2A-2EBCCFE00EC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a:solidFill>
                  <a:srgbClr val="0B49CB"/>
                </a:solidFill>
                <a:latin typeface="Abadi"/>
              </a:rPr>
              <a:t>Methodology</a:t>
            </a:r>
            <a:endParaRPr lang="en-US" dirty="0">
              <a:solidFill>
                <a:srgbClr val="0B49CB"/>
              </a:solidFill>
            </a:endParaRPr>
          </a:p>
        </p:txBody>
      </p:sp>
      <p:sp>
        <p:nvSpPr>
          <p:cNvPr id="2" name="TextBox 1">
            <a:extLst>
              <a:ext uri="{FF2B5EF4-FFF2-40B4-BE49-F238E27FC236}">
                <a16:creationId xmlns:a16="http://schemas.microsoft.com/office/drawing/2014/main" id="{66F1C738-6E3F-8158-8C58-D140B787D7A4}"/>
              </a:ext>
            </a:extLst>
          </p:cNvPr>
          <p:cNvSpPr txBox="1"/>
          <p:nvPr/>
        </p:nvSpPr>
        <p:spPr>
          <a:xfrm>
            <a:off x="701371" y="1032190"/>
            <a:ext cx="11457972" cy="6186309"/>
          </a:xfrm>
          <a:prstGeom prst="rect">
            <a:avLst/>
          </a:prstGeom>
          <a:noFill/>
        </p:spPr>
        <p:txBody>
          <a:bodyPr wrap="square" rtlCol="0">
            <a:spAutoFit/>
          </a:bodyPr>
          <a:lstStyle/>
          <a:p>
            <a:endParaRPr lang="en-IN" b="1" dirty="0"/>
          </a:p>
          <a:p>
            <a:r>
              <a:rPr lang="en-IN" b="1" dirty="0"/>
              <a:t>1. Data Collection</a:t>
            </a:r>
          </a:p>
          <a:p>
            <a:pPr marL="285750" lvl="0" indent="-285750">
              <a:buFont typeface="Wingdings" panose="05000000000000000000" pitchFamily="2" charset="2"/>
              <a:buChar char="q"/>
            </a:pPr>
            <a:r>
              <a:rPr lang="en-IN" b="1" dirty="0"/>
              <a:t>SpaceX API:</a:t>
            </a:r>
            <a:r>
              <a:rPr lang="en-IN" dirty="0"/>
              <a:t> Retrieved launch records and mission details in JSON format.</a:t>
            </a:r>
          </a:p>
          <a:p>
            <a:pPr marL="285750" lvl="0" indent="-285750">
              <a:buFont typeface="Wingdings" panose="05000000000000000000" pitchFamily="2" charset="2"/>
              <a:buChar char="q"/>
            </a:pPr>
            <a:r>
              <a:rPr lang="en-IN" b="1" dirty="0"/>
              <a:t>Web Scraping:</a:t>
            </a:r>
            <a:r>
              <a:rPr lang="en-IN" dirty="0"/>
              <a:t> Extracted supplementary launch information from web pages using Python libraries such as Pandas and </a:t>
            </a:r>
            <a:r>
              <a:rPr lang="en-IN" dirty="0" err="1"/>
              <a:t>BeautifulSoup</a:t>
            </a:r>
            <a:r>
              <a:rPr lang="en-IN" dirty="0"/>
              <a:t>.</a:t>
            </a:r>
          </a:p>
          <a:p>
            <a:r>
              <a:rPr lang="en-IN" b="1" dirty="0"/>
              <a:t>2. Data Wrangling</a:t>
            </a:r>
          </a:p>
          <a:p>
            <a:pPr marL="285750" lvl="0" indent="-285750">
              <a:buFont typeface="Wingdings" panose="05000000000000000000" pitchFamily="2" charset="2"/>
              <a:buChar char="Ø"/>
            </a:pPr>
            <a:r>
              <a:rPr lang="en-IN" dirty="0"/>
              <a:t>Cleaned the collected data and handled missing values.</a:t>
            </a:r>
          </a:p>
          <a:p>
            <a:pPr marL="285750" lvl="0" indent="-285750">
              <a:buFont typeface="Wingdings" panose="05000000000000000000" pitchFamily="2" charset="2"/>
              <a:buChar char="Ø"/>
            </a:pPr>
            <a:r>
              <a:rPr lang="en-IN" dirty="0"/>
              <a:t>Selected relevant features for analysis.</a:t>
            </a:r>
          </a:p>
          <a:p>
            <a:pPr marL="285750" lvl="0" indent="-285750">
              <a:buFont typeface="Wingdings" panose="05000000000000000000" pitchFamily="2" charset="2"/>
              <a:buChar char="Ø"/>
            </a:pPr>
            <a:r>
              <a:rPr lang="en-IN" dirty="0"/>
              <a:t>Applied one-hot encoding to categorical variables to prepare data for machine learning.</a:t>
            </a:r>
          </a:p>
          <a:p>
            <a:r>
              <a:rPr lang="en-IN" b="1" dirty="0"/>
              <a:t>3. Exploratory Data Analysis (EDA)</a:t>
            </a:r>
          </a:p>
          <a:p>
            <a:pPr marL="285750" lvl="0" indent="-285750">
              <a:buFont typeface="Wingdings" panose="05000000000000000000" pitchFamily="2" charset="2"/>
              <a:buChar char="Ø"/>
            </a:pPr>
            <a:r>
              <a:rPr lang="en-IN" dirty="0"/>
              <a:t>Used Python, Pandas, Matplotlib, and Seaborn to visualize launch outcomes and identify patterns.</a:t>
            </a:r>
          </a:p>
          <a:p>
            <a:pPr marL="285750" lvl="0" indent="-285750">
              <a:buFont typeface="Wingdings" panose="05000000000000000000" pitchFamily="2" charset="2"/>
              <a:buChar char="Ø"/>
            </a:pPr>
            <a:r>
              <a:rPr lang="en-IN" dirty="0"/>
              <a:t>Used SQL queries to </a:t>
            </a:r>
            <a:r>
              <a:rPr lang="en-IN" dirty="0" err="1"/>
              <a:t>analyze</a:t>
            </a:r>
            <a:r>
              <a:rPr lang="en-IN" dirty="0"/>
              <a:t> launch sites, payloads, success rates, rankings, and launch trends over time.</a:t>
            </a:r>
          </a:p>
          <a:p>
            <a:r>
              <a:rPr lang="en-IN" b="1" dirty="0"/>
              <a:t>4. Interactive Visual Analytics</a:t>
            </a:r>
          </a:p>
          <a:p>
            <a:pPr marL="285750" lvl="0" indent="-285750">
              <a:buFont typeface="Wingdings" panose="05000000000000000000" pitchFamily="2" charset="2"/>
              <a:buChar char="q"/>
            </a:pPr>
            <a:r>
              <a:rPr lang="en-IN" b="1" dirty="0"/>
              <a:t>Folium:</a:t>
            </a:r>
            <a:r>
              <a:rPr lang="en-IN" dirty="0"/>
              <a:t> Created an interactive map showing launch sites and launch outcomes, with markers and proximity analysis.</a:t>
            </a:r>
          </a:p>
          <a:p>
            <a:pPr marL="285750" lvl="0" indent="-285750">
              <a:buFont typeface="Wingdings" panose="05000000000000000000" pitchFamily="2" charset="2"/>
              <a:buChar char="q"/>
            </a:pPr>
            <a:r>
              <a:rPr lang="en-IN" b="1" dirty="0" err="1"/>
              <a:t>Plotly</a:t>
            </a:r>
            <a:r>
              <a:rPr lang="en-IN" b="1" dirty="0"/>
              <a:t> Dash:</a:t>
            </a:r>
            <a:r>
              <a:rPr lang="en-IN" dirty="0"/>
              <a:t> Developed an interactive dashboard with dropdown filters, a payload range slider, a success pie chart, and a scatter plot.</a:t>
            </a:r>
          </a:p>
          <a:p>
            <a:r>
              <a:rPr lang="en-IN" b="1" dirty="0"/>
              <a:t>5. Predictive Analysis</a:t>
            </a:r>
          </a:p>
          <a:p>
            <a:pPr marL="285750" indent="-285750">
              <a:buFont typeface="Wingdings" panose="05000000000000000000" pitchFamily="2" charset="2"/>
              <a:buChar char="Ø"/>
            </a:pPr>
            <a:r>
              <a:rPr lang="en-IN" dirty="0"/>
              <a:t>Defined landing outcome (Class) as the target variable. Split the dataset into training and testing sets.</a:t>
            </a:r>
          </a:p>
          <a:p>
            <a:pPr marL="285750" lvl="0" indent="-285750">
              <a:buFont typeface="Wingdings" panose="05000000000000000000" pitchFamily="2" charset="2"/>
              <a:buChar char="Ø"/>
            </a:pPr>
            <a:r>
              <a:rPr lang="en-IN" dirty="0"/>
              <a:t>Trained and tuned Logistic Regression, Support Vector Machine (SVM), Decision Tree, and K-Nearest </a:t>
            </a:r>
            <a:r>
              <a:rPr lang="en-IN" dirty="0" err="1"/>
              <a:t>Neighbors</a:t>
            </a:r>
            <a:r>
              <a:rPr lang="en-IN" dirty="0"/>
              <a:t> (KNN) models.</a:t>
            </a:r>
          </a:p>
          <a:p>
            <a:pPr marL="285750" lvl="0" indent="-285750">
              <a:buFont typeface="Wingdings" panose="05000000000000000000" pitchFamily="2" charset="2"/>
              <a:buChar char="Ø"/>
            </a:pPr>
            <a:r>
              <a:rPr lang="en-IN" dirty="0"/>
              <a:t>Evaluated model performance using accuracy scores and confusion matrices to identify the best-performing model.</a:t>
            </a:r>
          </a:p>
          <a:p>
            <a:endParaRPr lang="en-IN" dirty="0"/>
          </a:p>
        </p:txBody>
      </p:sp>
    </p:spTree>
    <p:extLst>
      <p:ext uri="{BB962C8B-B14F-4D97-AF65-F5344CB8AC3E}">
        <p14:creationId xmlns:p14="http://schemas.microsoft.com/office/powerpoint/2010/main" val="1553432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7</a:t>
            </a:fld>
            <a:endParaRPr lang="en-US"/>
          </a:p>
        </p:txBody>
      </p:sp>
      <p:sp>
        <p:nvSpPr>
          <p:cNvPr id="12" name="Title 1">
            <a:extLst>
              <a:ext uri="{FF2B5EF4-FFF2-40B4-BE49-F238E27FC236}">
                <a16:creationId xmlns:a16="http://schemas.microsoft.com/office/drawing/2014/main" id="{D77AC1D2-8B41-4A7A-88CF-41E6B7D8C98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a:t>
            </a:r>
            <a:endParaRPr lang="en-US" dirty="0">
              <a:solidFill>
                <a:srgbClr val="0B49CB"/>
              </a:solidFill>
            </a:endParaRPr>
          </a:p>
        </p:txBody>
      </p:sp>
      <p:sp>
        <p:nvSpPr>
          <p:cNvPr id="8" name="TextBox 7">
            <a:extLst>
              <a:ext uri="{FF2B5EF4-FFF2-40B4-BE49-F238E27FC236}">
                <a16:creationId xmlns:a16="http://schemas.microsoft.com/office/drawing/2014/main" id="{2628EA21-97E6-B748-B2F0-A0F6DF697A0A}"/>
              </a:ext>
            </a:extLst>
          </p:cNvPr>
          <p:cNvSpPr txBox="1"/>
          <p:nvPr/>
        </p:nvSpPr>
        <p:spPr>
          <a:xfrm>
            <a:off x="756025" y="1303912"/>
            <a:ext cx="10543572" cy="1354217"/>
          </a:xfrm>
          <a:prstGeom prst="rect">
            <a:avLst/>
          </a:prstGeom>
          <a:noFill/>
        </p:spPr>
        <p:txBody>
          <a:bodyPr wrap="square" rtlCol="0">
            <a:spAutoFit/>
          </a:bodyPr>
          <a:lstStyle/>
          <a:p>
            <a:r>
              <a:rPr lang="en-IN" sz="2200" dirty="0">
                <a:latin typeface="Abadi" panose="020B0604020104020204" pitchFamily="34" charset="0"/>
              </a:rPr>
              <a:t>Data Sources</a:t>
            </a:r>
          </a:p>
          <a:p>
            <a:pPr marL="285750" lvl="0" indent="-285750">
              <a:buFont typeface="Wingdings" panose="05000000000000000000" pitchFamily="2" charset="2"/>
              <a:buChar char="q"/>
            </a:pPr>
            <a:r>
              <a:rPr lang="en-IN" sz="2000" b="1" dirty="0"/>
              <a:t>SpaceX REST API:</a:t>
            </a:r>
            <a:r>
              <a:rPr lang="en-IN" sz="2000" dirty="0"/>
              <a:t> Collected historical Falcon 9 launch records and mission details in JSON format.</a:t>
            </a:r>
          </a:p>
          <a:p>
            <a:pPr marL="285750" lvl="0" indent="-285750">
              <a:buFont typeface="Wingdings" panose="05000000000000000000" pitchFamily="2" charset="2"/>
              <a:buChar char="q"/>
            </a:pPr>
            <a:r>
              <a:rPr lang="en-IN" sz="2000" b="1" dirty="0"/>
              <a:t>Web Scraping:</a:t>
            </a:r>
            <a:r>
              <a:rPr lang="en-IN" sz="2000" dirty="0"/>
              <a:t> Extracted supplementary launch information from web pages using Python.</a:t>
            </a:r>
          </a:p>
          <a:p>
            <a:pPr marL="285750" lvl="0" indent="-285750">
              <a:buFont typeface="Wingdings" panose="05000000000000000000" pitchFamily="2" charset="2"/>
              <a:buChar char="q"/>
            </a:pPr>
            <a:r>
              <a:rPr lang="en-IN" sz="2000" b="1" dirty="0"/>
              <a:t>Data Storage:</a:t>
            </a:r>
            <a:r>
              <a:rPr lang="en-IN" sz="2000" dirty="0"/>
              <a:t> Converted the collected information into Pandas </a:t>
            </a:r>
            <a:r>
              <a:rPr lang="en-IN" sz="2000" dirty="0" err="1"/>
              <a:t>DataFrames</a:t>
            </a:r>
            <a:r>
              <a:rPr lang="en-IN" sz="2000" dirty="0"/>
              <a:t> for analysis.</a:t>
            </a:r>
          </a:p>
        </p:txBody>
      </p:sp>
      <p:sp>
        <p:nvSpPr>
          <p:cNvPr id="9" name="TextBox 8">
            <a:extLst>
              <a:ext uri="{FF2B5EF4-FFF2-40B4-BE49-F238E27FC236}">
                <a16:creationId xmlns:a16="http://schemas.microsoft.com/office/drawing/2014/main" id="{C479192D-5BD5-DF81-2DC4-3CFB2B5D7A95}"/>
              </a:ext>
            </a:extLst>
          </p:cNvPr>
          <p:cNvSpPr txBox="1"/>
          <p:nvPr/>
        </p:nvSpPr>
        <p:spPr>
          <a:xfrm>
            <a:off x="770011" y="3214987"/>
            <a:ext cx="4944989" cy="1969770"/>
          </a:xfrm>
          <a:prstGeom prst="rect">
            <a:avLst/>
          </a:prstGeom>
          <a:noFill/>
        </p:spPr>
        <p:txBody>
          <a:bodyPr wrap="square" rtlCol="0">
            <a:spAutoFit/>
          </a:bodyPr>
          <a:lstStyle/>
          <a:p>
            <a:r>
              <a:rPr lang="en-IN" sz="2200" dirty="0">
                <a:latin typeface="Abadi" panose="020B0604020104020204" pitchFamily="34" charset="0"/>
              </a:rPr>
              <a:t>Information Collected</a:t>
            </a:r>
          </a:p>
          <a:p>
            <a:pPr marL="285750" lvl="0" indent="-285750">
              <a:buFont typeface="Wingdings" panose="05000000000000000000" pitchFamily="2" charset="2"/>
              <a:buChar char="Ø"/>
            </a:pPr>
            <a:r>
              <a:rPr lang="en-IN" sz="2000" dirty="0"/>
              <a:t>Flight number and launch date</a:t>
            </a:r>
          </a:p>
          <a:p>
            <a:pPr marL="285750" lvl="0" indent="-285750">
              <a:buFont typeface="Wingdings" panose="05000000000000000000" pitchFamily="2" charset="2"/>
              <a:buChar char="Ø"/>
            </a:pPr>
            <a:r>
              <a:rPr lang="en-IN" sz="2000" dirty="0"/>
              <a:t>Booster version and launch site</a:t>
            </a:r>
          </a:p>
          <a:p>
            <a:pPr marL="285750" lvl="0" indent="-285750">
              <a:buFont typeface="Wingdings" panose="05000000000000000000" pitchFamily="2" charset="2"/>
              <a:buChar char="Ø"/>
            </a:pPr>
            <a:r>
              <a:rPr lang="en-IN" sz="2000" dirty="0"/>
              <a:t>Payload mass and orbit type</a:t>
            </a:r>
          </a:p>
          <a:p>
            <a:pPr marL="285750" lvl="0" indent="-285750">
              <a:buFont typeface="Wingdings" panose="05000000000000000000" pitchFamily="2" charset="2"/>
              <a:buChar char="Ø"/>
            </a:pPr>
            <a:r>
              <a:rPr lang="en-IN" sz="2000" dirty="0"/>
              <a:t>Landing outcome and booster reuse information</a:t>
            </a:r>
          </a:p>
        </p:txBody>
      </p:sp>
      <p:graphicFrame>
        <p:nvGraphicFramePr>
          <p:cNvPr id="10" name="Diagram 9">
            <a:extLst>
              <a:ext uri="{FF2B5EF4-FFF2-40B4-BE49-F238E27FC236}">
                <a16:creationId xmlns:a16="http://schemas.microsoft.com/office/drawing/2014/main" id="{2075FF50-0027-C529-CE22-DC50F26EAEBC}"/>
              </a:ext>
            </a:extLst>
          </p:cNvPr>
          <p:cNvGraphicFramePr/>
          <p:nvPr>
            <p:extLst>
              <p:ext uri="{D42A27DB-BD31-4B8C-83A1-F6EECF244321}">
                <p14:modId xmlns:p14="http://schemas.microsoft.com/office/powerpoint/2010/main" val="3048515380"/>
              </p:ext>
            </p:extLst>
          </p:nvPr>
        </p:nvGraphicFramePr>
        <p:xfrm>
          <a:off x="5461000" y="2695144"/>
          <a:ext cx="5566229" cy="34404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88665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8</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6731000" y="1792288"/>
            <a:ext cx="5461000" cy="4206875"/>
          </a:xfrm>
          <a:prstGeom prst="rect">
            <a:avLst/>
          </a:prstGeom>
          <a:ln>
            <a:solidFill>
              <a:srgbClr val="0B49CB"/>
            </a:solidFill>
            <a:prstDash val="dash"/>
          </a:ln>
        </p:spPr>
        <p:txBody>
          <a:bodyPr vert="horz" lIns="91440" tIns="45720" rIns="91440" bIns="45720" rtlCol="0" anchor="t">
            <a:normAutofit/>
          </a:bodyPr>
          <a:lstStyle/>
          <a:p>
            <a:pPr marL="0" indent="0">
              <a:buNone/>
            </a:pPr>
            <a:endParaRPr lang="en-US" sz="2200" dirty="0">
              <a:solidFill>
                <a:srgbClr val="1C7DDB"/>
              </a:solidFill>
              <a:latin typeface="Abadi"/>
            </a:endParaRPr>
          </a:p>
          <a:p>
            <a:pPr marL="0" indent="0">
              <a:buNone/>
            </a:pPr>
            <a:endParaRPr lang="en-US" sz="2200" dirty="0">
              <a:solidFill>
                <a:srgbClr val="1C7DDB"/>
              </a:solidFill>
              <a:latin typeface="Abadi"/>
            </a:endParaRPr>
          </a:p>
          <a:p>
            <a:pPr marL="0" indent="0">
              <a:buNone/>
            </a:pPr>
            <a:endParaRPr lang="en-US" sz="2200" dirty="0">
              <a:solidFill>
                <a:srgbClr val="1C7DDB"/>
              </a:solidFill>
              <a:latin typeface="Abadi"/>
            </a:endParaRPr>
          </a:p>
          <a:p>
            <a:pPr marL="0" indent="0">
              <a:buNone/>
            </a:pPr>
            <a:endParaRPr lang="en-US" sz="2200" dirty="0">
              <a:solidFill>
                <a:srgbClr val="1C7DDB"/>
              </a:solidFill>
              <a:latin typeface="Abadi"/>
            </a:endParaRPr>
          </a:p>
          <a:p>
            <a:pPr marL="0" indent="0">
              <a:buNone/>
            </a:pPr>
            <a:r>
              <a:rPr lang="en-US" sz="2200">
                <a:solidFill>
                  <a:srgbClr val="1C7DDB"/>
                </a:solidFill>
                <a:latin typeface="Abadi"/>
              </a:rPr>
              <a:t>Place your flowchart of SpaceX API calls </a:t>
            </a:r>
            <a:r>
              <a:rPr lang="en-US" sz="2200" dirty="0">
                <a:solidFill>
                  <a:srgbClr val="1C7DDB"/>
                </a:solidFill>
                <a:latin typeface="Abadi"/>
              </a:rPr>
              <a:t>here</a:t>
            </a:r>
            <a:endParaRPr lang="en-US">
              <a:cs typeface="Calibri"/>
            </a:endParaRPr>
          </a:p>
        </p:txBody>
      </p:sp>
      <p:sp>
        <p:nvSpPr>
          <p:cNvPr id="3" name="Text Placeholder 2">
            <a:extLst>
              <a:ext uri="{FF2B5EF4-FFF2-40B4-BE49-F238E27FC236}">
                <a16:creationId xmlns:a16="http://schemas.microsoft.com/office/drawing/2014/main" id="{AB0AB2AC-B7E6-6849-9AE9-697369407F8F}"/>
              </a:ext>
            </a:extLst>
          </p:cNvPr>
          <p:cNvSpPr>
            <a:spLocks noGrp="1"/>
          </p:cNvSpPr>
          <p:nvPr>
            <p:ph type="body" sz="half" idx="4294967295"/>
          </p:nvPr>
        </p:nvSpPr>
        <p:spPr>
          <a:xfrm>
            <a:off x="0" y="1800225"/>
            <a:ext cx="4640263" cy="4225925"/>
          </a:xfrm>
          <a:prstGeom prst="rect">
            <a:avLst/>
          </a:prstGeom>
        </p:spPr>
        <p:txBody>
          <a:bodyPr vert="horz" lIns="91440" tIns="45720" rIns="91440" bIns="45720" rtlCol="0" anchor="t">
            <a:normAutofit/>
          </a:bodyPr>
          <a:lstStyle/>
          <a:p>
            <a:endParaRPr lang="en-US" dirty="0"/>
          </a:p>
          <a:p>
            <a:endParaRPr lang="en-US" dirty="0"/>
          </a:p>
        </p:txBody>
      </p:sp>
      <p:sp>
        <p:nvSpPr>
          <p:cNvPr id="4" name="Title 1">
            <a:extLst>
              <a:ext uri="{FF2B5EF4-FFF2-40B4-BE49-F238E27FC236}">
                <a16:creationId xmlns:a16="http://schemas.microsoft.com/office/drawing/2014/main" id="{5066AA34-20EE-4A59-B343-346A8DB5667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 – SpaceX API</a:t>
            </a:r>
          </a:p>
        </p:txBody>
      </p:sp>
      <p:sp>
        <p:nvSpPr>
          <p:cNvPr id="2" name="TextBox 1">
            <a:extLst>
              <a:ext uri="{FF2B5EF4-FFF2-40B4-BE49-F238E27FC236}">
                <a16:creationId xmlns:a16="http://schemas.microsoft.com/office/drawing/2014/main" id="{20BA7D17-3225-B211-95A9-FE36D6FED806}"/>
              </a:ext>
            </a:extLst>
          </p:cNvPr>
          <p:cNvSpPr txBox="1"/>
          <p:nvPr/>
        </p:nvSpPr>
        <p:spPr>
          <a:xfrm>
            <a:off x="650268" y="1440731"/>
            <a:ext cx="5170714" cy="5262979"/>
          </a:xfrm>
          <a:prstGeom prst="rect">
            <a:avLst/>
          </a:prstGeom>
          <a:noFill/>
        </p:spPr>
        <p:txBody>
          <a:bodyPr wrap="square" rtlCol="0">
            <a:spAutoFit/>
          </a:bodyPr>
          <a:lstStyle/>
          <a:p>
            <a:pPr marL="285750" lvl="0" indent="-285750">
              <a:buFont typeface="Wingdings" panose="05000000000000000000" pitchFamily="2" charset="2"/>
              <a:buChar char="Ø"/>
            </a:pPr>
            <a:r>
              <a:rPr lang="en-IN" sz="2200" dirty="0"/>
              <a:t>Used the public SpaceX API to retrieve Falcon 9 launch data.</a:t>
            </a:r>
          </a:p>
          <a:p>
            <a:pPr marL="285750" lvl="0" indent="-285750">
              <a:buFont typeface="Wingdings" panose="05000000000000000000" pitchFamily="2" charset="2"/>
              <a:buChar char="Ø"/>
            </a:pPr>
            <a:r>
              <a:rPr lang="en-IN" sz="2200" dirty="0"/>
              <a:t>Sent HTTP GET requests to API endpoints using Python's requests library.</a:t>
            </a:r>
          </a:p>
          <a:p>
            <a:pPr marL="285750" lvl="0" indent="-285750">
              <a:buFont typeface="Wingdings" panose="05000000000000000000" pitchFamily="2" charset="2"/>
              <a:buChar char="Ø"/>
            </a:pPr>
            <a:r>
              <a:rPr lang="en-IN" sz="2200" dirty="0"/>
              <a:t>Received launch information in JSON format.</a:t>
            </a:r>
          </a:p>
          <a:p>
            <a:pPr marL="285750" lvl="0" indent="-285750">
              <a:buFont typeface="Wingdings" panose="05000000000000000000" pitchFamily="2" charset="2"/>
              <a:buChar char="Ø"/>
            </a:pPr>
            <a:r>
              <a:rPr lang="en-IN" sz="2200" dirty="0"/>
              <a:t>Extracted relevant details such as flight number, launch date, launch site, payload, orbit, and landing outcome.</a:t>
            </a:r>
          </a:p>
          <a:p>
            <a:pPr marL="285750" lvl="0" indent="-285750">
              <a:buFont typeface="Wingdings" panose="05000000000000000000" pitchFamily="2" charset="2"/>
              <a:buChar char="Ø"/>
            </a:pPr>
            <a:r>
              <a:rPr lang="en-IN" sz="2200" dirty="0"/>
              <a:t>Converted the collected data into a Pandas </a:t>
            </a:r>
            <a:r>
              <a:rPr lang="en-IN" sz="2200" dirty="0" err="1"/>
              <a:t>DataFrame</a:t>
            </a:r>
            <a:r>
              <a:rPr lang="en-IN" sz="2200" dirty="0"/>
              <a:t> for further analysis.</a:t>
            </a:r>
          </a:p>
          <a:p>
            <a:pPr marL="285750" lvl="0" indent="-285750">
              <a:buFont typeface="Wingdings" panose="05000000000000000000" pitchFamily="2" charset="2"/>
              <a:buChar char="Ø"/>
            </a:pPr>
            <a:endParaRPr lang="en-IN" sz="2200" dirty="0"/>
          </a:p>
          <a:p>
            <a:r>
              <a:rPr lang="en-IN" b="1" dirty="0"/>
              <a:t>Tools:</a:t>
            </a:r>
            <a:r>
              <a:rPr lang="en-IN" dirty="0"/>
              <a:t> Python, Requests, JSON, Pandas</a:t>
            </a:r>
          </a:p>
          <a:p>
            <a:endParaRPr lang="en-IN" dirty="0"/>
          </a:p>
          <a:p>
            <a:r>
              <a:rPr lang="en-IN" b="1" dirty="0"/>
              <a:t>GitHub Repository:</a:t>
            </a:r>
            <a:br>
              <a:rPr lang="en-IN" dirty="0"/>
            </a:br>
            <a:r>
              <a:rPr lang="en-IN" dirty="0"/>
              <a:t>[Insert your GitHub repository URL here]</a:t>
            </a:r>
          </a:p>
        </p:txBody>
      </p:sp>
      <p:pic>
        <p:nvPicPr>
          <p:cNvPr id="14" name="Picture 13">
            <a:extLst>
              <a:ext uri="{FF2B5EF4-FFF2-40B4-BE49-F238E27FC236}">
                <a16:creationId xmlns:a16="http://schemas.microsoft.com/office/drawing/2014/main" id="{D4F399B3-B041-D347-D424-C9A5F5BD0230}"/>
              </a:ext>
            </a:extLst>
          </p:cNvPr>
          <p:cNvPicPr>
            <a:picLocks noChangeAspect="1"/>
          </p:cNvPicPr>
          <p:nvPr/>
        </p:nvPicPr>
        <p:blipFill>
          <a:blip r:embed="rId3"/>
          <a:stretch>
            <a:fillRect/>
          </a:stretch>
        </p:blipFill>
        <p:spPr>
          <a:xfrm>
            <a:off x="6318476" y="1636991"/>
            <a:ext cx="5873524" cy="4517467"/>
          </a:xfrm>
          <a:prstGeom prst="rect">
            <a:avLst/>
          </a:prstGeom>
        </p:spPr>
      </p:pic>
    </p:spTree>
    <p:extLst>
      <p:ext uri="{BB962C8B-B14F-4D97-AF65-F5344CB8AC3E}">
        <p14:creationId xmlns:p14="http://schemas.microsoft.com/office/powerpoint/2010/main" val="280316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9</a:t>
            </a:fld>
            <a:endParaRPr lang="en-US"/>
          </a:p>
        </p:txBody>
      </p:sp>
      <p:sp>
        <p:nvSpPr>
          <p:cNvPr id="4" name="Title 1">
            <a:extLst>
              <a:ext uri="{FF2B5EF4-FFF2-40B4-BE49-F238E27FC236}">
                <a16:creationId xmlns:a16="http://schemas.microsoft.com/office/drawing/2014/main" id="{6B84506E-0B2F-4BA8-892E-8CE3753AF954}"/>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endParaRPr lang="en-US">
              <a:solidFill>
                <a:srgbClr val="1C7DDB"/>
              </a:solidFill>
              <a:latin typeface="Abadi"/>
            </a:endParaRPr>
          </a:p>
        </p:txBody>
      </p:sp>
      <p:sp>
        <p:nvSpPr>
          <p:cNvPr id="11" name="Title 1">
            <a:extLst>
              <a:ext uri="{FF2B5EF4-FFF2-40B4-BE49-F238E27FC236}">
                <a16:creationId xmlns:a16="http://schemas.microsoft.com/office/drawing/2014/main" id="{84F5ABFD-B4D4-43FF-959F-AFAF45B45269}"/>
              </a:ext>
            </a:extLst>
          </p:cNvPr>
          <p:cNvSpPr txBox="1">
            <a:spLocks/>
          </p:cNvSpPr>
          <p:nvPr/>
        </p:nvSpPr>
        <p:spPr>
          <a:xfrm>
            <a:off x="922411" y="6910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 - Scraping</a:t>
            </a:r>
            <a:endParaRPr lang="en-US" dirty="0">
              <a:solidFill>
                <a:srgbClr val="0B49CB"/>
              </a:solidFill>
            </a:endParaRPr>
          </a:p>
        </p:txBody>
      </p:sp>
      <p:sp>
        <p:nvSpPr>
          <p:cNvPr id="5" name="TextBox 4">
            <a:extLst>
              <a:ext uri="{FF2B5EF4-FFF2-40B4-BE49-F238E27FC236}">
                <a16:creationId xmlns:a16="http://schemas.microsoft.com/office/drawing/2014/main" id="{A626A146-D631-33F2-9428-2F95862DAE76}"/>
              </a:ext>
            </a:extLst>
          </p:cNvPr>
          <p:cNvSpPr txBox="1"/>
          <p:nvPr/>
        </p:nvSpPr>
        <p:spPr>
          <a:xfrm>
            <a:off x="693811" y="1370727"/>
            <a:ext cx="10668000" cy="707886"/>
          </a:xfrm>
          <a:prstGeom prst="rect">
            <a:avLst/>
          </a:prstGeom>
          <a:noFill/>
        </p:spPr>
        <p:txBody>
          <a:bodyPr wrap="square" rtlCol="0">
            <a:spAutoFit/>
          </a:bodyPr>
          <a:lstStyle/>
          <a:p>
            <a:r>
              <a:rPr lang="en-IN" sz="2200" dirty="0">
                <a:latin typeface="Abadi" panose="020B0604020104020204" pitchFamily="34" charset="0"/>
              </a:rPr>
              <a:t>Objective</a:t>
            </a:r>
          </a:p>
          <a:p>
            <a:pPr marL="285750" lvl="0" indent="-285750">
              <a:buFont typeface="Wingdings" panose="05000000000000000000" pitchFamily="2" charset="2"/>
              <a:buChar char="Ø"/>
            </a:pPr>
            <a:r>
              <a:rPr lang="en-IN" dirty="0"/>
              <a:t>Extract historical Falcon 9 launch information from web pages.</a:t>
            </a:r>
          </a:p>
        </p:txBody>
      </p:sp>
      <p:sp>
        <p:nvSpPr>
          <p:cNvPr id="7" name="TextBox 6">
            <a:extLst>
              <a:ext uri="{FF2B5EF4-FFF2-40B4-BE49-F238E27FC236}">
                <a16:creationId xmlns:a16="http://schemas.microsoft.com/office/drawing/2014/main" id="{B0FD8B7E-64AA-FF46-E160-840A72A86FDD}"/>
              </a:ext>
            </a:extLst>
          </p:cNvPr>
          <p:cNvSpPr txBox="1"/>
          <p:nvPr/>
        </p:nvSpPr>
        <p:spPr>
          <a:xfrm>
            <a:off x="693811" y="2124605"/>
            <a:ext cx="7611989" cy="2646878"/>
          </a:xfrm>
          <a:prstGeom prst="rect">
            <a:avLst/>
          </a:prstGeom>
          <a:noFill/>
        </p:spPr>
        <p:txBody>
          <a:bodyPr wrap="square" rtlCol="0">
            <a:spAutoFit/>
          </a:bodyPr>
          <a:lstStyle/>
          <a:p>
            <a:r>
              <a:rPr lang="en-IN" sz="2200" dirty="0">
                <a:latin typeface="Abadi" panose="020B0604020104020204" pitchFamily="34" charset="0"/>
              </a:rPr>
              <a:t>Methodology</a:t>
            </a:r>
          </a:p>
          <a:p>
            <a:pPr marL="285750" lvl="0" indent="-285750">
              <a:buFont typeface="Wingdings" panose="05000000000000000000" pitchFamily="2" charset="2"/>
              <a:buChar char="Ø"/>
            </a:pPr>
            <a:r>
              <a:rPr lang="en-IN" dirty="0"/>
              <a:t>Accessed the SpaceX launch records webpage.</a:t>
            </a:r>
          </a:p>
          <a:p>
            <a:pPr marL="285750" lvl="0" indent="-285750">
              <a:buFont typeface="Wingdings" panose="05000000000000000000" pitchFamily="2" charset="2"/>
              <a:buChar char="Ø"/>
            </a:pPr>
            <a:r>
              <a:rPr lang="en-IN" dirty="0"/>
              <a:t>Retrieved HTML content using Python's requests library.</a:t>
            </a:r>
          </a:p>
          <a:p>
            <a:pPr marL="285750" lvl="0" indent="-285750">
              <a:buFont typeface="Wingdings" panose="05000000000000000000" pitchFamily="2" charset="2"/>
              <a:buChar char="Ø"/>
            </a:pPr>
            <a:r>
              <a:rPr lang="en-IN" dirty="0"/>
              <a:t>Parsed HTML using </a:t>
            </a:r>
            <a:r>
              <a:rPr lang="en-IN" dirty="0" err="1"/>
              <a:t>BeautifulSoup</a:t>
            </a:r>
            <a:r>
              <a:rPr lang="en-IN" dirty="0"/>
              <a:t>.</a:t>
            </a:r>
          </a:p>
          <a:p>
            <a:pPr marL="285750" lvl="0" indent="-285750">
              <a:buFont typeface="Wingdings" panose="05000000000000000000" pitchFamily="2" charset="2"/>
              <a:buChar char="Ø"/>
            </a:pPr>
            <a:r>
              <a:rPr lang="en-IN" dirty="0"/>
              <a:t>Located HTML tables containing launch information.</a:t>
            </a:r>
          </a:p>
          <a:p>
            <a:pPr marL="285750" lvl="0" indent="-285750">
              <a:buFont typeface="Wingdings" panose="05000000000000000000" pitchFamily="2" charset="2"/>
              <a:buChar char="Ø"/>
            </a:pPr>
            <a:r>
              <a:rPr lang="en-IN" dirty="0"/>
              <a:t>Converted the extracted table into a Pandas </a:t>
            </a:r>
            <a:r>
              <a:rPr lang="en-IN" dirty="0" err="1"/>
              <a:t>DataFrame</a:t>
            </a:r>
            <a:r>
              <a:rPr lang="en-IN" dirty="0"/>
              <a:t> using </a:t>
            </a:r>
            <a:r>
              <a:rPr lang="en-IN" dirty="0" err="1"/>
              <a:t>pd.read_html</a:t>
            </a:r>
            <a:r>
              <a:rPr lang="en-IN" dirty="0"/>
              <a:t>().</a:t>
            </a:r>
          </a:p>
          <a:p>
            <a:pPr marL="285750" lvl="0" indent="-285750">
              <a:buFont typeface="Wingdings" panose="05000000000000000000" pitchFamily="2" charset="2"/>
              <a:buChar char="Ø"/>
            </a:pPr>
            <a:r>
              <a:rPr lang="en-IN" dirty="0"/>
              <a:t>Cleaned and prepared the data for further analysis.</a:t>
            </a:r>
          </a:p>
          <a:p>
            <a:pPr marL="285750" lvl="0" indent="-285750">
              <a:buFont typeface="Wingdings" panose="05000000000000000000" pitchFamily="2" charset="2"/>
              <a:buChar char="Ø"/>
            </a:pPr>
            <a:endParaRPr lang="en-IN" dirty="0"/>
          </a:p>
        </p:txBody>
      </p:sp>
      <p:sp>
        <p:nvSpPr>
          <p:cNvPr id="10" name="TextBox 9">
            <a:extLst>
              <a:ext uri="{FF2B5EF4-FFF2-40B4-BE49-F238E27FC236}">
                <a16:creationId xmlns:a16="http://schemas.microsoft.com/office/drawing/2014/main" id="{64914037-E903-A445-58ED-90242C509781}"/>
              </a:ext>
            </a:extLst>
          </p:cNvPr>
          <p:cNvSpPr txBox="1"/>
          <p:nvPr/>
        </p:nvSpPr>
        <p:spPr>
          <a:xfrm>
            <a:off x="770011" y="4615543"/>
            <a:ext cx="5325989" cy="984885"/>
          </a:xfrm>
          <a:prstGeom prst="rect">
            <a:avLst/>
          </a:prstGeom>
          <a:noFill/>
        </p:spPr>
        <p:txBody>
          <a:bodyPr wrap="square" rtlCol="0">
            <a:spAutoFit/>
          </a:bodyPr>
          <a:lstStyle/>
          <a:p>
            <a:r>
              <a:rPr lang="en-IN" sz="2200" dirty="0">
                <a:latin typeface="Abadi" panose="020B0604020104020204" pitchFamily="34" charset="0"/>
              </a:rPr>
              <a:t>Tools Used</a:t>
            </a:r>
            <a:endParaRPr lang="en-IN" sz="2200" b="1" dirty="0">
              <a:latin typeface="Abadi" panose="020B0604020104020204" pitchFamily="34" charset="0"/>
            </a:endParaRPr>
          </a:p>
          <a:p>
            <a:pPr marL="285750" indent="-285750">
              <a:buFont typeface="Wingdings" panose="05000000000000000000" pitchFamily="2" charset="2"/>
              <a:buChar char="q"/>
            </a:pPr>
            <a:r>
              <a:rPr lang="en-IN" dirty="0"/>
              <a:t> Python, Requests, </a:t>
            </a:r>
            <a:r>
              <a:rPr lang="en-IN" dirty="0" err="1"/>
              <a:t>BeautifulSoup</a:t>
            </a:r>
            <a:r>
              <a:rPr lang="en-IN" dirty="0"/>
              <a:t>, Pandas</a:t>
            </a:r>
          </a:p>
          <a:p>
            <a:endParaRPr lang="en-IN" dirty="0"/>
          </a:p>
        </p:txBody>
      </p:sp>
      <p:pic>
        <p:nvPicPr>
          <p:cNvPr id="13" name="Picture 12">
            <a:extLst>
              <a:ext uri="{FF2B5EF4-FFF2-40B4-BE49-F238E27FC236}">
                <a16:creationId xmlns:a16="http://schemas.microsoft.com/office/drawing/2014/main" id="{D0ADF09F-B454-7892-81B8-448D3F6922FF}"/>
              </a:ext>
            </a:extLst>
          </p:cNvPr>
          <p:cNvPicPr>
            <a:picLocks noChangeAspect="1"/>
          </p:cNvPicPr>
          <p:nvPr/>
        </p:nvPicPr>
        <p:blipFill>
          <a:blip r:embed="rId3"/>
          <a:stretch>
            <a:fillRect/>
          </a:stretch>
        </p:blipFill>
        <p:spPr>
          <a:xfrm>
            <a:off x="6781800" y="1439085"/>
            <a:ext cx="5215695" cy="5226016"/>
          </a:xfrm>
          <a:prstGeom prst="rect">
            <a:avLst/>
          </a:prstGeom>
        </p:spPr>
      </p:pic>
      <p:sp>
        <p:nvSpPr>
          <p:cNvPr id="14" name="TextBox 13">
            <a:extLst>
              <a:ext uri="{FF2B5EF4-FFF2-40B4-BE49-F238E27FC236}">
                <a16:creationId xmlns:a16="http://schemas.microsoft.com/office/drawing/2014/main" id="{5EFA5E5B-77A7-A7C9-D0A8-781A0E967E50}"/>
              </a:ext>
            </a:extLst>
          </p:cNvPr>
          <p:cNvSpPr txBox="1"/>
          <p:nvPr/>
        </p:nvSpPr>
        <p:spPr>
          <a:xfrm>
            <a:off x="617611" y="5286909"/>
            <a:ext cx="4455132" cy="1477328"/>
          </a:xfrm>
          <a:prstGeom prst="rect">
            <a:avLst/>
          </a:prstGeom>
          <a:noFill/>
        </p:spPr>
        <p:txBody>
          <a:bodyPr wrap="square" rtlCol="0">
            <a:spAutoFit/>
          </a:bodyPr>
          <a:lstStyle/>
          <a:p>
            <a:endParaRPr lang="en-US" dirty="0"/>
          </a:p>
          <a:p>
            <a:r>
              <a:rPr lang="en-US" dirty="0"/>
              <a:t>GitHub : </a:t>
            </a:r>
            <a:r>
              <a:rPr lang="en-US" dirty="0">
                <a:hlinkClick r:id="rId4"/>
              </a:rPr>
              <a:t>https://github.com/anatesan-01/Data-Science-Capstone--IBM/blob/main/jupyter-labs-spacex-data-collection-api-v2.ipynb</a:t>
            </a:r>
            <a:endParaRPr lang="en-IN" dirty="0"/>
          </a:p>
        </p:txBody>
      </p:sp>
    </p:spTree>
    <p:extLst>
      <p:ext uri="{BB962C8B-B14F-4D97-AF65-F5344CB8AC3E}">
        <p14:creationId xmlns:p14="http://schemas.microsoft.com/office/powerpoint/2010/main" val="1385553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E021CA9-7CB7-1046-8FA0-21F127C19A59}"/>
              </a:ext>
            </a:extLst>
          </p:cNvPr>
          <p:cNvSpPr>
            <a:spLocks noGrp="1"/>
          </p:cNvSpPr>
          <p:nvPr>
            <p:ph type="sldNum" sz="quarter" idx="12"/>
          </p:nvPr>
        </p:nvSpPr>
        <p:spPr/>
        <p:txBody>
          <a:bodyPr/>
          <a:lstStyle/>
          <a:p>
            <a:fld id="{5075537C-CA84-1446-933C-8E9D027F9201}" type="slidenum">
              <a:rPr lang="en-US" smtClean="0"/>
              <a:t>10</a:t>
            </a:fld>
            <a:endParaRPr lang="en-US"/>
          </a:p>
        </p:txBody>
      </p:sp>
      <p:sp>
        <p:nvSpPr>
          <p:cNvPr id="8" name="Title 1">
            <a:extLst>
              <a:ext uri="{FF2B5EF4-FFF2-40B4-BE49-F238E27FC236}">
                <a16:creationId xmlns:a16="http://schemas.microsoft.com/office/drawing/2014/main" id="{2A665A13-3129-46DF-B847-F273F3E96BE6}"/>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Wrangling</a:t>
            </a:r>
          </a:p>
        </p:txBody>
      </p:sp>
      <p:sp>
        <p:nvSpPr>
          <p:cNvPr id="2" name="TextBox 1">
            <a:extLst>
              <a:ext uri="{FF2B5EF4-FFF2-40B4-BE49-F238E27FC236}">
                <a16:creationId xmlns:a16="http://schemas.microsoft.com/office/drawing/2014/main" id="{C58B9909-F954-8AF7-8054-AAC1F2A07804}"/>
              </a:ext>
            </a:extLst>
          </p:cNvPr>
          <p:cNvSpPr txBox="1"/>
          <p:nvPr/>
        </p:nvSpPr>
        <p:spPr>
          <a:xfrm>
            <a:off x="541411" y="1458686"/>
            <a:ext cx="7043057" cy="3785652"/>
          </a:xfrm>
          <a:prstGeom prst="rect">
            <a:avLst/>
          </a:prstGeom>
          <a:noFill/>
        </p:spPr>
        <p:txBody>
          <a:bodyPr wrap="square" rtlCol="0">
            <a:spAutoFit/>
          </a:bodyPr>
          <a:lstStyle/>
          <a:p>
            <a:r>
              <a:rPr lang="en-IN" sz="2200" dirty="0">
                <a:latin typeface="Abadi" panose="020B0604020104020204" pitchFamily="34" charset="0"/>
              </a:rPr>
              <a:t>Data Wrangling Methodology</a:t>
            </a:r>
          </a:p>
          <a:p>
            <a:pPr marL="285750" lvl="0" indent="-285750">
              <a:buFont typeface="Wingdings" panose="05000000000000000000" pitchFamily="2" charset="2"/>
              <a:buChar char="Ø"/>
            </a:pPr>
            <a:r>
              <a:rPr lang="en-IN" sz="2000" b="1" dirty="0"/>
              <a:t>Data Filtering:</a:t>
            </a:r>
            <a:r>
              <a:rPr lang="en-IN" sz="2000" dirty="0"/>
              <a:t> Selected Falcon 9 launch records.</a:t>
            </a:r>
          </a:p>
          <a:p>
            <a:pPr marL="285750" lvl="0" indent="-285750">
              <a:buFont typeface="Wingdings" panose="05000000000000000000" pitchFamily="2" charset="2"/>
              <a:buChar char="Ø"/>
            </a:pPr>
            <a:r>
              <a:rPr lang="en-IN" sz="2000" b="1" dirty="0"/>
              <a:t>Missing Values:</a:t>
            </a:r>
            <a:r>
              <a:rPr lang="en-IN" sz="2000" dirty="0"/>
              <a:t> Identified and handled missing payload values.</a:t>
            </a:r>
          </a:p>
          <a:p>
            <a:pPr marL="285750" lvl="0" indent="-285750">
              <a:buFont typeface="Wingdings" panose="05000000000000000000" pitchFamily="2" charset="2"/>
              <a:buChar char="Ø"/>
            </a:pPr>
            <a:r>
              <a:rPr lang="en-IN" sz="2000" b="1" dirty="0"/>
              <a:t>Feature Extraction:</a:t>
            </a:r>
            <a:r>
              <a:rPr lang="en-IN" sz="2000" dirty="0"/>
              <a:t> Selected relevant launch features, including payload mass, orbit, launch site, and landing outcome.</a:t>
            </a:r>
          </a:p>
          <a:p>
            <a:pPr marL="285750" lvl="0" indent="-285750">
              <a:buFont typeface="Wingdings" panose="05000000000000000000" pitchFamily="2" charset="2"/>
              <a:buChar char="Ø"/>
            </a:pPr>
            <a:r>
              <a:rPr lang="en-IN" sz="2000" b="1" dirty="0"/>
              <a:t>Feature Encoding:</a:t>
            </a:r>
            <a:r>
              <a:rPr lang="en-IN" sz="2000" dirty="0"/>
              <a:t> Applied one-hot encoding to categorical variables.</a:t>
            </a:r>
          </a:p>
          <a:p>
            <a:pPr marL="285750" lvl="0" indent="-285750">
              <a:buFont typeface="Wingdings" panose="05000000000000000000" pitchFamily="2" charset="2"/>
              <a:buChar char="Ø"/>
            </a:pPr>
            <a:r>
              <a:rPr lang="en-IN" sz="2000" b="1" dirty="0"/>
              <a:t>Feature and Target Definition:</a:t>
            </a:r>
            <a:r>
              <a:rPr lang="en-IN" sz="2000" dirty="0"/>
              <a:t> Defined input features (X) and target variable (Y = Class).</a:t>
            </a:r>
          </a:p>
          <a:p>
            <a:pPr marL="285750" lvl="0" indent="-285750">
              <a:buFont typeface="Wingdings" panose="05000000000000000000" pitchFamily="2" charset="2"/>
              <a:buChar char="Ø"/>
            </a:pPr>
            <a:r>
              <a:rPr lang="en-IN" sz="2000" b="1" dirty="0"/>
              <a:t>Data Splitting:</a:t>
            </a:r>
            <a:r>
              <a:rPr lang="en-IN" sz="2000" dirty="0"/>
              <a:t> Prepared training and testing datasets for machine learning.</a:t>
            </a:r>
          </a:p>
          <a:p>
            <a:endParaRPr lang="en-IN" dirty="0"/>
          </a:p>
        </p:txBody>
      </p:sp>
      <p:sp>
        <p:nvSpPr>
          <p:cNvPr id="6" name="TextBox 5">
            <a:extLst>
              <a:ext uri="{FF2B5EF4-FFF2-40B4-BE49-F238E27FC236}">
                <a16:creationId xmlns:a16="http://schemas.microsoft.com/office/drawing/2014/main" id="{14FB6A0D-76EB-A5A5-65FF-FECA0437573C}"/>
              </a:ext>
            </a:extLst>
          </p:cNvPr>
          <p:cNvSpPr txBox="1"/>
          <p:nvPr/>
        </p:nvSpPr>
        <p:spPr>
          <a:xfrm>
            <a:off x="650268" y="5040688"/>
            <a:ext cx="4966760" cy="1015663"/>
          </a:xfrm>
          <a:prstGeom prst="rect">
            <a:avLst/>
          </a:prstGeom>
          <a:noFill/>
        </p:spPr>
        <p:txBody>
          <a:bodyPr wrap="square" rtlCol="0">
            <a:spAutoFit/>
          </a:bodyPr>
          <a:lstStyle/>
          <a:p>
            <a:r>
              <a:rPr lang="en-IN" sz="2200" dirty="0">
                <a:latin typeface="Abadi" panose="020B0604020104020204" pitchFamily="34" charset="0"/>
              </a:rPr>
              <a:t>Tools</a:t>
            </a:r>
            <a:endParaRPr lang="en-IN" sz="2200" b="1" dirty="0">
              <a:latin typeface="Abadi" panose="020B0604020104020204" pitchFamily="34" charset="0"/>
            </a:endParaRPr>
          </a:p>
          <a:p>
            <a:pPr marL="285750" indent="-285750">
              <a:buFont typeface="Wingdings" panose="05000000000000000000" pitchFamily="2" charset="2"/>
              <a:buChar char="q"/>
            </a:pPr>
            <a:r>
              <a:rPr lang="en-IN" dirty="0"/>
              <a:t> </a:t>
            </a:r>
            <a:r>
              <a:rPr lang="en-IN" sz="2000" dirty="0"/>
              <a:t>Python, Pandas, NumPy, Scikit-learn</a:t>
            </a:r>
          </a:p>
          <a:p>
            <a:endParaRPr lang="en-IN" dirty="0"/>
          </a:p>
        </p:txBody>
      </p:sp>
      <p:sp>
        <p:nvSpPr>
          <p:cNvPr id="7" name="TextBox 6">
            <a:extLst>
              <a:ext uri="{FF2B5EF4-FFF2-40B4-BE49-F238E27FC236}">
                <a16:creationId xmlns:a16="http://schemas.microsoft.com/office/drawing/2014/main" id="{E009E823-A007-21B7-1C41-93ECF0EF1975}"/>
              </a:ext>
            </a:extLst>
          </p:cNvPr>
          <p:cNvSpPr txBox="1"/>
          <p:nvPr/>
        </p:nvSpPr>
        <p:spPr>
          <a:xfrm>
            <a:off x="650268" y="5857685"/>
            <a:ext cx="4847017" cy="984885"/>
          </a:xfrm>
          <a:prstGeom prst="rect">
            <a:avLst/>
          </a:prstGeom>
          <a:noFill/>
        </p:spPr>
        <p:txBody>
          <a:bodyPr wrap="square" rtlCol="0">
            <a:spAutoFit/>
          </a:bodyPr>
          <a:lstStyle/>
          <a:p>
            <a:r>
              <a:rPr lang="en-US" sz="2200" dirty="0">
                <a:latin typeface="Abadi" panose="020B0604020104020204" pitchFamily="34" charset="0"/>
              </a:rPr>
              <a:t>GitHub</a:t>
            </a:r>
            <a:r>
              <a:rPr lang="en-US" dirty="0"/>
              <a:t> : </a:t>
            </a:r>
            <a:r>
              <a:rPr lang="en-US" dirty="0">
                <a:hlinkClick r:id="rId3"/>
              </a:rPr>
              <a:t>https://github.com/anatesan-01/Data-Science-Capstone--IBM/blob/main/labs-jupyter-spacex-Data%20wrangling-v2.ipynb</a:t>
            </a:r>
            <a:endParaRPr lang="en-IN" dirty="0"/>
          </a:p>
        </p:txBody>
      </p:sp>
      <p:pic>
        <p:nvPicPr>
          <p:cNvPr id="10" name="Picture 9">
            <a:extLst>
              <a:ext uri="{FF2B5EF4-FFF2-40B4-BE49-F238E27FC236}">
                <a16:creationId xmlns:a16="http://schemas.microsoft.com/office/drawing/2014/main" id="{FA0F3504-FBF8-F710-1AAB-3D8FE4E8CA02}"/>
              </a:ext>
            </a:extLst>
          </p:cNvPr>
          <p:cNvPicPr>
            <a:picLocks noChangeAspect="1"/>
          </p:cNvPicPr>
          <p:nvPr/>
        </p:nvPicPr>
        <p:blipFill>
          <a:blip r:embed="rId4"/>
          <a:stretch>
            <a:fillRect/>
          </a:stretch>
        </p:blipFill>
        <p:spPr>
          <a:xfrm>
            <a:off x="7693325" y="1289931"/>
            <a:ext cx="4357161" cy="5568069"/>
          </a:xfrm>
          <a:prstGeom prst="rect">
            <a:avLst/>
          </a:prstGeom>
        </p:spPr>
      </p:pic>
    </p:spTree>
    <p:extLst>
      <p:ext uri="{BB962C8B-B14F-4D97-AF65-F5344CB8AC3E}">
        <p14:creationId xmlns:p14="http://schemas.microsoft.com/office/powerpoint/2010/main" val="2987552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C4E03D3-761E-7549-A4C6-7E585EBC4F01}"/>
              </a:ext>
            </a:extLst>
          </p:cNvPr>
          <p:cNvSpPr>
            <a:spLocks noGrp="1"/>
          </p:cNvSpPr>
          <p:nvPr>
            <p:ph type="sldNum" sz="quarter" idx="12"/>
          </p:nvPr>
        </p:nvSpPr>
        <p:spPr/>
        <p:txBody>
          <a:bodyPr/>
          <a:lstStyle/>
          <a:p>
            <a:fld id="{5075537C-CA84-1446-933C-8E9D027F9201}" type="slidenum">
              <a:rPr lang="en-US" smtClean="0"/>
              <a:t>11</a:t>
            </a:fld>
            <a:endParaRPr lang="en-US"/>
          </a:p>
        </p:txBody>
      </p:sp>
      <p:sp>
        <p:nvSpPr>
          <p:cNvPr id="3" name="Title 1">
            <a:extLst>
              <a:ext uri="{FF2B5EF4-FFF2-40B4-BE49-F238E27FC236}">
                <a16:creationId xmlns:a16="http://schemas.microsoft.com/office/drawing/2014/main" id="{D9E97D81-A978-4758-8A93-47C19B10407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Data Visualization</a:t>
            </a:r>
          </a:p>
        </p:txBody>
      </p:sp>
      <p:sp>
        <p:nvSpPr>
          <p:cNvPr id="2" name="TextBox 1">
            <a:extLst>
              <a:ext uri="{FF2B5EF4-FFF2-40B4-BE49-F238E27FC236}">
                <a16:creationId xmlns:a16="http://schemas.microsoft.com/office/drawing/2014/main" id="{1F9326F6-0A8F-9FB7-5432-16ED9637CEEE}"/>
              </a:ext>
            </a:extLst>
          </p:cNvPr>
          <p:cNvSpPr txBox="1"/>
          <p:nvPr/>
        </p:nvSpPr>
        <p:spPr>
          <a:xfrm>
            <a:off x="617611" y="1325540"/>
            <a:ext cx="11430000" cy="5663089"/>
          </a:xfrm>
          <a:prstGeom prst="rect">
            <a:avLst/>
          </a:prstGeom>
          <a:noFill/>
        </p:spPr>
        <p:txBody>
          <a:bodyPr wrap="square" rtlCol="0">
            <a:spAutoFit/>
          </a:bodyPr>
          <a:lstStyle/>
          <a:p>
            <a:r>
              <a:rPr lang="en-IN" sz="2200" dirty="0">
                <a:latin typeface="Abadi" panose="020B0604020104020204" pitchFamily="34" charset="0"/>
              </a:rPr>
              <a:t>Charts Used and Their Purpose</a:t>
            </a:r>
          </a:p>
          <a:p>
            <a:pPr marL="285750" lvl="0" indent="-285750">
              <a:buFont typeface="Wingdings" panose="05000000000000000000" pitchFamily="2" charset="2"/>
              <a:buChar char="q"/>
            </a:pPr>
            <a:r>
              <a:rPr lang="en-IN" b="1" u="sng" dirty="0"/>
              <a:t>Scatter Plot</a:t>
            </a:r>
            <a:r>
              <a:rPr lang="en-IN" b="1" dirty="0"/>
              <a:t>:</a:t>
            </a:r>
            <a:r>
              <a:rPr lang="en-IN" dirty="0"/>
              <a:t> Examined the relationship between payload mass and launch outcomes at different launch sites.</a:t>
            </a:r>
          </a:p>
          <a:p>
            <a:pPr marL="285750" lvl="0" indent="-285750">
              <a:buFont typeface="Wingdings" panose="05000000000000000000" pitchFamily="2" charset="2"/>
              <a:buChar char="q"/>
            </a:pPr>
            <a:r>
              <a:rPr lang="en-IN" b="1" u="sng" dirty="0"/>
              <a:t>Bar Chart</a:t>
            </a:r>
            <a:r>
              <a:rPr lang="en-IN" b="1" dirty="0"/>
              <a:t>:</a:t>
            </a:r>
            <a:r>
              <a:rPr lang="en-IN" dirty="0"/>
              <a:t> Compared the mean of the Class variable across different orbit types, including ES-L1, GEO, GTO, HEO, ISS, LEO, MEO, PO, SO, SSO, and VLEO.</a:t>
            </a:r>
          </a:p>
          <a:p>
            <a:pPr marL="285750" lvl="0" indent="-285750">
              <a:buFont typeface="Wingdings" panose="05000000000000000000" pitchFamily="2" charset="2"/>
              <a:buChar char="q"/>
            </a:pPr>
            <a:r>
              <a:rPr lang="en-IN" b="1" u="sng" dirty="0"/>
              <a:t>Line Chart</a:t>
            </a:r>
            <a:r>
              <a:rPr lang="en-IN" b="1" dirty="0"/>
              <a:t>:</a:t>
            </a:r>
            <a:r>
              <a:rPr lang="en-IN" dirty="0"/>
              <a:t> </a:t>
            </a:r>
            <a:r>
              <a:rPr lang="en-IN" dirty="0" err="1"/>
              <a:t>Analyzed</a:t>
            </a:r>
            <a:r>
              <a:rPr lang="en-IN" dirty="0"/>
              <a:t> yearly trends in the Class variable from 2010 to 2020, showing an overall upward trend with some fluctuations.</a:t>
            </a:r>
          </a:p>
          <a:p>
            <a:pPr marL="285750" lvl="0" indent="-285750">
              <a:buFont typeface="Wingdings" panose="05000000000000000000" pitchFamily="2" charset="2"/>
              <a:buChar char="q"/>
            </a:pPr>
            <a:r>
              <a:rPr lang="en-IN" b="1" u="sng" dirty="0"/>
              <a:t>Orbit Analysis</a:t>
            </a:r>
            <a:r>
              <a:rPr lang="en-IN" b="1" dirty="0"/>
              <a:t>:</a:t>
            </a:r>
            <a:r>
              <a:rPr lang="en-IN" dirty="0"/>
              <a:t> Compared landing outcomes across different orbit types using flight number and payload mass.</a:t>
            </a:r>
          </a:p>
          <a:p>
            <a:pPr marL="285750" lvl="0" indent="-285750">
              <a:buFont typeface="Wingdings" panose="05000000000000000000" pitchFamily="2" charset="2"/>
              <a:buChar char="q"/>
            </a:pPr>
            <a:r>
              <a:rPr lang="en-IN" b="1" u="sng" dirty="0"/>
              <a:t>Flight Number Analysis</a:t>
            </a:r>
            <a:r>
              <a:rPr lang="en-IN" b="1" dirty="0"/>
              <a:t>:</a:t>
            </a:r>
            <a:r>
              <a:rPr lang="en-IN" dirty="0"/>
              <a:t> Investigated successful and unsuccessful landing outcomes across different launch sites and flight numbers.</a:t>
            </a:r>
          </a:p>
          <a:p>
            <a:pPr lvl="0"/>
            <a:endParaRPr lang="en-IN" sz="2200" b="1" dirty="0"/>
          </a:p>
          <a:p>
            <a:r>
              <a:rPr lang="en-IN" sz="2200" dirty="0">
                <a:latin typeface="Abadi" panose="020B0604020104020204" pitchFamily="34" charset="0"/>
              </a:rPr>
              <a:t>Key Objective</a:t>
            </a:r>
          </a:p>
          <a:p>
            <a:pPr marL="342900" lvl="0" indent="-342900">
              <a:buFont typeface="Wingdings" panose="05000000000000000000" pitchFamily="2" charset="2"/>
              <a:buChar char="Ø"/>
            </a:pPr>
            <a:r>
              <a:rPr lang="en-IN" dirty="0"/>
              <a:t>Identify factors associated with successful Falcon 9 first-stage landings.</a:t>
            </a:r>
          </a:p>
          <a:p>
            <a:pPr marL="342900" lvl="0" indent="-342900">
              <a:buFont typeface="Wingdings" panose="05000000000000000000" pitchFamily="2" charset="2"/>
              <a:buChar char="Ø"/>
            </a:pPr>
            <a:r>
              <a:rPr lang="en-IN" dirty="0"/>
              <a:t>Discover patterns in launch performance based on payload mass, launch site, orbit type, flight number, and yearly trends.</a:t>
            </a:r>
          </a:p>
          <a:p>
            <a:pPr lvl="0"/>
            <a:endParaRPr lang="en-IN" dirty="0"/>
          </a:p>
          <a:p>
            <a:r>
              <a:rPr lang="en-IN" sz="2200" dirty="0"/>
              <a:t>Tools Used</a:t>
            </a:r>
            <a:endParaRPr lang="en-IN" sz="2200" b="1" dirty="0"/>
          </a:p>
          <a:p>
            <a:pPr marL="285750" indent="-285750">
              <a:buFont typeface="Wingdings" panose="05000000000000000000" pitchFamily="2" charset="2"/>
              <a:buChar char="q"/>
            </a:pPr>
            <a:r>
              <a:rPr lang="en-IN" dirty="0"/>
              <a:t> Python, Pandas, Matplotlib, Seaborn</a:t>
            </a:r>
          </a:p>
          <a:p>
            <a:r>
              <a:rPr lang="en-IN" sz="2200" dirty="0"/>
              <a:t>GitHub </a:t>
            </a:r>
            <a:r>
              <a:rPr lang="en-IN" sz="2200" dirty="0" err="1"/>
              <a:t>Repository</a:t>
            </a:r>
            <a:r>
              <a:rPr lang="en-IN" b="1" dirty="0" err="1"/>
              <a:t>:</a:t>
            </a:r>
            <a:r>
              <a:rPr lang="en-IN" b="1" dirty="0" err="1">
                <a:hlinkClick r:id="rId3"/>
              </a:rPr>
              <a:t>https</a:t>
            </a:r>
            <a:r>
              <a:rPr lang="en-IN" b="1" dirty="0">
                <a:hlinkClick r:id="rId3"/>
              </a:rPr>
              <a:t>://github.com/anatesan-01/Data-Science-Capstone--IBM/blob/main/jupyter-labs-eda-dataviz-v2.ipynb</a:t>
            </a:r>
            <a:endParaRPr lang="en-IN" dirty="0"/>
          </a:p>
        </p:txBody>
      </p:sp>
    </p:spTree>
    <p:extLst>
      <p:ext uri="{BB962C8B-B14F-4D97-AF65-F5344CB8AC3E}">
        <p14:creationId xmlns:p14="http://schemas.microsoft.com/office/powerpoint/2010/main" val="779971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17B1B70-690D-5945-90C2-196E1304B45D}"/>
              </a:ext>
            </a:extLst>
          </p:cNvPr>
          <p:cNvSpPr>
            <a:spLocks noGrp="1"/>
          </p:cNvSpPr>
          <p:nvPr>
            <p:ph type="sldNum" sz="quarter" idx="12"/>
          </p:nvPr>
        </p:nvSpPr>
        <p:spPr/>
        <p:txBody>
          <a:bodyPr/>
          <a:lstStyle/>
          <a:p>
            <a:fld id="{5075537C-CA84-1446-933C-8E9D027F9201}" type="slidenum">
              <a:rPr lang="en-US" smtClean="0"/>
              <a:t>12</a:t>
            </a:fld>
            <a:endParaRPr lang="en-US"/>
          </a:p>
        </p:txBody>
      </p:sp>
      <p:sp>
        <p:nvSpPr>
          <p:cNvPr id="3" name="Title 1">
            <a:extLst>
              <a:ext uri="{FF2B5EF4-FFF2-40B4-BE49-F238E27FC236}">
                <a16:creationId xmlns:a16="http://schemas.microsoft.com/office/drawing/2014/main" id="{32405FDA-CB27-4506-BA80-B7DD00CB25C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SQL</a:t>
            </a:r>
            <a:endParaRPr lang="en-US" dirty="0">
              <a:solidFill>
                <a:srgbClr val="0B49CB"/>
              </a:solidFill>
            </a:endParaRPr>
          </a:p>
        </p:txBody>
      </p:sp>
      <p:sp>
        <p:nvSpPr>
          <p:cNvPr id="10" name="TextBox 9">
            <a:extLst>
              <a:ext uri="{FF2B5EF4-FFF2-40B4-BE49-F238E27FC236}">
                <a16:creationId xmlns:a16="http://schemas.microsoft.com/office/drawing/2014/main" id="{F6D82F13-6F36-C510-715F-116E19706D54}"/>
              </a:ext>
            </a:extLst>
          </p:cNvPr>
          <p:cNvSpPr txBox="1"/>
          <p:nvPr/>
        </p:nvSpPr>
        <p:spPr>
          <a:xfrm>
            <a:off x="683830" y="1277664"/>
            <a:ext cx="10687961" cy="2369880"/>
          </a:xfrm>
          <a:prstGeom prst="rect">
            <a:avLst/>
          </a:prstGeom>
          <a:noFill/>
        </p:spPr>
        <p:txBody>
          <a:bodyPr wrap="square" rtlCol="0">
            <a:spAutoFit/>
          </a:bodyPr>
          <a:lstStyle/>
          <a:p>
            <a:r>
              <a:rPr lang="en-IN" sz="2200" dirty="0">
                <a:latin typeface="Abadi" panose="020B0604020104020204" pitchFamily="34" charset="0"/>
              </a:rPr>
              <a:t>SQL Queries Performed and Their Purpose</a:t>
            </a:r>
          </a:p>
          <a:p>
            <a:pPr marL="285750" lvl="0" indent="-285750">
              <a:buFont typeface="Wingdings" panose="05000000000000000000" pitchFamily="2" charset="2"/>
              <a:buChar char="q"/>
            </a:pPr>
            <a:r>
              <a:rPr lang="en-IN" b="1" dirty="0"/>
              <a:t>Launch Site Analysis</a:t>
            </a:r>
            <a:r>
              <a:rPr lang="en-IN" dirty="0"/>
              <a:t>: Identified unique launch sites and filtered CCA sites.</a:t>
            </a:r>
          </a:p>
          <a:p>
            <a:pPr marL="285750" lvl="0" indent="-285750">
              <a:buFont typeface="Wingdings" panose="05000000000000000000" pitchFamily="2" charset="2"/>
              <a:buChar char="q"/>
            </a:pPr>
            <a:r>
              <a:rPr lang="en-IN" b="1" dirty="0"/>
              <a:t>Payload Analysis</a:t>
            </a:r>
            <a:r>
              <a:rPr lang="en-IN" dirty="0"/>
              <a:t>: Calculated total and average payload mass.</a:t>
            </a:r>
          </a:p>
          <a:p>
            <a:pPr marL="285750" lvl="0" indent="-285750">
              <a:buFont typeface="Wingdings" panose="05000000000000000000" pitchFamily="2" charset="2"/>
              <a:buChar char="q"/>
            </a:pPr>
            <a:r>
              <a:rPr lang="en-IN" b="1" dirty="0"/>
              <a:t>Landing Outcome Analysis</a:t>
            </a:r>
            <a:r>
              <a:rPr lang="en-IN" dirty="0"/>
              <a:t>: Found the earliest successful landing and qualifying drone-ship landings.</a:t>
            </a:r>
          </a:p>
          <a:p>
            <a:pPr marL="285750" lvl="0" indent="-285750">
              <a:buFont typeface="Wingdings" panose="05000000000000000000" pitchFamily="2" charset="2"/>
              <a:buChar char="q"/>
            </a:pPr>
            <a:r>
              <a:rPr lang="en-IN" b="1" dirty="0"/>
              <a:t>Mission Success and Failure</a:t>
            </a:r>
            <a:r>
              <a:rPr lang="en-IN" dirty="0"/>
              <a:t>: Counted successful and unsuccessful outcomes.</a:t>
            </a:r>
          </a:p>
          <a:p>
            <a:pPr marL="285750" lvl="0" indent="-285750">
              <a:buFont typeface="Wingdings" panose="05000000000000000000" pitchFamily="2" charset="2"/>
              <a:buChar char="q"/>
            </a:pPr>
            <a:r>
              <a:rPr lang="en-IN" b="1" dirty="0"/>
              <a:t>Maximum Payload</a:t>
            </a:r>
            <a:r>
              <a:rPr lang="en-IN" dirty="0"/>
              <a:t>: Identified boosters carrying the maximum payload.</a:t>
            </a:r>
          </a:p>
          <a:p>
            <a:pPr marL="285750" lvl="0" indent="-285750">
              <a:buFont typeface="Wingdings" panose="05000000000000000000" pitchFamily="2" charset="2"/>
              <a:buChar char="q"/>
            </a:pPr>
            <a:r>
              <a:rPr lang="en-IN" b="1" dirty="0"/>
              <a:t>Monthly Analysis</a:t>
            </a:r>
            <a:r>
              <a:rPr lang="en-IN" dirty="0"/>
              <a:t>: Retrieved failed drone-ship landings from 2015.</a:t>
            </a:r>
          </a:p>
          <a:p>
            <a:pPr marL="285750" lvl="0" indent="-285750">
              <a:buFont typeface="Wingdings" panose="05000000000000000000" pitchFamily="2" charset="2"/>
              <a:buChar char="q"/>
            </a:pPr>
            <a:r>
              <a:rPr lang="en-IN" b="1" dirty="0"/>
              <a:t>Time-Based Ranking</a:t>
            </a:r>
            <a:r>
              <a:rPr lang="en-IN" dirty="0"/>
              <a:t>: Ranked landing outcomes by count within the specified date range.</a:t>
            </a:r>
          </a:p>
        </p:txBody>
      </p:sp>
      <p:sp>
        <p:nvSpPr>
          <p:cNvPr id="11" name="TextBox 10">
            <a:extLst>
              <a:ext uri="{FF2B5EF4-FFF2-40B4-BE49-F238E27FC236}">
                <a16:creationId xmlns:a16="http://schemas.microsoft.com/office/drawing/2014/main" id="{6215400E-3451-897C-2F17-2C32E53ED9EC}"/>
              </a:ext>
            </a:extLst>
          </p:cNvPr>
          <p:cNvSpPr txBox="1"/>
          <p:nvPr/>
        </p:nvSpPr>
        <p:spPr>
          <a:xfrm>
            <a:off x="683830" y="3848395"/>
            <a:ext cx="8373989" cy="1538883"/>
          </a:xfrm>
          <a:prstGeom prst="rect">
            <a:avLst/>
          </a:prstGeom>
          <a:noFill/>
        </p:spPr>
        <p:txBody>
          <a:bodyPr wrap="square" rtlCol="0">
            <a:spAutoFit/>
          </a:bodyPr>
          <a:lstStyle/>
          <a:p>
            <a:r>
              <a:rPr lang="en-IN" sz="2200" dirty="0">
                <a:latin typeface="Abadi" panose="020B0604020104020204" pitchFamily="34" charset="0"/>
              </a:rPr>
              <a:t>Key Objective</a:t>
            </a:r>
          </a:p>
          <a:p>
            <a:pPr marL="285750" lvl="0" indent="-285750">
              <a:buFont typeface="Wingdings" panose="05000000000000000000" pitchFamily="2" charset="2"/>
              <a:buChar char="Ø"/>
            </a:pPr>
            <a:r>
              <a:rPr lang="en-IN" dirty="0" err="1"/>
              <a:t>Analyze</a:t>
            </a:r>
            <a:r>
              <a:rPr lang="en-IN" dirty="0"/>
              <a:t> launch sites, payloads, and landing outcomes.</a:t>
            </a:r>
          </a:p>
          <a:p>
            <a:pPr marL="285750" lvl="0" indent="-285750">
              <a:buFont typeface="Wingdings" panose="05000000000000000000" pitchFamily="2" charset="2"/>
              <a:buChar char="Ø"/>
            </a:pPr>
            <a:r>
              <a:rPr lang="en-IN" dirty="0"/>
              <a:t>Identify success patterns and historical trends.</a:t>
            </a:r>
          </a:p>
          <a:p>
            <a:pPr marL="285750" lvl="0" indent="-285750">
              <a:buFont typeface="Wingdings" panose="05000000000000000000" pitchFamily="2" charset="2"/>
              <a:buChar char="Ø"/>
            </a:pPr>
            <a:r>
              <a:rPr lang="en-IN" dirty="0"/>
              <a:t>Support Falcon 9 landing-success analysis.</a:t>
            </a:r>
          </a:p>
          <a:p>
            <a:endParaRPr lang="en-IN" dirty="0"/>
          </a:p>
        </p:txBody>
      </p:sp>
      <p:sp>
        <p:nvSpPr>
          <p:cNvPr id="12" name="TextBox 11">
            <a:extLst>
              <a:ext uri="{FF2B5EF4-FFF2-40B4-BE49-F238E27FC236}">
                <a16:creationId xmlns:a16="http://schemas.microsoft.com/office/drawing/2014/main" id="{A85E200A-F263-68A7-3969-7B977FD85F52}"/>
              </a:ext>
            </a:extLst>
          </p:cNvPr>
          <p:cNvSpPr txBox="1"/>
          <p:nvPr/>
        </p:nvSpPr>
        <p:spPr>
          <a:xfrm>
            <a:off x="683830" y="5234186"/>
            <a:ext cx="4542218" cy="707886"/>
          </a:xfrm>
          <a:prstGeom prst="rect">
            <a:avLst/>
          </a:prstGeom>
          <a:noFill/>
        </p:spPr>
        <p:txBody>
          <a:bodyPr wrap="square" rtlCol="0">
            <a:spAutoFit/>
          </a:bodyPr>
          <a:lstStyle/>
          <a:p>
            <a:r>
              <a:rPr lang="en-IN" sz="2200" dirty="0"/>
              <a:t>Tools Used</a:t>
            </a:r>
          </a:p>
          <a:p>
            <a:pPr marL="285750" indent="-285750">
              <a:buFont typeface="Wingdings" panose="05000000000000000000" pitchFamily="2" charset="2"/>
              <a:buChar char="q"/>
            </a:pPr>
            <a:r>
              <a:rPr lang="en-IN" dirty="0"/>
              <a:t> SQL, SQLite, Python, Pandas</a:t>
            </a:r>
          </a:p>
        </p:txBody>
      </p:sp>
      <p:sp>
        <p:nvSpPr>
          <p:cNvPr id="13" name="TextBox 12">
            <a:extLst>
              <a:ext uri="{FF2B5EF4-FFF2-40B4-BE49-F238E27FC236}">
                <a16:creationId xmlns:a16="http://schemas.microsoft.com/office/drawing/2014/main" id="{95FEA7FF-47A0-F6EA-7BE4-296D88A601E7}"/>
              </a:ext>
            </a:extLst>
          </p:cNvPr>
          <p:cNvSpPr txBox="1"/>
          <p:nvPr/>
        </p:nvSpPr>
        <p:spPr>
          <a:xfrm>
            <a:off x="683830" y="6090887"/>
            <a:ext cx="11672360" cy="707886"/>
          </a:xfrm>
          <a:prstGeom prst="rect">
            <a:avLst/>
          </a:prstGeom>
          <a:noFill/>
        </p:spPr>
        <p:txBody>
          <a:bodyPr wrap="square" rtlCol="0">
            <a:spAutoFit/>
          </a:bodyPr>
          <a:lstStyle/>
          <a:p>
            <a:r>
              <a:rPr lang="en-US" sz="2200" dirty="0"/>
              <a:t>GitHub</a:t>
            </a:r>
            <a:r>
              <a:rPr lang="en-US" dirty="0"/>
              <a:t> : </a:t>
            </a:r>
            <a:r>
              <a:rPr lang="en-US" dirty="0">
                <a:hlinkClick r:id="rId3"/>
              </a:rPr>
              <a:t>https://github.com/anatesan-01/Data-Science-Capstone--IBM/blob/main/jupyter-labs-eda-sql-coursera_sqllite.ipynb</a:t>
            </a:r>
            <a:r>
              <a:rPr lang="en-US" dirty="0"/>
              <a:t> </a:t>
            </a:r>
            <a:endParaRPr lang="en-IN" dirty="0"/>
          </a:p>
        </p:txBody>
      </p:sp>
    </p:spTree>
    <p:extLst>
      <p:ext uri="{BB962C8B-B14F-4D97-AF65-F5344CB8AC3E}">
        <p14:creationId xmlns:p14="http://schemas.microsoft.com/office/powerpoint/2010/main" val="15787263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p:txBody>
          <a:bodyPr/>
          <a:lstStyle/>
          <a:p>
            <a:fld id="{5075537C-CA84-1446-933C-8E9D027F9201}" type="slidenum">
              <a:rPr lang="en-US" smtClean="0"/>
              <a:t>13</a:t>
            </a:fld>
            <a:endParaRPr lang="en-US"/>
          </a:p>
        </p:txBody>
      </p:sp>
      <p:sp>
        <p:nvSpPr>
          <p:cNvPr id="3" name="Title 1">
            <a:extLst>
              <a:ext uri="{FF2B5EF4-FFF2-40B4-BE49-F238E27FC236}">
                <a16:creationId xmlns:a16="http://schemas.microsoft.com/office/drawing/2014/main" id="{B28946E4-5BEF-46F0-A56A-E7E85ACA148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Build an Interactive Map with Folium</a:t>
            </a:r>
            <a:endParaRPr lang="en-US" dirty="0">
              <a:solidFill>
                <a:srgbClr val="0B49CB"/>
              </a:solidFill>
            </a:endParaRPr>
          </a:p>
        </p:txBody>
      </p:sp>
      <p:sp>
        <p:nvSpPr>
          <p:cNvPr id="2" name="TextBox 1">
            <a:extLst>
              <a:ext uri="{FF2B5EF4-FFF2-40B4-BE49-F238E27FC236}">
                <a16:creationId xmlns:a16="http://schemas.microsoft.com/office/drawing/2014/main" id="{25F47325-945F-0321-167F-322879562E59}"/>
              </a:ext>
            </a:extLst>
          </p:cNvPr>
          <p:cNvSpPr txBox="1"/>
          <p:nvPr/>
        </p:nvSpPr>
        <p:spPr>
          <a:xfrm>
            <a:off x="734028" y="1264914"/>
            <a:ext cx="10687961" cy="1815882"/>
          </a:xfrm>
          <a:prstGeom prst="rect">
            <a:avLst/>
          </a:prstGeom>
          <a:noFill/>
        </p:spPr>
        <p:txBody>
          <a:bodyPr wrap="square" rtlCol="0">
            <a:spAutoFit/>
          </a:bodyPr>
          <a:lstStyle/>
          <a:p>
            <a:r>
              <a:rPr lang="en-IN" sz="2200" dirty="0">
                <a:latin typeface="Abadi" panose="020B0604020104020204" pitchFamily="34" charset="0"/>
              </a:rPr>
              <a:t>Map Objects Used and Their Purpose</a:t>
            </a:r>
          </a:p>
          <a:p>
            <a:pPr marL="285750" lvl="0" indent="-285750">
              <a:buFont typeface="Wingdings" panose="05000000000000000000" pitchFamily="2" charset="2"/>
              <a:buChar char="q"/>
            </a:pPr>
            <a:r>
              <a:rPr lang="en-IN" b="1" dirty="0"/>
              <a:t>Markers</a:t>
            </a:r>
            <a:r>
              <a:rPr lang="en-IN" dirty="0"/>
              <a:t>: Identified SpaceX launch sites, including CCAFS SLC-40, KSC LC-39A, and VAFB SLC-4E.</a:t>
            </a:r>
          </a:p>
          <a:p>
            <a:pPr marL="285750" lvl="0" indent="-285750">
              <a:buFont typeface="Wingdings" panose="05000000000000000000" pitchFamily="2" charset="2"/>
              <a:buChar char="q"/>
            </a:pPr>
            <a:r>
              <a:rPr lang="en-IN" b="1" dirty="0"/>
              <a:t>Pop-ups</a:t>
            </a:r>
            <a:r>
              <a:rPr lang="en-IN" dirty="0"/>
              <a:t>: Displayed launch site details when users clicked on the markers.</a:t>
            </a:r>
          </a:p>
          <a:p>
            <a:pPr marL="285750" lvl="0" indent="-285750">
              <a:buFont typeface="Wingdings" panose="05000000000000000000" pitchFamily="2" charset="2"/>
              <a:buChar char="q"/>
            </a:pPr>
            <a:r>
              <a:rPr lang="en-IN" b="1" dirty="0"/>
              <a:t>Circles</a:t>
            </a:r>
            <a:r>
              <a:rPr lang="en-IN" dirty="0"/>
              <a:t>: Highlighted launch site locations to make them easier to identify.</a:t>
            </a:r>
          </a:p>
          <a:p>
            <a:pPr marL="285750" lvl="0" indent="-285750">
              <a:buFont typeface="Wingdings" panose="05000000000000000000" pitchFamily="2" charset="2"/>
              <a:buChar char="q"/>
            </a:pPr>
            <a:r>
              <a:rPr lang="en-IN" b="1" dirty="0"/>
              <a:t>Interactive</a:t>
            </a:r>
            <a:r>
              <a:rPr lang="en-IN" dirty="0"/>
              <a:t> </a:t>
            </a:r>
            <a:r>
              <a:rPr lang="en-IN" b="1" dirty="0"/>
              <a:t>Features</a:t>
            </a:r>
            <a:r>
              <a:rPr lang="en-IN" dirty="0"/>
              <a:t>: Enabled users to zoom in, zoom out, and explore the geographical locations on the map.</a:t>
            </a:r>
          </a:p>
          <a:p>
            <a:endParaRPr lang="en-IN" dirty="0"/>
          </a:p>
        </p:txBody>
      </p:sp>
      <p:sp>
        <p:nvSpPr>
          <p:cNvPr id="7" name="TextBox 6">
            <a:extLst>
              <a:ext uri="{FF2B5EF4-FFF2-40B4-BE49-F238E27FC236}">
                <a16:creationId xmlns:a16="http://schemas.microsoft.com/office/drawing/2014/main" id="{FD822E5A-0B5E-B3E0-7617-63DA271CA27C}"/>
              </a:ext>
            </a:extLst>
          </p:cNvPr>
          <p:cNvSpPr txBox="1"/>
          <p:nvPr/>
        </p:nvSpPr>
        <p:spPr>
          <a:xfrm>
            <a:off x="734028" y="2773703"/>
            <a:ext cx="11095418" cy="1585049"/>
          </a:xfrm>
          <a:prstGeom prst="rect">
            <a:avLst/>
          </a:prstGeom>
          <a:noFill/>
        </p:spPr>
        <p:txBody>
          <a:bodyPr wrap="square" rtlCol="0">
            <a:spAutoFit/>
          </a:bodyPr>
          <a:lstStyle/>
          <a:p>
            <a:r>
              <a:rPr lang="en-IN" sz="2200" dirty="0"/>
              <a:t>Why These Objects Were Added</a:t>
            </a:r>
          </a:p>
          <a:p>
            <a:pPr marL="285750" lvl="0" indent="-285750">
              <a:buFont typeface="Wingdings" panose="05000000000000000000" pitchFamily="2" charset="2"/>
              <a:buChar char="Ø"/>
            </a:pPr>
            <a:r>
              <a:rPr lang="en-IN" dirty="0"/>
              <a:t>To visualize the geographical distribution of SpaceX launch sites.</a:t>
            </a:r>
          </a:p>
          <a:p>
            <a:pPr marL="285750" lvl="0" indent="-285750">
              <a:buFont typeface="Wingdings" panose="05000000000000000000" pitchFamily="2" charset="2"/>
              <a:buChar char="Ø"/>
            </a:pPr>
            <a:r>
              <a:rPr lang="en-IN" dirty="0"/>
              <a:t>To compare launch site locations and explore their positions.</a:t>
            </a:r>
          </a:p>
          <a:p>
            <a:pPr marL="285750" lvl="0" indent="-285750">
              <a:buFont typeface="Wingdings" panose="05000000000000000000" pitchFamily="2" charset="2"/>
              <a:buChar char="Ø"/>
            </a:pPr>
            <a:r>
              <a:rPr lang="en-IN" dirty="0"/>
              <a:t>To support the analysis of launch sites and Falcon 9 landing performance.</a:t>
            </a:r>
          </a:p>
          <a:p>
            <a:endParaRPr lang="en-IN" dirty="0"/>
          </a:p>
        </p:txBody>
      </p:sp>
      <p:sp>
        <p:nvSpPr>
          <p:cNvPr id="8" name="TextBox 7">
            <a:extLst>
              <a:ext uri="{FF2B5EF4-FFF2-40B4-BE49-F238E27FC236}">
                <a16:creationId xmlns:a16="http://schemas.microsoft.com/office/drawing/2014/main" id="{840D6011-D39C-0268-B463-1A0EC4D629C1}"/>
              </a:ext>
            </a:extLst>
          </p:cNvPr>
          <p:cNvSpPr txBox="1"/>
          <p:nvPr/>
        </p:nvSpPr>
        <p:spPr>
          <a:xfrm>
            <a:off x="734028" y="4066161"/>
            <a:ext cx="10112829" cy="1538883"/>
          </a:xfrm>
          <a:prstGeom prst="rect">
            <a:avLst/>
          </a:prstGeom>
          <a:noFill/>
        </p:spPr>
        <p:txBody>
          <a:bodyPr wrap="square" rtlCol="0">
            <a:spAutoFit/>
          </a:bodyPr>
          <a:lstStyle/>
          <a:p>
            <a:r>
              <a:rPr lang="en-IN" sz="2200" dirty="0">
                <a:latin typeface="Abadi" panose="020B0604020104020204" pitchFamily="34" charset="0"/>
              </a:rPr>
              <a:t>Key Objective</a:t>
            </a:r>
          </a:p>
          <a:p>
            <a:pPr marL="285750" lvl="0" indent="-285750">
              <a:buFont typeface="Wingdings" panose="05000000000000000000" pitchFamily="2" charset="2"/>
              <a:buChar char="Ø"/>
            </a:pPr>
            <a:r>
              <a:rPr lang="en-IN" dirty="0"/>
              <a:t>Create an interactive map of SpaceX launch sites.</a:t>
            </a:r>
          </a:p>
          <a:p>
            <a:pPr marL="285750" lvl="0" indent="-285750">
              <a:buFont typeface="Wingdings" panose="05000000000000000000" pitchFamily="2" charset="2"/>
              <a:buChar char="Ø"/>
            </a:pPr>
            <a:r>
              <a:rPr lang="en-IN" dirty="0"/>
              <a:t>Explore launch locations and their geographical distribution.</a:t>
            </a:r>
          </a:p>
          <a:p>
            <a:pPr marL="285750" lvl="0" indent="-285750">
              <a:buFont typeface="Wingdings" panose="05000000000000000000" pitchFamily="2" charset="2"/>
              <a:buChar char="Ø"/>
            </a:pPr>
            <a:r>
              <a:rPr lang="en-IN" dirty="0"/>
              <a:t>Understand the role of launch sites in Falcon 9 mission analysis.</a:t>
            </a:r>
          </a:p>
          <a:p>
            <a:endParaRPr lang="en-IN" dirty="0"/>
          </a:p>
        </p:txBody>
      </p:sp>
      <p:sp>
        <p:nvSpPr>
          <p:cNvPr id="10" name="TextBox 9">
            <a:extLst>
              <a:ext uri="{FF2B5EF4-FFF2-40B4-BE49-F238E27FC236}">
                <a16:creationId xmlns:a16="http://schemas.microsoft.com/office/drawing/2014/main" id="{A12DCCC1-4D22-F003-3B01-09C65FFF6DAC}"/>
              </a:ext>
            </a:extLst>
          </p:cNvPr>
          <p:cNvSpPr txBox="1"/>
          <p:nvPr/>
        </p:nvSpPr>
        <p:spPr>
          <a:xfrm>
            <a:off x="734028" y="5251101"/>
            <a:ext cx="6414560" cy="707886"/>
          </a:xfrm>
          <a:prstGeom prst="rect">
            <a:avLst/>
          </a:prstGeom>
          <a:noFill/>
        </p:spPr>
        <p:txBody>
          <a:bodyPr wrap="square" rtlCol="0">
            <a:spAutoFit/>
          </a:bodyPr>
          <a:lstStyle/>
          <a:p>
            <a:r>
              <a:rPr lang="en-IN" sz="2200" dirty="0">
                <a:latin typeface="Abadi" panose="020B0604020104020204" pitchFamily="34" charset="0"/>
              </a:rPr>
              <a:t>Tools Used</a:t>
            </a:r>
          </a:p>
          <a:p>
            <a:pPr marL="285750" indent="-285750">
              <a:buFont typeface="Wingdings" panose="05000000000000000000" pitchFamily="2" charset="2"/>
              <a:buChar char="q"/>
            </a:pPr>
            <a:r>
              <a:rPr lang="en-IN" dirty="0"/>
              <a:t> Python, Folium, Pandas, Jupyter Notebook</a:t>
            </a:r>
          </a:p>
        </p:txBody>
      </p:sp>
      <p:sp>
        <p:nvSpPr>
          <p:cNvPr id="11" name="TextBox 10">
            <a:extLst>
              <a:ext uri="{FF2B5EF4-FFF2-40B4-BE49-F238E27FC236}">
                <a16:creationId xmlns:a16="http://schemas.microsoft.com/office/drawing/2014/main" id="{56CA8116-C9AD-28B2-F014-43B177565453}"/>
              </a:ext>
            </a:extLst>
          </p:cNvPr>
          <p:cNvSpPr txBox="1"/>
          <p:nvPr/>
        </p:nvSpPr>
        <p:spPr>
          <a:xfrm>
            <a:off x="734028" y="6003404"/>
            <a:ext cx="11327344" cy="707886"/>
          </a:xfrm>
          <a:prstGeom prst="rect">
            <a:avLst/>
          </a:prstGeom>
          <a:noFill/>
        </p:spPr>
        <p:txBody>
          <a:bodyPr wrap="square" rtlCol="0">
            <a:spAutoFit/>
          </a:bodyPr>
          <a:lstStyle/>
          <a:p>
            <a:r>
              <a:rPr lang="en-US" sz="2200" dirty="0">
                <a:latin typeface="Abadi" panose="020B0604020104020204" pitchFamily="34" charset="0"/>
              </a:rPr>
              <a:t>GitHub</a:t>
            </a:r>
            <a:r>
              <a:rPr lang="en-US" dirty="0"/>
              <a:t> : </a:t>
            </a:r>
            <a:r>
              <a:rPr lang="en-US" dirty="0">
                <a:hlinkClick r:id="rId3"/>
              </a:rPr>
              <a:t>https://github.com/anatesan-01/Data-Science-Capstone--IBM/blob/main/lab-jupyter-launch-site-location-v2.ipynb</a:t>
            </a:r>
            <a:endParaRPr lang="en-IN" dirty="0"/>
          </a:p>
        </p:txBody>
      </p:sp>
    </p:spTree>
    <p:extLst>
      <p:ext uri="{BB962C8B-B14F-4D97-AF65-F5344CB8AC3E}">
        <p14:creationId xmlns:p14="http://schemas.microsoft.com/office/powerpoint/2010/main" val="1481143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p:txBody>
          <a:bodyPr/>
          <a:lstStyle/>
          <a:p>
            <a:fld id="{5075537C-CA84-1446-933C-8E9D027F9201}" type="slidenum">
              <a:rPr lang="en-US" smtClean="0"/>
              <a:t>14</a:t>
            </a:fld>
            <a:endParaRPr lang="en-US"/>
          </a:p>
        </p:txBody>
      </p:sp>
      <p:sp>
        <p:nvSpPr>
          <p:cNvPr id="3" name="Title 1">
            <a:extLst>
              <a:ext uri="{FF2B5EF4-FFF2-40B4-BE49-F238E27FC236}">
                <a16:creationId xmlns:a16="http://schemas.microsoft.com/office/drawing/2014/main" id="{519FC08B-7D2E-43A5-A528-821DCDCCCC82}"/>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Build a Dashboard with </a:t>
            </a:r>
            <a:r>
              <a:rPr lang="en-US" dirty="0" err="1">
                <a:solidFill>
                  <a:srgbClr val="0B49CB"/>
                </a:solidFill>
                <a:latin typeface="Abadi"/>
              </a:rPr>
              <a:t>Plotly</a:t>
            </a:r>
            <a:r>
              <a:rPr lang="en-US" dirty="0">
                <a:solidFill>
                  <a:srgbClr val="0B49CB"/>
                </a:solidFill>
                <a:latin typeface="Abadi"/>
              </a:rPr>
              <a:t> Dash</a:t>
            </a:r>
          </a:p>
        </p:txBody>
      </p:sp>
      <p:sp>
        <p:nvSpPr>
          <p:cNvPr id="7" name="TextBox 6">
            <a:extLst>
              <a:ext uri="{FF2B5EF4-FFF2-40B4-BE49-F238E27FC236}">
                <a16:creationId xmlns:a16="http://schemas.microsoft.com/office/drawing/2014/main" id="{79EE61FC-A97E-1627-8325-3F1E8ED96250}"/>
              </a:ext>
            </a:extLst>
          </p:cNvPr>
          <p:cNvSpPr txBox="1"/>
          <p:nvPr/>
        </p:nvSpPr>
        <p:spPr>
          <a:xfrm>
            <a:off x="770011" y="1371600"/>
            <a:ext cx="9590314" cy="1815882"/>
          </a:xfrm>
          <a:prstGeom prst="rect">
            <a:avLst/>
          </a:prstGeom>
          <a:noFill/>
        </p:spPr>
        <p:txBody>
          <a:bodyPr wrap="square" rtlCol="0">
            <a:spAutoFit/>
          </a:bodyPr>
          <a:lstStyle/>
          <a:p>
            <a:r>
              <a:rPr lang="en-IN" sz="2200" dirty="0">
                <a:latin typeface="Abadi" panose="020B0604020104020204" pitchFamily="34" charset="0"/>
              </a:rPr>
              <a:t>Plots and Interactions Used</a:t>
            </a:r>
          </a:p>
          <a:p>
            <a:pPr marL="285750" lvl="0" indent="-285750">
              <a:buFont typeface="Wingdings" panose="05000000000000000000" pitchFamily="2" charset="2"/>
              <a:buChar char="q"/>
            </a:pPr>
            <a:r>
              <a:rPr lang="en-IN" b="1" dirty="0"/>
              <a:t>Scatter Plot</a:t>
            </a:r>
            <a:r>
              <a:rPr lang="en-IN" dirty="0"/>
              <a:t>: Compared payload mass with launch outcomes to identify performance patterns.</a:t>
            </a:r>
          </a:p>
          <a:p>
            <a:pPr marL="285750" lvl="0" indent="-285750">
              <a:buFont typeface="Wingdings" panose="05000000000000000000" pitchFamily="2" charset="2"/>
              <a:buChar char="q"/>
            </a:pPr>
            <a:r>
              <a:rPr lang="en-IN" b="1" dirty="0"/>
              <a:t>Bar Chart</a:t>
            </a:r>
            <a:r>
              <a:rPr lang="en-IN" dirty="0"/>
              <a:t>: Displayed launch success rates across different launch sites.</a:t>
            </a:r>
          </a:p>
          <a:p>
            <a:pPr marL="285750" lvl="0" indent="-285750">
              <a:buFont typeface="Wingdings" panose="05000000000000000000" pitchFamily="2" charset="2"/>
              <a:buChar char="q"/>
            </a:pPr>
            <a:r>
              <a:rPr lang="en-IN" b="1" dirty="0"/>
              <a:t>Pie Chart</a:t>
            </a:r>
            <a:r>
              <a:rPr lang="en-IN" dirty="0"/>
              <a:t>: Showed the proportion of successful and unsuccessful first-stage landings.</a:t>
            </a:r>
          </a:p>
          <a:p>
            <a:pPr marL="285750" lvl="0" indent="-285750">
              <a:buFont typeface="Wingdings" panose="05000000000000000000" pitchFamily="2" charset="2"/>
              <a:buChar char="q"/>
            </a:pPr>
            <a:r>
              <a:rPr lang="en-IN" b="1" dirty="0"/>
              <a:t>Interactive Filters</a:t>
            </a:r>
            <a:r>
              <a:rPr lang="en-IN" dirty="0"/>
              <a:t>: Allowed users to select launch sites and explore the corresponding results.</a:t>
            </a:r>
          </a:p>
          <a:p>
            <a:endParaRPr lang="en-IN" dirty="0"/>
          </a:p>
        </p:txBody>
      </p:sp>
      <p:sp>
        <p:nvSpPr>
          <p:cNvPr id="8" name="TextBox 7">
            <a:extLst>
              <a:ext uri="{FF2B5EF4-FFF2-40B4-BE49-F238E27FC236}">
                <a16:creationId xmlns:a16="http://schemas.microsoft.com/office/drawing/2014/main" id="{DFE0D73D-4609-14D8-208C-F658C922C765}"/>
              </a:ext>
            </a:extLst>
          </p:cNvPr>
          <p:cNvSpPr txBox="1"/>
          <p:nvPr/>
        </p:nvSpPr>
        <p:spPr>
          <a:xfrm>
            <a:off x="770011" y="3039577"/>
            <a:ext cx="9489468" cy="1261884"/>
          </a:xfrm>
          <a:prstGeom prst="rect">
            <a:avLst/>
          </a:prstGeom>
          <a:noFill/>
        </p:spPr>
        <p:txBody>
          <a:bodyPr wrap="square" rtlCol="0">
            <a:spAutoFit/>
          </a:bodyPr>
          <a:lstStyle/>
          <a:p>
            <a:r>
              <a:rPr lang="en-IN" sz="2200" dirty="0">
                <a:latin typeface="Abadi" panose="020B0604020104020204" pitchFamily="34" charset="0"/>
              </a:rPr>
              <a:t>Why These Plots Were Added</a:t>
            </a:r>
          </a:p>
          <a:p>
            <a:pPr marL="285750" lvl="0" indent="-285750">
              <a:buFont typeface="Wingdings" panose="05000000000000000000" pitchFamily="2" charset="2"/>
              <a:buChar char="Ø"/>
            </a:pPr>
            <a:r>
              <a:rPr lang="en-IN" dirty="0"/>
              <a:t>To compare launch performance across different launch sites.</a:t>
            </a:r>
          </a:p>
          <a:p>
            <a:pPr marL="285750" lvl="0" indent="-285750">
              <a:buFont typeface="Wingdings" panose="05000000000000000000" pitchFamily="2" charset="2"/>
              <a:buChar char="Ø"/>
            </a:pPr>
            <a:r>
              <a:rPr lang="en-IN" dirty="0"/>
              <a:t>To understand the relationship between payload mass and landing success.</a:t>
            </a:r>
          </a:p>
          <a:p>
            <a:pPr marL="285750" lvl="0" indent="-285750">
              <a:buFont typeface="Wingdings" panose="05000000000000000000" pitchFamily="2" charset="2"/>
              <a:buChar char="Ø"/>
            </a:pPr>
            <a:r>
              <a:rPr lang="en-IN" dirty="0"/>
              <a:t>To explore launch outcomes interactively and identify useful patterns.</a:t>
            </a:r>
          </a:p>
        </p:txBody>
      </p:sp>
      <p:sp>
        <p:nvSpPr>
          <p:cNvPr id="9" name="TextBox 8">
            <a:extLst>
              <a:ext uri="{FF2B5EF4-FFF2-40B4-BE49-F238E27FC236}">
                <a16:creationId xmlns:a16="http://schemas.microsoft.com/office/drawing/2014/main" id="{69FC7950-E48F-614E-21D6-9E9F4C1DAC1C}"/>
              </a:ext>
            </a:extLst>
          </p:cNvPr>
          <p:cNvSpPr txBox="1"/>
          <p:nvPr/>
        </p:nvSpPr>
        <p:spPr>
          <a:xfrm>
            <a:off x="770011" y="4312347"/>
            <a:ext cx="8382000" cy="1261884"/>
          </a:xfrm>
          <a:prstGeom prst="rect">
            <a:avLst/>
          </a:prstGeom>
          <a:noFill/>
        </p:spPr>
        <p:txBody>
          <a:bodyPr wrap="square" rtlCol="0">
            <a:spAutoFit/>
          </a:bodyPr>
          <a:lstStyle/>
          <a:p>
            <a:r>
              <a:rPr lang="en-IN" sz="2200" dirty="0">
                <a:latin typeface="Abadi" panose="020B0604020104020204" pitchFamily="34" charset="0"/>
              </a:rPr>
              <a:t>Key Objective</a:t>
            </a:r>
          </a:p>
          <a:p>
            <a:pPr marL="285750" lvl="0" indent="-285750">
              <a:buFont typeface="Wingdings" panose="05000000000000000000" pitchFamily="2" charset="2"/>
              <a:buChar char="Ø"/>
            </a:pPr>
            <a:r>
              <a:rPr lang="en-IN" dirty="0"/>
              <a:t>Build an interactive dashboard to </a:t>
            </a:r>
            <a:r>
              <a:rPr lang="en-IN" dirty="0" err="1"/>
              <a:t>analyze</a:t>
            </a:r>
            <a:r>
              <a:rPr lang="en-IN" dirty="0"/>
              <a:t> Falcon 9 launch and landing performance.</a:t>
            </a:r>
          </a:p>
          <a:p>
            <a:pPr marL="285750" lvl="0" indent="-285750">
              <a:buFont typeface="Wingdings" panose="05000000000000000000" pitchFamily="2" charset="2"/>
              <a:buChar char="Ø"/>
            </a:pPr>
            <a:r>
              <a:rPr lang="en-IN" dirty="0"/>
              <a:t>Present key findings through clear visualizations and interactive filters.</a:t>
            </a:r>
          </a:p>
          <a:p>
            <a:endParaRPr lang="en-IN" dirty="0"/>
          </a:p>
        </p:txBody>
      </p:sp>
      <p:sp>
        <p:nvSpPr>
          <p:cNvPr id="10" name="TextBox 9">
            <a:extLst>
              <a:ext uri="{FF2B5EF4-FFF2-40B4-BE49-F238E27FC236}">
                <a16:creationId xmlns:a16="http://schemas.microsoft.com/office/drawing/2014/main" id="{90140190-4178-EFE9-194C-B0BF8DCDB7C0}"/>
              </a:ext>
            </a:extLst>
          </p:cNvPr>
          <p:cNvSpPr txBox="1"/>
          <p:nvPr/>
        </p:nvSpPr>
        <p:spPr>
          <a:xfrm>
            <a:off x="770011" y="5296661"/>
            <a:ext cx="8259382" cy="707886"/>
          </a:xfrm>
          <a:prstGeom prst="rect">
            <a:avLst/>
          </a:prstGeom>
          <a:noFill/>
        </p:spPr>
        <p:txBody>
          <a:bodyPr wrap="square" rtlCol="0">
            <a:spAutoFit/>
          </a:bodyPr>
          <a:lstStyle/>
          <a:p>
            <a:r>
              <a:rPr lang="en-IN" sz="2200" dirty="0">
                <a:latin typeface="Abadi" panose="020B0604020104020204" pitchFamily="34" charset="0"/>
              </a:rPr>
              <a:t>Tools Used</a:t>
            </a:r>
          </a:p>
          <a:p>
            <a:pPr marL="285750" indent="-285750">
              <a:buFont typeface="Wingdings" panose="05000000000000000000" pitchFamily="2" charset="2"/>
              <a:buChar char="q"/>
            </a:pPr>
            <a:r>
              <a:rPr lang="en-IN" dirty="0"/>
              <a:t> Python, </a:t>
            </a:r>
            <a:r>
              <a:rPr lang="en-IN" dirty="0" err="1"/>
              <a:t>Plotly</a:t>
            </a:r>
            <a:r>
              <a:rPr lang="en-IN" dirty="0"/>
              <a:t> Express, </a:t>
            </a:r>
            <a:r>
              <a:rPr lang="en-IN" dirty="0" err="1"/>
              <a:t>Plotly</a:t>
            </a:r>
            <a:r>
              <a:rPr lang="en-IN" dirty="0"/>
              <a:t> Dash, Pandas</a:t>
            </a:r>
          </a:p>
        </p:txBody>
      </p:sp>
      <p:sp>
        <p:nvSpPr>
          <p:cNvPr id="2" name="TextBox 1">
            <a:extLst>
              <a:ext uri="{FF2B5EF4-FFF2-40B4-BE49-F238E27FC236}">
                <a16:creationId xmlns:a16="http://schemas.microsoft.com/office/drawing/2014/main" id="{63D9C61C-12E3-81BA-3716-27F34BF06C23}"/>
              </a:ext>
            </a:extLst>
          </p:cNvPr>
          <p:cNvSpPr txBox="1"/>
          <p:nvPr/>
        </p:nvSpPr>
        <p:spPr>
          <a:xfrm>
            <a:off x="734028" y="6189213"/>
            <a:ext cx="10003971" cy="369332"/>
          </a:xfrm>
          <a:prstGeom prst="rect">
            <a:avLst/>
          </a:prstGeom>
          <a:noFill/>
        </p:spPr>
        <p:txBody>
          <a:bodyPr wrap="square" rtlCol="0">
            <a:spAutoFit/>
          </a:bodyPr>
          <a:lstStyle/>
          <a:p>
            <a:r>
              <a:rPr lang="en-US" dirty="0">
                <a:latin typeface="Abadi" panose="020B0604020104020204" pitchFamily="34" charset="0"/>
              </a:rPr>
              <a:t>GitHub</a:t>
            </a:r>
            <a:r>
              <a:rPr lang="en-US" dirty="0"/>
              <a:t> : </a:t>
            </a:r>
            <a:r>
              <a:rPr lang="en-US" dirty="0">
                <a:hlinkClick r:id="rId3"/>
              </a:rPr>
              <a:t>https://github.com/anatesan-01/Data-Science-Capstone--IBM/blob/main/spacex_dash_app.py</a:t>
            </a:r>
            <a:endParaRPr lang="en-IN" dirty="0"/>
          </a:p>
        </p:txBody>
      </p:sp>
    </p:spTree>
    <p:extLst>
      <p:ext uri="{BB962C8B-B14F-4D97-AF65-F5344CB8AC3E}">
        <p14:creationId xmlns:p14="http://schemas.microsoft.com/office/powerpoint/2010/main" val="334532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1B08F2-C4AD-A440-BB78-A0625E28887A}"/>
              </a:ext>
            </a:extLst>
          </p:cNvPr>
          <p:cNvSpPr>
            <a:spLocks noGrp="1"/>
          </p:cNvSpPr>
          <p:nvPr>
            <p:ph type="sldNum" sz="quarter" idx="12"/>
          </p:nvPr>
        </p:nvSpPr>
        <p:spPr/>
        <p:txBody>
          <a:bodyPr/>
          <a:lstStyle/>
          <a:p>
            <a:fld id="{5075537C-CA84-1446-933C-8E9D027F9201}" type="slidenum">
              <a:rPr lang="en-US" smtClean="0"/>
              <a:t>15</a:t>
            </a:fld>
            <a:endParaRPr lang="en-US"/>
          </a:p>
        </p:txBody>
      </p:sp>
      <p:sp>
        <p:nvSpPr>
          <p:cNvPr id="3" name="Title 1">
            <a:extLst>
              <a:ext uri="{FF2B5EF4-FFF2-40B4-BE49-F238E27FC236}">
                <a16:creationId xmlns:a16="http://schemas.microsoft.com/office/drawing/2014/main" id="{FC857EDD-A3A7-434D-B8D5-401E872498D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Predictive Analysis (Classification)</a:t>
            </a:r>
          </a:p>
        </p:txBody>
      </p:sp>
      <p:sp>
        <p:nvSpPr>
          <p:cNvPr id="7" name="TextBox 6">
            <a:extLst>
              <a:ext uri="{FF2B5EF4-FFF2-40B4-BE49-F238E27FC236}">
                <a16:creationId xmlns:a16="http://schemas.microsoft.com/office/drawing/2014/main" id="{4C53ABF3-6DFD-FF12-75AA-50D00D979E68}"/>
              </a:ext>
            </a:extLst>
          </p:cNvPr>
          <p:cNvSpPr txBox="1"/>
          <p:nvPr/>
        </p:nvSpPr>
        <p:spPr>
          <a:xfrm>
            <a:off x="770011" y="1295401"/>
            <a:ext cx="6436332" cy="4031873"/>
          </a:xfrm>
          <a:prstGeom prst="rect">
            <a:avLst/>
          </a:prstGeom>
          <a:noFill/>
        </p:spPr>
        <p:txBody>
          <a:bodyPr wrap="square" rtlCol="0">
            <a:spAutoFit/>
          </a:bodyPr>
          <a:lstStyle/>
          <a:p>
            <a:r>
              <a:rPr lang="en-IN" sz="2200" dirty="0">
                <a:latin typeface="Abadi" panose="020B0604020104020204" pitchFamily="34" charset="0"/>
              </a:rPr>
              <a:t>Model Development Process</a:t>
            </a:r>
          </a:p>
          <a:p>
            <a:pPr marL="285750" lvl="0" indent="-285750">
              <a:buFont typeface="Wingdings" panose="05000000000000000000" pitchFamily="2" charset="2"/>
              <a:buChar char="Ø"/>
            </a:pPr>
            <a:r>
              <a:rPr lang="en-IN" b="1" dirty="0"/>
              <a:t>Data Preparation</a:t>
            </a:r>
            <a:r>
              <a:rPr lang="en-IN" dirty="0"/>
              <a:t>: Split the dataset into training and testing sets and standardized the features.</a:t>
            </a:r>
          </a:p>
          <a:p>
            <a:pPr marL="285750" lvl="0" indent="-285750">
              <a:buFont typeface="Wingdings" panose="05000000000000000000" pitchFamily="2" charset="2"/>
              <a:buChar char="Ø"/>
            </a:pPr>
            <a:r>
              <a:rPr lang="en-IN" b="1" dirty="0"/>
              <a:t>Model Building</a:t>
            </a:r>
            <a:r>
              <a:rPr lang="en-IN" dirty="0"/>
              <a:t>: Trained four classification models: Logistic Regression, Support Vector Machine (SVM), Decision Tree, and K-Nearest </a:t>
            </a:r>
            <a:r>
              <a:rPr lang="en-IN" dirty="0" err="1"/>
              <a:t>Neighbors</a:t>
            </a:r>
            <a:r>
              <a:rPr lang="en-IN" dirty="0"/>
              <a:t> (KNN).</a:t>
            </a:r>
          </a:p>
          <a:p>
            <a:pPr marL="285750" lvl="0" indent="-285750">
              <a:buFont typeface="Wingdings" panose="05000000000000000000" pitchFamily="2" charset="2"/>
              <a:buChar char="Ø"/>
            </a:pPr>
            <a:r>
              <a:rPr lang="en-IN" b="1" dirty="0"/>
              <a:t>Hyperparameter Tuning</a:t>
            </a:r>
            <a:r>
              <a:rPr lang="en-IN" dirty="0"/>
              <a:t>: Used </a:t>
            </a:r>
            <a:r>
              <a:rPr lang="en-IN" dirty="0" err="1"/>
              <a:t>GridSearchCV</a:t>
            </a:r>
            <a:r>
              <a:rPr lang="en-IN" dirty="0"/>
              <a:t> with 10-fold cross-validation to find the best parameters.</a:t>
            </a:r>
          </a:p>
          <a:p>
            <a:pPr marL="285750" lvl="0" indent="-285750">
              <a:buFont typeface="Wingdings" panose="05000000000000000000" pitchFamily="2" charset="2"/>
              <a:buChar char="Ø"/>
            </a:pPr>
            <a:r>
              <a:rPr lang="en-IN" b="1" dirty="0"/>
              <a:t>Model Evaluation</a:t>
            </a:r>
            <a:r>
              <a:rPr lang="en-IN" dirty="0"/>
              <a:t>: Compared model accuracy using cross-validation scores and test data scores.</a:t>
            </a:r>
          </a:p>
          <a:p>
            <a:pPr marL="285750" lvl="0" indent="-285750">
              <a:buFont typeface="Wingdings" panose="05000000000000000000" pitchFamily="2" charset="2"/>
              <a:buChar char="Ø"/>
            </a:pPr>
            <a:r>
              <a:rPr lang="en-IN" b="1" dirty="0"/>
              <a:t>Best Model Selection</a:t>
            </a:r>
            <a:r>
              <a:rPr lang="en-IN" dirty="0"/>
              <a:t>: Logistic Regression, SVM, and KNN achieved the highest test accuracy of 83.33%, while Decision Tree achieved 61.11%.</a:t>
            </a:r>
          </a:p>
          <a:p>
            <a:endParaRPr lang="en-IN" dirty="0"/>
          </a:p>
        </p:txBody>
      </p:sp>
      <p:sp>
        <p:nvSpPr>
          <p:cNvPr id="8" name="TextBox 7">
            <a:extLst>
              <a:ext uri="{FF2B5EF4-FFF2-40B4-BE49-F238E27FC236}">
                <a16:creationId xmlns:a16="http://schemas.microsoft.com/office/drawing/2014/main" id="{67DE79DC-F003-372A-DB4F-A46C807F1D1C}"/>
              </a:ext>
            </a:extLst>
          </p:cNvPr>
          <p:cNvSpPr txBox="1"/>
          <p:nvPr/>
        </p:nvSpPr>
        <p:spPr>
          <a:xfrm>
            <a:off x="770011" y="5072176"/>
            <a:ext cx="5954486" cy="707886"/>
          </a:xfrm>
          <a:prstGeom prst="rect">
            <a:avLst/>
          </a:prstGeom>
          <a:noFill/>
        </p:spPr>
        <p:txBody>
          <a:bodyPr wrap="square" rtlCol="0">
            <a:spAutoFit/>
          </a:bodyPr>
          <a:lstStyle/>
          <a:p>
            <a:r>
              <a:rPr lang="en-IN" sz="2200" dirty="0">
                <a:latin typeface="Abadi" panose="020B0604020104020204" pitchFamily="34" charset="0"/>
              </a:rPr>
              <a:t>Tools Used</a:t>
            </a:r>
          </a:p>
          <a:p>
            <a:pPr marL="285750" indent="-285750">
              <a:buFont typeface="Wingdings" panose="05000000000000000000" pitchFamily="2" charset="2"/>
              <a:buChar char="q"/>
            </a:pPr>
            <a:r>
              <a:rPr lang="en-IN" dirty="0"/>
              <a:t> Python, Pandas, Scikit-learn, </a:t>
            </a:r>
            <a:r>
              <a:rPr lang="en-IN" dirty="0" err="1"/>
              <a:t>GridSearchCV</a:t>
            </a:r>
            <a:endParaRPr lang="en-IN" dirty="0"/>
          </a:p>
        </p:txBody>
      </p:sp>
      <p:sp>
        <p:nvSpPr>
          <p:cNvPr id="10" name="TextBox 9">
            <a:extLst>
              <a:ext uri="{FF2B5EF4-FFF2-40B4-BE49-F238E27FC236}">
                <a16:creationId xmlns:a16="http://schemas.microsoft.com/office/drawing/2014/main" id="{4CA52645-E930-FC6D-B058-303F811B55D3}"/>
              </a:ext>
            </a:extLst>
          </p:cNvPr>
          <p:cNvSpPr txBox="1"/>
          <p:nvPr/>
        </p:nvSpPr>
        <p:spPr>
          <a:xfrm>
            <a:off x="770011" y="5903226"/>
            <a:ext cx="6762903" cy="923330"/>
          </a:xfrm>
          <a:prstGeom prst="rect">
            <a:avLst/>
          </a:prstGeom>
          <a:noFill/>
        </p:spPr>
        <p:txBody>
          <a:bodyPr wrap="square" rtlCol="0">
            <a:spAutoFit/>
          </a:bodyPr>
          <a:lstStyle/>
          <a:p>
            <a:r>
              <a:rPr lang="en-US" dirty="0">
                <a:latin typeface="Abadi" panose="020B0604020104020204" pitchFamily="34" charset="0"/>
              </a:rPr>
              <a:t>GitHub</a:t>
            </a:r>
            <a:r>
              <a:rPr lang="en-US" dirty="0"/>
              <a:t> : </a:t>
            </a:r>
            <a:r>
              <a:rPr lang="en-US" dirty="0">
                <a:hlinkClick r:id="rId3"/>
              </a:rPr>
              <a:t>https://github.com/anatesan-01/Data-Science-Capstone--IBM/blob/main/SpaceX-Machine-Learning-Prediction-Part-5-v1%20(1).ipynb</a:t>
            </a:r>
            <a:endParaRPr lang="en-IN" dirty="0"/>
          </a:p>
        </p:txBody>
      </p:sp>
      <p:pic>
        <p:nvPicPr>
          <p:cNvPr id="14" name="Picture 13">
            <a:extLst>
              <a:ext uri="{FF2B5EF4-FFF2-40B4-BE49-F238E27FC236}">
                <a16:creationId xmlns:a16="http://schemas.microsoft.com/office/drawing/2014/main" id="{F133AD88-A9C8-BBFB-1687-E06DFB0B6294}"/>
              </a:ext>
            </a:extLst>
          </p:cNvPr>
          <p:cNvPicPr>
            <a:picLocks noChangeAspect="1"/>
          </p:cNvPicPr>
          <p:nvPr/>
        </p:nvPicPr>
        <p:blipFill>
          <a:blip r:embed="rId4"/>
          <a:stretch>
            <a:fillRect/>
          </a:stretch>
        </p:blipFill>
        <p:spPr>
          <a:xfrm>
            <a:off x="7391400" y="1295401"/>
            <a:ext cx="4721319" cy="5388428"/>
          </a:xfrm>
          <a:prstGeom prst="rect">
            <a:avLst/>
          </a:prstGeom>
        </p:spPr>
      </p:pic>
    </p:spTree>
    <p:extLst>
      <p:ext uri="{BB962C8B-B14F-4D97-AF65-F5344CB8AC3E}">
        <p14:creationId xmlns:p14="http://schemas.microsoft.com/office/powerpoint/2010/main" val="18137112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D45C363-925C-9E48-86B0-27D7D36E50D6}"/>
              </a:ext>
            </a:extLst>
          </p:cNvPr>
          <p:cNvSpPr>
            <a:spLocks noGrp="1"/>
          </p:cNvSpPr>
          <p:nvPr>
            <p:ph type="sldNum" sz="quarter" idx="12"/>
          </p:nvPr>
        </p:nvSpPr>
        <p:spPr/>
        <p:txBody>
          <a:bodyPr/>
          <a:lstStyle/>
          <a:p>
            <a:fld id="{5075537C-CA84-1446-933C-8E9D027F9201}" type="slidenum">
              <a:rPr lang="en-US" smtClean="0"/>
              <a:t>16</a:t>
            </a:fld>
            <a:endParaRPr lang="en-US"/>
          </a:p>
        </p:txBody>
      </p:sp>
      <p:sp>
        <p:nvSpPr>
          <p:cNvPr id="7" name="Title 1">
            <a:extLst>
              <a:ext uri="{FF2B5EF4-FFF2-40B4-BE49-F238E27FC236}">
                <a16:creationId xmlns:a16="http://schemas.microsoft.com/office/drawing/2014/main" id="{330F9542-6794-4F57-BB45-868D94AD06B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Results</a:t>
            </a:r>
            <a:endParaRPr lang="en-US" dirty="0">
              <a:solidFill>
                <a:srgbClr val="0B49CB"/>
              </a:solidFill>
            </a:endParaRPr>
          </a:p>
        </p:txBody>
      </p:sp>
      <p:sp>
        <p:nvSpPr>
          <p:cNvPr id="2" name="TextBox 1">
            <a:extLst>
              <a:ext uri="{FF2B5EF4-FFF2-40B4-BE49-F238E27FC236}">
                <a16:creationId xmlns:a16="http://schemas.microsoft.com/office/drawing/2014/main" id="{15FC1496-3C25-35E5-3C28-5334203D0A0F}"/>
              </a:ext>
            </a:extLst>
          </p:cNvPr>
          <p:cNvSpPr txBox="1"/>
          <p:nvPr/>
        </p:nvSpPr>
        <p:spPr>
          <a:xfrm>
            <a:off x="676366" y="1241552"/>
            <a:ext cx="4434114" cy="1815882"/>
          </a:xfrm>
          <a:prstGeom prst="rect">
            <a:avLst/>
          </a:prstGeom>
          <a:noFill/>
        </p:spPr>
        <p:txBody>
          <a:bodyPr wrap="square" rtlCol="0">
            <a:spAutoFit/>
          </a:bodyPr>
          <a:lstStyle/>
          <a:p>
            <a:r>
              <a:rPr lang="en-IN" sz="2000" dirty="0">
                <a:latin typeface="Abadi" panose="020B0604020104020204" pitchFamily="34" charset="0"/>
              </a:rPr>
              <a:t>EDA Results</a:t>
            </a:r>
          </a:p>
          <a:p>
            <a:pPr marL="285750" lvl="0" indent="-285750">
              <a:buFont typeface="Wingdings" panose="05000000000000000000" pitchFamily="2" charset="2"/>
              <a:buChar char="Ø"/>
            </a:pPr>
            <a:r>
              <a:rPr lang="en-IN" dirty="0"/>
              <a:t>Identified launch success patterns based on payload mass, launch site, orbit type, and flight number.</a:t>
            </a:r>
          </a:p>
          <a:p>
            <a:pPr marL="285750" lvl="0" indent="-285750">
              <a:buFont typeface="Wingdings" panose="05000000000000000000" pitchFamily="2" charset="2"/>
              <a:buChar char="Ø"/>
            </a:pPr>
            <a:r>
              <a:rPr lang="en-IN" dirty="0"/>
              <a:t>Observed an overall upward trend in landing success across the years.</a:t>
            </a:r>
          </a:p>
        </p:txBody>
      </p:sp>
      <p:sp>
        <p:nvSpPr>
          <p:cNvPr id="9" name="TextBox 8">
            <a:extLst>
              <a:ext uri="{FF2B5EF4-FFF2-40B4-BE49-F238E27FC236}">
                <a16:creationId xmlns:a16="http://schemas.microsoft.com/office/drawing/2014/main" id="{3E070646-09ED-9C87-D2E1-3864640D498E}"/>
              </a:ext>
            </a:extLst>
          </p:cNvPr>
          <p:cNvSpPr txBox="1"/>
          <p:nvPr/>
        </p:nvSpPr>
        <p:spPr>
          <a:xfrm>
            <a:off x="676366" y="2914218"/>
            <a:ext cx="4127109" cy="2092881"/>
          </a:xfrm>
          <a:prstGeom prst="rect">
            <a:avLst/>
          </a:prstGeom>
          <a:noFill/>
        </p:spPr>
        <p:txBody>
          <a:bodyPr wrap="square" rtlCol="0">
            <a:spAutoFit/>
          </a:bodyPr>
          <a:lstStyle/>
          <a:p>
            <a:r>
              <a:rPr lang="en-IN" sz="2000" dirty="0">
                <a:latin typeface="Abadi" panose="020B0604020104020204" pitchFamily="34" charset="0"/>
              </a:rPr>
              <a:t>Interactive Analytics Results</a:t>
            </a:r>
          </a:p>
          <a:p>
            <a:pPr marL="285750" lvl="0" indent="-285750">
              <a:buFont typeface="Wingdings" panose="05000000000000000000" pitchFamily="2" charset="2"/>
              <a:buChar char="Ø"/>
            </a:pPr>
            <a:r>
              <a:rPr lang="en-IN" dirty="0"/>
              <a:t>Created a Folium map to visualize SpaceX launch site locations.</a:t>
            </a:r>
          </a:p>
          <a:p>
            <a:pPr marL="285750" lvl="0" indent="-285750">
              <a:buFont typeface="Wingdings" panose="05000000000000000000" pitchFamily="2" charset="2"/>
              <a:buChar char="Ø"/>
            </a:pPr>
            <a:r>
              <a:rPr lang="en-IN" dirty="0"/>
              <a:t>Developed a </a:t>
            </a:r>
            <a:r>
              <a:rPr lang="en-IN" dirty="0" err="1"/>
              <a:t>Plotly</a:t>
            </a:r>
            <a:r>
              <a:rPr lang="en-IN" dirty="0"/>
              <a:t> Dash dashboard to explore launch performance using interactive charts and filters.</a:t>
            </a:r>
          </a:p>
          <a:p>
            <a:endParaRPr lang="en-IN" dirty="0"/>
          </a:p>
        </p:txBody>
      </p:sp>
      <p:sp>
        <p:nvSpPr>
          <p:cNvPr id="10" name="TextBox 9">
            <a:extLst>
              <a:ext uri="{FF2B5EF4-FFF2-40B4-BE49-F238E27FC236}">
                <a16:creationId xmlns:a16="http://schemas.microsoft.com/office/drawing/2014/main" id="{51EAE275-1A9D-31DE-F1F4-7C01D0F9126B}"/>
              </a:ext>
            </a:extLst>
          </p:cNvPr>
          <p:cNvSpPr txBox="1"/>
          <p:nvPr/>
        </p:nvSpPr>
        <p:spPr>
          <a:xfrm>
            <a:off x="676366" y="4538762"/>
            <a:ext cx="4434114" cy="2646878"/>
          </a:xfrm>
          <a:prstGeom prst="rect">
            <a:avLst/>
          </a:prstGeom>
          <a:noFill/>
        </p:spPr>
        <p:txBody>
          <a:bodyPr wrap="square" rtlCol="0">
            <a:spAutoFit/>
          </a:bodyPr>
          <a:lstStyle/>
          <a:p>
            <a:r>
              <a:rPr lang="en-IN" sz="2000" dirty="0">
                <a:latin typeface="Abadi" panose="020B0604020104020204" pitchFamily="34" charset="0"/>
              </a:rPr>
              <a:t>Predictive Analysis Results</a:t>
            </a:r>
          </a:p>
          <a:p>
            <a:pPr marL="285750" lvl="0" indent="-285750">
              <a:buFont typeface="Wingdings" panose="05000000000000000000" pitchFamily="2" charset="2"/>
              <a:buChar char="Ø"/>
            </a:pPr>
            <a:r>
              <a:rPr lang="en-IN" dirty="0"/>
              <a:t>Evaluated Logistic Regression, SVM, Decision Tree, and KNN models.</a:t>
            </a:r>
          </a:p>
          <a:p>
            <a:pPr marL="285750" lvl="0" indent="-285750">
              <a:buFont typeface="Wingdings" panose="05000000000000000000" pitchFamily="2" charset="2"/>
              <a:buChar char="Ø"/>
            </a:pPr>
            <a:r>
              <a:rPr lang="en-IN" dirty="0"/>
              <a:t>Logistic Regression, SVM, and KNN achieved the highest test accuracy of 83.33%.</a:t>
            </a:r>
          </a:p>
          <a:p>
            <a:pPr marL="285750" lvl="0" indent="-285750">
              <a:buFont typeface="Wingdings" panose="05000000000000000000" pitchFamily="2" charset="2"/>
              <a:buChar char="Ø"/>
            </a:pPr>
            <a:r>
              <a:rPr lang="en-IN" dirty="0"/>
              <a:t>Decision Tree achieved a test accuracy of 61.11%.</a:t>
            </a:r>
          </a:p>
          <a:p>
            <a:endParaRPr lang="en-IN" dirty="0"/>
          </a:p>
        </p:txBody>
      </p:sp>
      <p:pic>
        <p:nvPicPr>
          <p:cNvPr id="12" name="Picture 11">
            <a:extLst>
              <a:ext uri="{FF2B5EF4-FFF2-40B4-BE49-F238E27FC236}">
                <a16:creationId xmlns:a16="http://schemas.microsoft.com/office/drawing/2014/main" id="{EF4D42CF-5523-CD5B-51AD-0BC8A63C5BEB}"/>
              </a:ext>
            </a:extLst>
          </p:cNvPr>
          <p:cNvPicPr>
            <a:picLocks noChangeAspect="1"/>
          </p:cNvPicPr>
          <p:nvPr/>
        </p:nvPicPr>
        <p:blipFill>
          <a:blip r:embed="rId4"/>
          <a:stretch>
            <a:fillRect/>
          </a:stretch>
        </p:blipFill>
        <p:spPr>
          <a:xfrm>
            <a:off x="5110480" y="1464395"/>
            <a:ext cx="6618514" cy="2244005"/>
          </a:xfrm>
          <a:prstGeom prst="rect">
            <a:avLst/>
          </a:prstGeom>
        </p:spPr>
      </p:pic>
      <p:pic>
        <p:nvPicPr>
          <p:cNvPr id="14" name="Picture 13">
            <a:extLst>
              <a:ext uri="{FF2B5EF4-FFF2-40B4-BE49-F238E27FC236}">
                <a16:creationId xmlns:a16="http://schemas.microsoft.com/office/drawing/2014/main" id="{2B72FEA1-7CCB-D043-709C-D11864E5B684}"/>
              </a:ext>
            </a:extLst>
          </p:cNvPr>
          <p:cNvPicPr>
            <a:picLocks noChangeAspect="1"/>
          </p:cNvPicPr>
          <p:nvPr/>
        </p:nvPicPr>
        <p:blipFill>
          <a:blip r:embed="rId5"/>
          <a:stretch>
            <a:fillRect/>
          </a:stretch>
        </p:blipFill>
        <p:spPr>
          <a:xfrm>
            <a:off x="5110480" y="3780333"/>
            <a:ext cx="6618514" cy="2646878"/>
          </a:xfrm>
          <a:prstGeom prst="rect">
            <a:avLst/>
          </a:prstGeom>
        </p:spPr>
      </p:pic>
    </p:spTree>
    <p:extLst>
      <p:ext uri="{BB962C8B-B14F-4D97-AF65-F5344CB8AC3E}">
        <p14:creationId xmlns:p14="http://schemas.microsoft.com/office/powerpoint/2010/main" val="321008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18B93D-8F11-6347-95EE-BF68474E5B1F}"/>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2</a:t>
            </a:r>
          </a:p>
        </p:txBody>
      </p:sp>
    </p:spTree>
    <p:extLst>
      <p:ext uri="{BB962C8B-B14F-4D97-AF65-F5344CB8AC3E}">
        <p14:creationId xmlns:p14="http://schemas.microsoft.com/office/powerpoint/2010/main" val="1782706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18</a:t>
            </a:fld>
            <a:endParaRPr lang="en-US"/>
          </a:p>
        </p:txBody>
      </p:sp>
      <p:sp>
        <p:nvSpPr>
          <p:cNvPr id="4" name="Title 1">
            <a:extLst>
              <a:ext uri="{FF2B5EF4-FFF2-40B4-BE49-F238E27FC236}">
                <a16:creationId xmlns:a16="http://schemas.microsoft.com/office/drawing/2014/main" id="{54F4FCC5-6E7E-4FF0-BE45-680EEC392C9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Flight Number vs. Launch Site</a:t>
            </a:r>
            <a:endParaRPr lang="en-US" dirty="0">
              <a:solidFill>
                <a:srgbClr val="0B49CB"/>
              </a:solidFill>
            </a:endParaRPr>
          </a:p>
        </p:txBody>
      </p:sp>
      <p:sp>
        <p:nvSpPr>
          <p:cNvPr id="8" name="TextBox 7">
            <a:extLst>
              <a:ext uri="{FF2B5EF4-FFF2-40B4-BE49-F238E27FC236}">
                <a16:creationId xmlns:a16="http://schemas.microsoft.com/office/drawing/2014/main" id="{7B2B5796-D536-CD20-9B8A-92ED3FBEA83B}"/>
              </a:ext>
            </a:extLst>
          </p:cNvPr>
          <p:cNvSpPr txBox="1"/>
          <p:nvPr/>
        </p:nvSpPr>
        <p:spPr>
          <a:xfrm>
            <a:off x="770011" y="1458686"/>
            <a:ext cx="5682343" cy="2369880"/>
          </a:xfrm>
          <a:prstGeom prst="rect">
            <a:avLst/>
          </a:prstGeom>
          <a:noFill/>
        </p:spPr>
        <p:txBody>
          <a:bodyPr wrap="square" rtlCol="0">
            <a:spAutoFit/>
          </a:bodyPr>
          <a:lstStyle/>
          <a:p>
            <a:r>
              <a:rPr lang="en-IN" sz="2200" dirty="0">
                <a:latin typeface="Abadi" panose="020B0604020104020204" pitchFamily="34" charset="0"/>
              </a:rPr>
              <a:t>Scatter Plot Analysis</a:t>
            </a:r>
          </a:p>
          <a:p>
            <a:pPr marL="285750" lvl="0" indent="-285750">
              <a:buFont typeface="Wingdings" panose="05000000000000000000" pitchFamily="2" charset="2"/>
              <a:buChar char="Ø"/>
            </a:pPr>
            <a:r>
              <a:rPr lang="en-IN" dirty="0"/>
              <a:t>The scatter plot shows the </a:t>
            </a:r>
            <a:r>
              <a:rPr lang="en-IN" b="1" dirty="0"/>
              <a:t>relationship</a:t>
            </a:r>
            <a:r>
              <a:rPr lang="en-IN" dirty="0"/>
              <a:t> between flight number and launch site.</a:t>
            </a:r>
          </a:p>
          <a:p>
            <a:pPr marL="285750" lvl="0" indent="-285750">
              <a:buFont typeface="Wingdings" panose="05000000000000000000" pitchFamily="2" charset="2"/>
              <a:buChar char="Ø"/>
            </a:pPr>
            <a:r>
              <a:rPr lang="en-IN" dirty="0"/>
              <a:t>Different </a:t>
            </a:r>
            <a:r>
              <a:rPr lang="en-IN" dirty="0" err="1"/>
              <a:t>color</a:t>
            </a:r>
            <a:r>
              <a:rPr lang="en-IN" dirty="0"/>
              <a:t> represent landing outcomes: </a:t>
            </a:r>
            <a:r>
              <a:rPr lang="en-IN" b="1" dirty="0"/>
              <a:t>Class 0 </a:t>
            </a:r>
            <a:r>
              <a:rPr lang="en-IN" dirty="0"/>
              <a:t>(unsuccessful landing) and </a:t>
            </a:r>
            <a:r>
              <a:rPr lang="en-IN" b="1" dirty="0"/>
              <a:t>Class 1 </a:t>
            </a:r>
            <a:r>
              <a:rPr lang="en-IN" dirty="0"/>
              <a:t>(successful landing).</a:t>
            </a:r>
          </a:p>
          <a:p>
            <a:pPr marL="285750" lvl="0" indent="-285750">
              <a:buFont typeface="Wingdings" panose="05000000000000000000" pitchFamily="2" charset="2"/>
              <a:buChar char="Ø"/>
            </a:pPr>
            <a:r>
              <a:rPr lang="en-IN" dirty="0"/>
              <a:t>Launch sites include CCAFS SLC-40, VAFB SLC-4E, and KSC LC-39A.</a:t>
            </a:r>
          </a:p>
          <a:p>
            <a:endParaRPr lang="en-IN" dirty="0"/>
          </a:p>
        </p:txBody>
      </p:sp>
      <p:sp>
        <p:nvSpPr>
          <p:cNvPr id="11" name="TextBox 10">
            <a:extLst>
              <a:ext uri="{FF2B5EF4-FFF2-40B4-BE49-F238E27FC236}">
                <a16:creationId xmlns:a16="http://schemas.microsoft.com/office/drawing/2014/main" id="{2C56B8F0-AF5E-EFCC-DF3F-9A89DF3E3DF3}"/>
              </a:ext>
            </a:extLst>
          </p:cNvPr>
          <p:cNvSpPr txBox="1"/>
          <p:nvPr/>
        </p:nvSpPr>
        <p:spPr>
          <a:xfrm>
            <a:off x="6281057" y="1320187"/>
            <a:ext cx="5910943" cy="2646878"/>
          </a:xfrm>
          <a:prstGeom prst="rect">
            <a:avLst/>
          </a:prstGeom>
          <a:noFill/>
        </p:spPr>
        <p:txBody>
          <a:bodyPr wrap="square" rtlCol="0">
            <a:spAutoFit/>
          </a:bodyPr>
          <a:lstStyle/>
          <a:p>
            <a:r>
              <a:rPr lang="en-IN" sz="2200" dirty="0"/>
              <a:t>Key Observations</a:t>
            </a:r>
          </a:p>
          <a:p>
            <a:pPr marL="285750" lvl="0" indent="-285750">
              <a:buFont typeface="Wingdings" panose="05000000000000000000" pitchFamily="2" charset="2"/>
              <a:buChar char="Ø"/>
            </a:pPr>
            <a:r>
              <a:rPr lang="en-IN" dirty="0"/>
              <a:t>CCAFS SLC-40 has the largest number of launches in the plot.</a:t>
            </a:r>
          </a:p>
          <a:p>
            <a:pPr marL="285750" lvl="0" indent="-285750">
              <a:buFont typeface="Wingdings" panose="05000000000000000000" pitchFamily="2" charset="2"/>
              <a:buChar char="Ø"/>
            </a:pPr>
            <a:r>
              <a:rPr lang="en-IN" dirty="0"/>
              <a:t>Both successful and unsuccessful landing outcomes occur across different flight numbers and launch sites.</a:t>
            </a:r>
          </a:p>
          <a:p>
            <a:pPr marL="285750" lvl="0" indent="-285750">
              <a:buFont typeface="Wingdings" panose="05000000000000000000" pitchFamily="2" charset="2"/>
              <a:buChar char="Ø"/>
            </a:pPr>
            <a:r>
              <a:rPr lang="en-IN" dirty="0"/>
              <a:t>The plot helps compare landing performance across launch sites and identify patterns as flight experience increases.</a:t>
            </a:r>
          </a:p>
          <a:p>
            <a:endParaRPr lang="en-IN" dirty="0"/>
          </a:p>
        </p:txBody>
      </p:sp>
      <p:pic>
        <p:nvPicPr>
          <p:cNvPr id="13" name="Picture 12">
            <a:extLst>
              <a:ext uri="{FF2B5EF4-FFF2-40B4-BE49-F238E27FC236}">
                <a16:creationId xmlns:a16="http://schemas.microsoft.com/office/drawing/2014/main" id="{12D29821-4D95-6E95-0E52-B864091F855B}"/>
              </a:ext>
            </a:extLst>
          </p:cNvPr>
          <p:cNvPicPr>
            <a:picLocks noChangeAspect="1"/>
          </p:cNvPicPr>
          <p:nvPr/>
        </p:nvPicPr>
        <p:blipFill>
          <a:blip r:embed="rId3"/>
          <a:stretch>
            <a:fillRect/>
          </a:stretch>
        </p:blipFill>
        <p:spPr>
          <a:xfrm>
            <a:off x="97971" y="3828566"/>
            <a:ext cx="12025840" cy="1771445"/>
          </a:xfrm>
          <a:prstGeom prst="rect">
            <a:avLst/>
          </a:prstGeom>
        </p:spPr>
      </p:pic>
      <p:sp>
        <p:nvSpPr>
          <p:cNvPr id="14" name="TextBox 13">
            <a:extLst>
              <a:ext uri="{FF2B5EF4-FFF2-40B4-BE49-F238E27FC236}">
                <a16:creationId xmlns:a16="http://schemas.microsoft.com/office/drawing/2014/main" id="{B20E326C-102C-C1C3-F988-CA0A3E39A1C7}"/>
              </a:ext>
            </a:extLst>
          </p:cNvPr>
          <p:cNvSpPr txBox="1"/>
          <p:nvPr/>
        </p:nvSpPr>
        <p:spPr>
          <a:xfrm>
            <a:off x="925286" y="5900057"/>
            <a:ext cx="10134600" cy="430887"/>
          </a:xfrm>
          <a:prstGeom prst="rect">
            <a:avLst/>
          </a:prstGeom>
          <a:noFill/>
        </p:spPr>
        <p:txBody>
          <a:bodyPr wrap="square" rtlCol="0">
            <a:spAutoFit/>
          </a:bodyPr>
          <a:lstStyle/>
          <a:p>
            <a:r>
              <a:rPr lang="en-IN" sz="2200" dirty="0">
                <a:latin typeface="Abadi" panose="020B0604020104020204" pitchFamily="34" charset="0"/>
              </a:rPr>
              <a:t>Conclusion</a:t>
            </a:r>
            <a:r>
              <a:rPr lang="en-IN" dirty="0"/>
              <a:t>: Flight number and launch site help explore patterns in Falcon 9 first-stage landing success.</a:t>
            </a:r>
          </a:p>
        </p:txBody>
      </p:sp>
    </p:spTree>
    <p:extLst>
      <p:ext uri="{BB962C8B-B14F-4D97-AF65-F5344CB8AC3E}">
        <p14:creationId xmlns:p14="http://schemas.microsoft.com/office/powerpoint/2010/main" val="38656059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19</a:t>
            </a:fld>
            <a:endParaRPr lang="en-US" dirty="0"/>
          </a:p>
        </p:txBody>
      </p:sp>
      <p:sp>
        <p:nvSpPr>
          <p:cNvPr id="4" name="Title 1">
            <a:extLst>
              <a:ext uri="{FF2B5EF4-FFF2-40B4-BE49-F238E27FC236}">
                <a16:creationId xmlns:a16="http://schemas.microsoft.com/office/drawing/2014/main" id="{B6CCD949-E788-4375-9B07-478FA5684BC1}"/>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vs. Launch Site</a:t>
            </a:r>
          </a:p>
        </p:txBody>
      </p:sp>
      <p:sp>
        <p:nvSpPr>
          <p:cNvPr id="2" name="TextBox 1">
            <a:extLst>
              <a:ext uri="{FF2B5EF4-FFF2-40B4-BE49-F238E27FC236}">
                <a16:creationId xmlns:a16="http://schemas.microsoft.com/office/drawing/2014/main" id="{353881BF-DA13-0D0E-7829-5030E6177DC3}"/>
              </a:ext>
            </a:extLst>
          </p:cNvPr>
          <p:cNvSpPr txBox="1"/>
          <p:nvPr/>
        </p:nvSpPr>
        <p:spPr>
          <a:xfrm>
            <a:off x="674915" y="1357891"/>
            <a:ext cx="5889171" cy="2092881"/>
          </a:xfrm>
          <a:prstGeom prst="rect">
            <a:avLst/>
          </a:prstGeom>
          <a:noFill/>
        </p:spPr>
        <p:txBody>
          <a:bodyPr wrap="square" rtlCol="0">
            <a:spAutoFit/>
          </a:bodyPr>
          <a:lstStyle/>
          <a:p>
            <a:r>
              <a:rPr lang="en-IN" sz="2200" dirty="0"/>
              <a:t>Scatter Plot Analysis</a:t>
            </a:r>
          </a:p>
          <a:p>
            <a:pPr marL="285750" lvl="0" indent="-285750">
              <a:buFont typeface="Wingdings" panose="05000000000000000000" pitchFamily="2" charset="2"/>
              <a:buChar char="Ø"/>
            </a:pPr>
            <a:r>
              <a:rPr lang="en-IN" dirty="0"/>
              <a:t>The scatter plot </a:t>
            </a:r>
            <a:r>
              <a:rPr lang="en-IN" b="1" dirty="0"/>
              <a:t>compares</a:t>
            </a:r>
            <a:r>
              <a:rPr lang="en-IN" dirty="0"/>
              <a:t> payload mass (kg) across different SpaceX launch sites.</a:t>
            </a:r>
          </a:p>
          <a:p>
            <a:pPr marL="285750" lvl="0" indent="-285750">
              <a:buFont typeface="Wingdings" panose="05000000000000000000" pitchFamily="2" charset="2"/>
              <a:buChar char="Ø"/>
            </a:pPr>
            <a:r>
              <a:rPr lang="en-IN" dirty="0"/>
              <a:t>It helps examine how payload mass varies between CCAFS SLC-40, VAFB SLC-4E, and KSC LC-39A.</a:t>
            </a:r>
          </a:p>
          <a:p>
            <a:pPr marL="285750" lvl="0" indent="-285750">
              <a:buFont typeface="Wingdings" panose="05000000000000000000" pitchFamily="2" charset="2"/>
              <a:buChar char="Ø"/>
            </a:pPr>
            <a:r>
              <a:rPr lang="en-IN" dirty="0"/>
              <a:t>The distribution of data points helps identify differences in payload mass handled by each launch site.</a:t>
            </a:r>
          </a:p>
        </p:txBody>
      </p:sp>
      <p:sp>
        <p:nvSpPr>
          <p:cNvPr id="6" name="TextBox 5">
            <a:extLst>
              <a:ext uri="{FF2B5EF4-FFF2-40B4-BE49-F238E27FC236}">
                <a16:creationId xmlns:a16="http://schemas.microsoft.com/office/drawing/2014/main" id="{7AF3E296-AA53-6E05-85DB-922AFD742674}"/>
              </a:ext>
            </a:extLst>
          </p:cNvPr>
          <p:cNvSpPr txBox="1"/>
          <p:nvPr/>
        </p:nvSpPr>
        <p:spPr>
          <a:xfrm>
            <a:off x="674915" y="3450772"/>
            <a:ext cx="5965371" cy="2369880"/>
          </a:xfrm>
          <a:prstGeom prst="rect">
            <a:avLst/>
          </a:prstGeom>
          <a:noFill/>
        </p:spPr>
        <p:txBody>
          <a:bodyPr wrap="square" rtlCol="0">
            <a:spAutoFit/>
          </a:bodyPr>
          <a:lstStyle/>
          <a:p>
            <a:r>
              <a:rPr lang="en-IN" sz="2200" dirty="0">
                <a:latin typeface="Abadi" panose="020B0604020104020204" pitchFamily="34" charset="0"/>
              </a:rPr>
              <a:t>Key Observations</a:t>
            </a:r>
          </a:p>
          <a:p>
            <a:pPr marL="285750" lvl="0" indent="-285750">
              <a:buFont typeface="Wingdings" panose="05000000000000000000" pitchFamily="2" charset="2"/>
              <a:buChar char="Ø"/>
            </a:pPr>
            <a:r>
              <a:rPr lang="en-IN" dirty="0"/>
              <a:t>CCAFS SLC-40 has payloads across a </a:t>
            </a:r>
            <a:r>
              <a:rPr lang="en-IN" b="1" dirty="0"/>
              <a:t>wide range</a:t>
            </a:r>
            <a:r>
              <a:rPr lang="en-IN" dirty="0"/>
              <a:t>, including some of the </a:t>
            </a:r>
            <a:r>
              <a:rPr lang="en-IN" b="1" dirty="0"/>
              <a:t>heavies</a:t>
            </a:r>
            <a:r>
              <a:rPr lang="en-IN" dirty="0"/>
              <a:t>t payloads.</a:t>
            </a:r>
          </a:p>
          <a:p>
            <a:pPr marL="285750" lvl="0" indent="-285750">
              <a:buFont typeface="Wingdings" panose="05000000000000000000" pitchFamily="2" charset="2"/>
              <a:buChar char="Ø"/>
            </a:pPr>
            <a:r>
              <a:rPr lang="en-IN" dirty="0"/>
              <a:t>VAFB SLC-4E has </a:t>
            </a:r>
            <a:r>
              <a:rPr lang="en-IN" b="1" dirty="0"/>
              <a:t>fewer data points </a:t>
            </a:r>
            <a:r>
              <a:rPr lang="en-IN" dirty="0"/>
              <a:t>than the other launch sites.</a:t>
            </a:r>
          </a:p>
          <a:p>
            <a:pPr marL="285750" lvl="0" indent="-285750">
              <a:buFont typeface="Wingdings" panose="05000000000000000000" pitchFamily="2" charset="2"/>
              <a:buChar char="Ø"/>
            </a:pPr>
            <a:r>
              <a:rPr lang="en-IN" dirty="0"/>
              <a:t>KSC LC-39A includes both successful and unsuccessful landing outcomes across different payload masses.</a:t>
            </a:r>
          </a:p>
          <a:p>
            <a:endParaRPr lang="en-IN" dirty="0"/>
          </a:p>
        </p:txBody>
      </p:sp>
      <p:sp>
        <p:nvSpPr>
          <p:cNvPr id="7" name="TextBox 6">
            <a:extLst>
              <a:ext uri="{FF2B5EF4-FFF2-40B4-BE49-F238E27FC236}">
                <a16:creationId xmlns:a16="http://schemas.microsoft.com/office/drawing/2014/main" id="{09778EE4-FE36-AB25-6C12-E39C1C6FD561}"/>
              </a:ext>
            </a:extLst>
          </p:cNvPr>
          <p:cNvSpPr txBox="1"/>
          <p:nvPr/>
        </p:nvSpPr>
        <p:spPr>
          <a:xfrm>
            <a:off x="674915" y="5734418"/>
            <a:ext cx="10559142" cy="430887"/>
          </a:xfrm>
          <a:prstGeom prst="rect">
            <a:avLst/>
          </a:prstGeom>
          <a:noFill/>
        </p:spPr>
        <p:txBody>
          <a:bodyPr wrap="square" rtlCol="0">
            <a:spAutoFit/>
          </a:bodyPr>
          <a:lstStyle/>
          <a:p>
            <a:r>
              <a:rPr lang="en-IN" sz="2200" dirty="0">
                <a:latin typeface="Abadi" panose="020B0604020104020204" pitchFamily="34" charset="0"/>
              </a:rPr>
              <a:t>Conclusion</a:t>
            </a:r>
            <a:r>
              <a:rPr lang="en-IN" dirty="0"/>
              <a:t>: Payload mass and launch site help us explore patterns in Falcon 9 first-stage landing success.</a:t>
            </a:r>
          </a:p>
        </p:txBody>
      </p:sp>
      <p:pic>
        <p:nvPicPr>
          <p:cNvPr id="9" name="Picture 8">
            <a:extLst>
              <a:ext uri="{FF2B5EF4-FFF2-40B4-BE49-F238E27FC236}">
                <a16:creationId xmlns:a16="http://schemas.microsoft.com/office/drawing/2014/main" id="{8CE24E89-A7FA-B7E9-CA22-0505CD08BEA0}"/>
              </a:ext>
            </a:extLst>
          </p:cNvPr>
          <p:cNvPicPr>
            <a:picLocks noChangeAspect="1"/>
          </p:cNvPicPr>
          <p:nvPr/>
        </p:nvPicPr>
        <p:blipFill>
          <a:blip r:embed="rId3"/>
          <a:stretch>
            <a:fillRect/>
          </a:stretch>
        </p:blipFill>
        <p:spPr>
          <a:xfrm>
            <a:off x="6640286" y="1510609"/>
            <a:ext cx="5525159" cy="4078232"/>
          </a:xfrm>
          <a:prstGeom prst="rect">
            <a:avLst/>
          </a:prstGeom>
        </p:spPr>
      </p:pic>
    </p:spTree>
    <p:extLst>
      <p:ext uri="{BB962C8B-B14F-4D97-AF65-F5344CB8AC3E}">
        <p14:creationId xmlns:p14="http://schemas.microsoft.com/office/powerpoint/2010/main" val="38697892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20</a:t>
            </a:fld>
            <a:endParaRPr lang="en-US"/>
          </a:p>
        </p:txBody>
      </p:sp>
      <p:sp>
        <p:nvSpPr>
          <p:cNvPr id="4" name="Title 1">
            <a:extLst>
              <a:ext uri="{FF2B5EF4-FFF2-40B4-BE49-F238E27FC236}">
                <a16:creationId xmlns:a16="http://schemas.microsoft.com/office/drawing/2014/main" id="{D4811A61-F7FB-4B19-9ED1-E0E2554A5BE8}"/>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Success Rate vs. Orbit Type</a:t>
            </a:r>
            <a:endParaRPr lang="en-US" dirty="0">
              <a:solidFill>
                <a:srgbClr val="0B49CB"/>
              </a:solidFill>
            </a:endParaRPr>
          </a:p>
        </p:txBody>
      </p:sp>
      <p:sp>
        <p:nvSpPr>
          <p:cNvPr id="6" name="TextBox 5">
            <a:extLst>
              <a:ext uri="{FF2B5EF4-FFF2-40B4-BE49-F238E27FC236}">
                <a16:creationId xmlns:a16="http://schemas.microsoft.com/office/drawing/2014/main" id="{07679E2E-CE79-809A-2254-4ED0C96BD183}"/>
              </a:ext>
            </a:extLst>
          </p:cNvPr>
          <p:cNvSpPr txBox="1"/>
          <p:nvPr/>
        </p:nvSpPr>
        <p:spPr>
          <a:xfrm>
            <a:off x="770011" y="1393371"/>
            <a:ext cx="5783189" cy="2369880"/>
          </a:xfrm>
          <a:prstGeom prst="rect">
            <a:avLst/>
          </a:prstGeom>
          <a:noFill/>
        </p:spPr>
        <p:txBody>
          <a:bodyPr wrap="square" rtlCol="0">
            <a:spAutoFit/>
          </a:bodyPr>
          <a:lstStyle/>
          <a:p>
            <a:r>
              <a:rPr lang="en-IN" sz="2200" dirty="0">
                <a:latin typeface="Abadi" panose="020B0604020104020204" pitchFamily="34" charset="0"/>
              </a:rPr>
              <a:t>Bar Chart Analysis</a:t>
            </a:r>
          </a:p>
          <a:p>
            <a:pPr marL="285750" lvl="0" indent="-285750">
              <a:buFont typeface="Wingdings" panose="05000000000000000000" pitchFamily="2" charset="2"/>
              <a:buChar char="Ø"/>
            </a:pPr>
            <a:r>
              <a:rPr lang="en-IN" dirty="0"/>
              <a:t>The bar chart </a:t>
            </a:r>
            <a:r>
              <a:rPr lang="en-IN" b="1" dirty="0"/>
              <a:t>compares</a:t>
            </a:r>
            <a:r>
              <a:rPr lang="en-IN" dirty="0"/>
              <a:t> the average landing success (Class) </a:t>
            </a:r>
            <a:r>
              <a:rPr lang="en-IN" b="1" dirty="0"/>
              <a:t>across</a:t>
            </a:r>
            <a:r>
              <a:rPr lang="en-IN" dirty="0"/>
              <a:t> different orbit types.</a:t>
            </a:r>
          </a:p>
          <a:p>
            <a:pPr marL="285750" lvl="0" indent="-285750">
              <a:buFont typeface="Wingdings" panose="05000000000000000000" pitchFamily="2" charset="2"/>
              <a:buChar char="Ø"/>
            </a:pPr>
            <a:r>
              <a:rPr lang="en-IN" dirty="0"/>
              <a:t>A higher bar indicates a higher proportion of successful landings, while a lower bar indicates a lower success rate.</a:t>
            </a:r>
          </a:p>
          <a:p>
            <a:pPr marL="285750" lvl="0" indent="-285750">
              <a:buFont typeface="Wingdings" panose="05000000000000000000" pitchFamily="2" charset="2"/>
              <a:buChar char="Ø"/>
            </a:pPr>
            <a:r>
              <a:rPr lang="en-IN" dirty="0"/>
              <a:t>The chart includes orbit types such as ES-L1, GEO, GTO, HEO, ISS, LEO, MEO, PO, SO, SSO, and VLEO.</a:t>
            </a:r>
          </a:p>
        </p:txBody>
      </p:sp>
      <p:sp>
        <p:nvSpPr>
          <p:cNvPr id="7" name="TextBox 6">
            <a:extLst>
              <a:ext uri="{FF2B5EF4-FFF2-40B4-BE49-F238E27FC236}">
                <a16:creationId xmlns:a16="http://schemas.microsoft.com/office/drawing/2014/main" id="{5FBFE744-F933-2688-937E-B434D76930D4}"/>
              </a:ext>
            </a:extLst>
          </p:cNvPr>
          <p:cNvSpPr txBox="1"/>
          <p:nvPr/>
        </p:nvSpPr>
        <p:spPr>
          <a:xfrm>
            <a:off x="734028" y="3763251"/>
            <a:ext cx="5783189" cy="2369880"/>
          </a:xfrm>
          <a:prstGeom prst="rect">
            <a:avLst/>
          </a:prstGeom>
          <a:noFill/>
        </p:spPr>
        <p:txBody>
          <a:bodyPr wrap="square" rtlCol="0">
            <a:spAutoFit/>
          </a:bodyPr>
          <a:lstStyle/>
          <a:p>
            <a:r>
              <a:rPr lang="en-IN" sz="2200" dirty="0">
                <a:latin typeface="Abadi" panose="020B0604020104020204" pitchFamily="34" charset="0"/>
              </a:rPr>
              <a:t>Key Observations</a:t>
            </a:r>
          </a:p>
          <a:p>
            <a:pPr marL="285750" lvl="0" indent="-285750">
              <a:buFont typeface="Wingdings" panose="05000000000000000000" pitchFamily="2" charset="2"/>
              <a:buChar char="Ø"/>
            </a:pPr>
            <a:r>
              <a:rPr lang="en-IN" b="1" dirty="0"/>
              <a:t>ES-L1, GEO, HEO, </a:t>
            </a:r>
            <a:r>
              <a:rPr lang="en-IN" dirty="0"/>
              <a:t>and</a:t>
            </a:r>
            <a:r>
              <a:rPr lang="en-IN" b="1" dirty="0"/>
              <a:t> SSO </a:t>
            </a:r>
            <a:r>
              <a:rPr lang="en-IN" dirty="0"/>
              <a:t>show a success rate of approximately 100%.</a:t>
            </a:r>
          </a:p>
          <a:p>
            <a:pPr marL="285750" lvl="0" indent="-285750">
              <a:buFont typeface="Wingdings" panose="05000000000000000000" pitchFamily="2" charset="2"/>
              <a:buChar char="Ø"/>
            </a:pPr>
            <a:r>
              <a:rPr lang="en-IN" b="1" dirty="0"/>
              <a:t>GTO</a:t>
            </a:r>
            <a:r>
              <a:rPr lang="en-IN" dirty="0"/>
              <a:t> has a </a:t>
            </a:r>
            <a:r>
              <a:rPr lang="en-IN" b="1" dirty="0"/>
              <a:t>lower success rate </a:t>
            </a:r>
            <a:r>
              <a:rPr lang="en-IN" dirty="0"/>
              <a:t>of around 52%, while ISS is approximately 62%.</a:t>
            </a:r>
          </a:p>
          <a:p>
            <a:pPr marL="285750" lvl="0" indent="-285750">
              <a:buFont typeface="Wingdings" panose="05000000000000000000" pitchFamily="2" charset="2"/>
              <a:buChar char="Ø"/>
            </a:pPr>
            <a:r>
              <a:rPr lang="en-IN" b="1" dirty="0"/>
              <a:t>LEO, MEO, </a:t>
            </a:r>
            <a:r>
              <a:rPr lang="en-IN" dirty="0"/>
              <a:t>and</a:t>
            </a:r>
            <a:r>
              <a:rPr lang="en-IN" b="1" dirty="0"/>
              <a:t> PO </a:t>
            </a:r>
            <a:r>
              <a:rPr lang="en-IN" dirty="0"/>
              <a:t>show </a:t>
            </a:r>
            <a:r>
              <a:rPr lang="en-IN" b="1" dirty="0"/>
              <a:t>moderate</a:t>
            </a:r>
            <a:r>
              <a:rPr lang="en-IN" dirty="0"/>
              <a:t> success rates.</a:t>
            </a:r>
          </a:p>
          <a:p>
            <a:pPr marL="285750" lvl="0" indent="-285750">
              <a:buFont typeface="Wingdings" panose="05000000000000000000" pitchFamily="2" charset="2"/>
              <a:buChar char="Ø"/>
            </a:pPr>
            <a:r>
              <a:rPr lang="en-IN" b="1" dirty="0"/>
              <a:t>SO</a:t>
            </a:r>
            <a:r>
              <a:rPr lang="en-IN" dirty="0"/>
              <a:t> shows </a:t>
            </a:r>
            <a:r>
              <a:rPr lang="en-IN" b="1" dirty="0"/>
              <a:t>no successful </a:t>
            </a:r>
            <a:r>
              <a:rPr lang="en-IN" dirty="0"/>
              <a:t>landing records in this chart.</a:t>
            </a:r>
          </a:p>
          <a:p>
            <a:endParaRPr lang="en-IN" dirty="0"/>
          </a:p>
        </p:txBody>
      </p:sp>
      <p:sp>
        <p:nvSpPr>
          <p:cNvPr id="8" name="TextBox 7">
            <a:extLst>
              <a:ext uri="{FF2B5EF4-FFF2-40B4-BE49-F238E27FC236}">
                <a16:creationId xmlns:a16="http://schemas.microsoft.com/office/drawing/2014/main" id="{B7227170-C8F8-77C2-AB85-55B4E80561CA}"/>
              </a:ext>
            </a:extLst>
          </p:cNvPr>
          <p:cNvSpPr txBox="1"/>
          <p:nvPr/>
        </p:nvSpPr>
        <p:spPr>
          <a:xfrm>
            <a:off x="646942" y="5872449"/>
            <a:ext cx="10515600" cy="707886"/>
          </a:xfrm>
          <a:prstGeom prst="rect">
            <a:avLst/>
          </a:prstGeom>
          <a:noFill/>
        </p:spPr>
        <p:txBody>
          <a:bodyPr wrap="square" rtlCol="0">
            <a:spAutoFit/>
          </a:bodyPr>
          <a:lstStyle/>
          <a:p>
            <a:r>
              <a:rPr lang="en-IN" sz="2200" dirty="0">
                <a:latin typeface="Abadi" panose="020B0604020104020204" pitchFamily="34" charset="0"/>
              </a:rPr>
              <a:t>Conclusion</a:t>
            </a:r>
            <a:r>
              <a:rPr lang="en-IN" dirty="0"/>
              <a:t>: Landing success varies by orbit type, suggesting that mission orbit is a useful factor when </a:t>
            </a:r>
            <a:r>
              <a:rPr lang="en-IN" dirty="0" err="1"/>
              <a:t>analyzing</a:t>
            </a:r>
            <a:r>
              <a:rPr lang="en-IN" dirty="0"/>
              <a:t> Falcon 9 first-stage landing outcomes.</a:t>
            </a:r>
          </a:p>
        </p:txBody>
      </p:sp>
      <p:pic>
        <p:nvPicPr>
          <p:cNvPr id="10" name="Picture 9">
            <a:extLst>
              <a:ext uri="{FF2B5EF4-FFF2-40B4-BE49-F238E27FC236}">
                <a16:creationId xmlns:a16="http://schemas.microsoft.com/office/drawing/2014/main" id="{079AD992-DDC8-1C73-AB76-32D9BF412FCF}"/>
              </a:ext>
            </a:extLst>
          </p:cNvPr>
          <p:cNvPicPr>
            <a:picLocks noChangeAspect="1"/>
          </p:cNvPicPr>
          <p:nvPr/>
        </p:nvPicPr>
        <p:blipFill>
          <a:blip r:embed="rId3"/>
          <a:stretch>
            <a:fillRect/>
          </a:stretch>
        </p:blipFill>
        <p:spPr>
          <a:xfrm>
            <a:off x="6517217" y="1641093"/>
            <a:ext cx="5312675" cy="4078232"/>
          </a:xfrm>
          <a:prstGeom prst="rect">
            <a:avLst/>
          </a:prstGeom>
        </p:spPr>
      </p:pic>
    </p:spTree>
    <p:extLst>
      <p:ext uri="{BB962C8B-B14F-4D97-AF65-F5344CB8AC3E}">
        <p14:creationId xmlns:p14="http://schemas.microsoft.com/office/powerpoint/2010/main" val="800901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21</a:t>
            </a:fld>
            <a:endParaRPr lang="en-US"/>
          </a:p>
        </p:txBody>
      </p:sp>
      <p:sp>
        <p:nvSpPr>
          <p:cNvPr id="4" name="Title 1">
            <a:extLst>
              <a:ext uri="{FF2B5EF4-FFF2-40B4-BE49-F238E27FC236}">
                <a16:creationId xmlns:a16="http://schemas.microsoft.com/office/drawing/2014/main" id="{021C109C-C017-4D19-928F-AED25AC3012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Flight Number vs. Orbit Type</a:t>
            </a:r>
            <a:endParaRPr lang="en-US" dirty="0">
              <a:solidFill>
                <a:srgbClr val="0B49CB"/>
              </a:solidFill>
            </a:endParaRPr>
          </a:p>
        </p:txBody>
      </p:sp>
      <p:sp>
        <p:nvSpPr>
          <p:cNvPr id="2" name="TextBox 1">
            <a:extLst>
              <a:ext uri="{FF2B5EF4-FFF2-40B4-BE49-F238E27FC236}">
                <a16:creationId xmlns:a16="http://schemas.microsoft.com/office/drawing/2014/main" id="{8E678136-1E94-A5BD-37B2-66D22159A373}"/>
              </a:ext>
            </a:extLst>
          </p:cNvPr>
          <p:cNvSpPr txBox="1"/>
          <p:nvPr/>
        </p:nvSpPr>
        <p:spPr>
          <a:xfrm>
            <a:off x="685492" y="1295400"/>
            <a:ext cx="5606142" cy="2646878"/>
          </a:xfrm>
          <a:prstGeom prst="rect">
            <a:avLst/>
          </a:prstGeom>
          <a:noFill/>
        </p:spPr>
        <p:txBody>
          <a:bodyPr wrap="square" rtlCol="0">
            <a:spAutoFit/>
          </a:bodyPr>
          <a:lstStyle/>
          <a:p>
            <a:r>
              <a:rPr lang="en-IN" sz="2200" dirty="0">
                <a:latin typeface="Abadi" panose="020B0604020104020204" pitchFamily="34" charset="0"/>
              </a:rPr>
              <a:t>Scatter Plot Analysis</a:t>
            </a:r>
          </a:p>
          <a:p>
            <a:pPr marL="285750" lvl="0" indent="-285750">
              <a:buFont typeface="Wingdings" panose="05000000000000000000" pitchFamily="2" charset="2"/>
              <a:buChar char="Ø"/>
            </a:pPr>
            <a:r>
              <a:rPr lang="en-IN" dirty="0"/>
              <a:t>The scatter plot compares flight numbers across different orbit types.</a:t>
            </a:r>
          </a:p>
          <a:p>
            <a:pPr marL="285750" lvl="0" indent="-285750">
              <a:buFont typeface="Wingdings" panose="05000000000000000000" pitchFamily="2" charset="2"/>
              <a:buChar char="Ø"/>
            </a:pPr>
            <a:r>
              <a:rPr lang="en-IN" dirty="0"/>
              <a:t>The distribution of points shows how launch outcomes vary across orbits as flight experience increases.</a:t>
            </a:r>
          </a:p>
          <a:p>
            <a:pPr marL="285750" lvl="0" indent="-285750">
              <a:buFont typeface="Wingdings" panose="05000000000000000000" pitchFamily="2" charset="2"/>
              <a:buChar char="Ø"/>
            </a:pPr>
            <a:r>
              <a:rPr lang="en-IN" dirty="0"/>
              <a:t>Blue points represent Class 0 (unsuccessful landing), while orange points represent Class 1 (successful landing).</a:t>
            </a:r>
          </a:p>
          <a:p>
            <a:endParaRPr lang="en-IN" dirty="0"/>
          </a:p>
        </p:txBody>
      </p:sp>
      <p:sp>
        <p:nvSpPr>
          <p:cNvPr id="6" name="TextBox 5">
            <a:extLst>
              <a:ext uri="{FF2B5EF4-FFF2-40B4-BE49-F238E27FC236}">
                <a16:creationId xmlns:a16="http://schemas.microsoft.com/office/drawing/2014/main" id="{EACC7E67-4853-747C-30F5-45D435AD826F}"/>
              </a:ext>
            </a:extLst>
          </p:cNvPr>
          <p:cNvSpPr txBox="1"/>
          <p:nvPr/>
        </p:nvSpPr>
        <p:spPr>
          <a:xfrm>
            <a:off x="685492" y="3584414"/>
            <a:ext cx="6324600" cy="2923877"/>
          </a:xfrm>
          <a:prstGeom prst="rect">
            <a:avLst/>
          </a:prstGeom>
          <a:noFill/>
        </p:spPr>
        <p:txBody>
          <a:bodyPr wrap="square" rtlCol="0">
            <a:spAutoFit/>
          </a:bodyPr>
          <a:lstStyle/>
          <a:p>
            <a:r>
              <a:rPr lang="en-IN" sz="2200" dirty="0"/>
              <a:t>Key Observations</a:t>
            </a:r>
          </a:p>
          <a:p>
            <a:pPr marL="285750" lvl="0" indent="-285750">
              <a:buFont typeface="Wingdings" panose="05000000000000000000" pitchFamily="2" charset="2"/>
              <a:buChar char="Ø"/>
            </a:pPr>
            <a:r>
              <a:rPr lang="en-IN" dirty="0"/>
              <a:t>GTO and ISS contain a mix of successful and unsuccessful landing outcomes.</a:t>
            </a:r>
          </a:p>
          <a:p>
            <a:pPr marL="285750" lvl="0" indent="-285750">
              <a:buFont typeface="Wingdings" panose="05000000000000000000" pitchFamily="2" charset="2"/>
              <a:buChar char="Ø"/>
            </a:pPr>
            <a:r>
              <a:rPr lang="en-IN" dirty="0"/>
              <a:t>VLEO shows more successful outcomes among the later flight numbers.</a:t>
            </a:r>
          </a:p>
          <a:p>
            <a:pPr marL="285750" lvl="0" indent="-285750">
              <a:buFont typeface="Wingdings" panose="05000000000000000000" pitchFamily="2" charset="2"/>
              <a:buChar char="Ø"/>
            </a:pPr>
            <a:r>
              <a:rPr lang="en-IN" dirty="0"/>
              <a:t>LEO, PO, and other orbit types show different patterns in landing outcomes.</a:t>
            </a:r>
          </a:p>
          <a:p>
            <a:pPr marL="285750" lvl="0" indent="-285750">
              <a:buFont typeface="Wingdings" panose="05000000000000000000" pitchFamily="2" charset="2"/>
              <a:buChar char="Ø"/>
            </a:pPr>
            <a:r>
              <a:rPr lang="en-IN" dirty="0"/>
              <a:t>Later flights generally show more successful outcomes in several orbit types.</a:t>
            </a:r>
          </a:p>
          <a:p>
            <a:endParaRPr lang="en-IN" dirty="0"/>
          </a:p>
        </p:txBody>
      </p:sp>
      <p:sp>
        <p:nvSpPr>
          <p:cNvPr id="9" name="TextBox 8">
            <a:extLst>
              <a:ext uri="{FF2B5EF4-FFF2-40B4-BE49-F238E27FC236}">
                <a16:creationId xmlns:a16="http://schemas.microsoft.com/office/drawing/2014/main" id="{43582B0E-985C-C588-C409-C1E047ED411B}"/>
              </a:ext>
            </a:extLst>
          </p:cNvPr>
          <p:cNvSpPr txBox="1"/>
          <p:nvPr/>
        </p:nvSpPr>
        <p:spPr>
          <a:xfrm>
            <a:off x="734028" y="6254327"/>
            <a:ext cx="12366171" cy="430887"/>
          </a:xfrm>
          <a:prstGeom prst="rect">
            <a:avLst/>
          </a:prstGeom>
          <a:noFill/>
        </p:spPr>
        <p:txBody>
          <a:bodyPr wrap="square" rtlCol="0">
            <a:spAutoFit/>
          </a:bodyPr>
          <a:lstStyle/>
          <a:p>
            <a:r>
              <a:rPr lang="en-IN" sz="2200" b="1" dirty="0">
                <a:latin typeface="Abadi" panose="020B0604020104020204" pitchFamily="34" charset="0"/>
              </a:rPr>
              <a:t>Conclusion</a:t>
            </a:r>
            <a:r>
              <a:rPr lang="en-IN" dirty="0"/>
              <a:t>: Flight number and orbit type help identify patterns in Falcon 9 first-stage landing success across different missions.</a:t>
            </a:r>
          </a:p>
        </p:txBody>
      </p:sp>
      <p:pic>
        <p:nvPicPr>
          <p:cNvPr id="11" name="Picture 10">
            <a:extLst>
              <a:ext uri="{FF2B5EF4-FFF2-40B4-BE49-F238E27FC236}">
                <a16:creationId xmlns:a16="http://schemas.microsoft.com/office/drawing/2014/main" id="{2C1FBCE7-E8CE-A82A-1BCB-3D5A26CB26EF}"/>
              </a:ext>
            </a:extLst>
          </p:cNvPr>
          <p:cNvPicPr>
            <a:picLocks noChangeAspect="1"/>
          </p:cNvPicPr>
          <p:nvPr/>
        </p:nvPicPr>
        <p:blipFill>
          <a:blip r:embed="rId3"/>
          <a:stretch>
            <a:fillRect/>
          </a:stretch>
        </p:blipFill>
        <p:spPr>
          <a:xfrm>
            <a:off x="6781800" y="1517520"/>
            <a:ext cx="5313975" cy="4078232"/>
          </a:xfrm>
          <a:prstGeom prst="rect">
            <a:avLst/>
          </a:prstGeom>
        </p:spPr>
      </p:pic>
    </p:spTree>
    <p:extLst>
      <p:ext uri="{BB962C8B-B14F-4D97-AF65-F5344CB8AC3E}">
        <p14:creationId xmlns:p14="http://schemas.microsoft.com/office/powerpoint/2010/main" val="11067275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22</a:t>
            </a:fld>
            <a:endParaRPr lang="en-US"/>
          </a:p>
        </p:txBody>
      </p:sp>
      <p:sp>
        <p:nvSpPr>
          <p:cNvPr id="4" name="Title 1">
            <a:extLst>
              <a:ext uri="{FF2B5EF4-FFF2-40B4-BE49-F238E27FC236}">
                <a16:creationId xmlns:a16="http://schemas.microsoft.com/office/drawing/2014/main" id="{AFE7D9E4-306D-49E3-9AC4-15D566FC72A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vs. Orbit Type</a:t>
            </a:r>
            <a:endParaRPr lang="en-US" dirty="0">
              <a:solidFill>
                <a:srgbClr val="0B49CB"/>
              </a:solidFill>
            </a:endParaRPr>
          </a:p>
        </p:txBody>
      </p:sp>
      <p:sp>
        <p:nvSpPr>
          <p:cNvPr id="7" name="TextBox 6">
            <a:extLst>
              <a:ext uri="{FF2B5EF4-FFF2-40B4-BE49-F238E27FC236}">
                <a16:creationId xmlns:a16="http://schemas.microsoft.com/office/drawing/2014/main" id="{5F39E5A5-8F22-D918-5DE4-0D3D3A14A13D}"/>
              </a:ext>
            </a:extLst>
          </p:cNvPr>
          <p:cNvSpPr txBox="1"/>
          <p:nvPr/>
        </p:nvSpPr>
        <p:spPr>
          <a:xfrm>
            <a:off x="693811" y="1309525"/>
            <a:ext cx="5717875" cy="2369880"/>
          </a:xfrm>
          <a:prstGeom prst="rect">
            <a:avLst/>
          </a:prstGeom>
          <a:noFill/>
        </p:spPr>
        <p:txBody>
          <a:bodyPr wrap="square" rtlCol="0">
            <a:spAutoFit/>
          </a:bodyPr>
          <a:lstStyle/>
          <a:p>
            <a:r>
              <a:rPr lang="en-IN" sz="2200" dirty="0">
                <a:latin typeface="Abadi" panose="020B0604020104020204" pitchFamily="34" charset="0"/>
              </a:rPr>
              <a:t>Scatter Plot Analysis</a:t>
            </a:r>
          </a:p>
          <a:p>
            <a:pPr marL="285750" lvl="0" indent="-285750">
              <a:buFont typeface="Wingdings" panose="05000000000000000000" pitchFamily="2" charset="2"/>
              <a:buChar char="Ø"/>
            </a:pPr>
            <a:r>
              <a:rPr lang="en-IN" dirty="0"/>
              <a:t>The scatter plot compares payload mass (kg) across different orbit types.</a:t>
            </a:r>
          </a:p>
          <a:p>
            <a:pPr marL="285750" lvl="0" indent="-285750">
              <a:buFont typeface="Wingdings" panose="05000000000000000000" pitchFamily="2" charset="2"/>
              <a:buChar char="Ø"/>
            </a:pPr>
            <a:r>
              <a:rPr lang="en-IN" dirty="0"/>
              <a:t>It helps examine how payload mass varies depending on the target orbit of each Falcon 9 mission.</a:t>
            </a:r>
          </a:p>
          <a:p>
            <a:pPr marL="285750" lvl="0" indent="-285750">
              <a:buFont typeface="Wingdings" panose="05000000000000000000" pitchFamily="2" charset="2"/>
              <a:buChar char="Ø"/>
            </a:pPr>
            <a:r>
              <a:rPr lang="en-IN" dirty="0"/>
              <a:t>The </a:t>
            </a:r>
            <a:r>
              <a:rPr lang="en-IN" dirty="0" err="1"/>
              <a:t>colors</a:t>
            </a:r>
            <a:r>
              <a:rPr lang="en-IN" dirty="0"/>
              <a:t> distinguish successful and unsuccessful first-stage landing outcomes.</a:t>
            </a:r>
          </a:p>
          <a:p>
            <a:endParaRPr lang="en-IN" dirty="0"/>
          </a:p>
        </p:txBody>
      </p:sp>
      <p:sp>
        <p:nvSpPr>
          <p:cNvPr id="8" name="TextBox 7">
            <a:extLst>
              <a:ext uri="{FF2B5EF4-FFF2-40B4-BE49-F238E27FC236}">
                <a16:creationId xmlns:a16="http://schemas.microsoft.com/office/drawing/2014/main" id="{BC878B11-5027-78E4-4251-FEE814A1D268}"/>
              </a:ext>
            </a:extLst>
          </p:cNvPr>
          <p:cNvSpPr txBox="1"/>
          <p:nvPr/>
        </p:nvSpPr>
        <p:spPr>
          <a:xfrm>
            <a:off x="734028" y="3255060"/>
            <a:ext cx="5717875" cy="3200876"/>
          </a:xfrm>
          <a:prstGeom prst="rect">
            <a:avLst/>
          </a:prstGeom>
          <a:noFill/>
        </p:spPr>
        <p:txBody>
          <a:bodyPr wrap="square" rtlCol="0">
            <a:spAutoFit/>
          </a:bodyPr>
          <a:lstStyle/>
          <a:p>
            <a:r>
              <a:rPr lang="en-IN" sz="2200" dirty="0">
                <a:latin typeface="Abadi" panose="020B0604020104020204" pitchFamily="34" charset="0"/>
              </a:rPr>
              <a:t>Key Observations</a:t>
            </a:r>
          </a:p>
          <a:p>
            <a:pPr marL="285750" lvl="0" indent="-285750">
              <a:buFont typeface="Wingdings" panose="05000000000000000000" pitchFamily="2" charset="2"/>
              <a:buChar char="Ø"/>
            </a:pPr>
            <a:r>
              <a:rPr lang="en-IN" dirty="0"/>
              <a:t>GTO missions cover a wide range of payload masses, with both successful and unsuccessful landing outcomes.</a:t>
            </a:r>
          </a:p>
          <a:p>
            <a:pPr marL="285750" lvl="0" indent="-285750">
              <a:buFont typeface="Wingdings" panose="05000000000000000000" pitchFamily="2" charset="2"/>
              <a:buChar char="Ø"/>
            </a:pPr>
            <a:r>
              <a:rPr lang="en-IN" dirty="0"/>
              <a:t>ISS missions mostly have payload masses between 2,000 and 3,000 kg, with some heavier payloads.</a:t>
            </a:r>
          </a:p>
          <a:p>
            <a:pPr marL="285750" lvl="0" indent="-285750">
              <a:buFont typeface="Wingdings" panose="05000000000000000000" pitchFamily="2" charset="2"/>
              <a:buChar char="Ø"/>
            </a:pPr>
            <a:r>
              <a:rPr lang="en-IN" dirty="0"/>
              <a:t>VLEO includes some of the heaviest payloads, around 15,000–16,000 kg.</a:t>
            </a:r>
          </a:p>
          <a:p>
            <a:pPr marL="285750" lvl="0" indent="-285750">
              <a:buFont typeface="Wingdings" panose="05000000000000000000" pitchFamily="2" charset="2"/>
              <a:buChar char="Ø"/>
            </a:pPr>
            <a:r>
              <a:rPr lang="en-IN" dirty="0"/>
              <a:t>Different orbit types show varying landing outcomes across payload masses.</a:t>
            </a:r>
          </a:p>
          <a:p>
            <a:endParaRPr lang="en-IN" dirty="0"/>
          </a:p>
        </p:txBody>
      </p:sp>
      <p:sp>
        <p:nvSpPr>
          <p:cNvPr id="10" name="TextBox 9">
            <a:extLst>
              <a:ext uri="{FF2B5EF4-FFF2-40B4-BE49-F238E27FC236}">
                <a16:creationId xmlns:a16="http://schemas.microsoft.com/office/drawing/2014/main" id="{231E32DE-F1F6-14FD-E0B7-AB72D2DAE3E1}"/>
              </a:ext>
            </a:extLst>
          </p:cNvPr>
          <p:cNvSpPr txBox="1"/>
          <p:nvPr/>
        </p:nvSpPr>
        <p:spPr>
          <a:xfrm>
            <a:off x="566056" y="6031591"/>
            <a:ext cx="10069286" cy="707886"/>
          </a:xfrm>
          <a:prstGeom prst="rect">
            <a:avLst/>
          </a:prstGeom>
          <a:noFill/>
        </p:spPr>
        <p:txBody>
          <a:bodyPr wrap="square" rtlCol="0">
            <a:spAutoFit/>
          </a:bodyPr>
          <a:lstStyle/>
          <a:p>
            <a:r>
              <a:rPr lang="en-IN" sz="2200" dirty="0">
                <a:latin typeface="Abadi" panose="020B0604020104020204" pitchFamily="34" charset="0"/>
              </a:rPr>
              <a:t>Conclusion</a:t>
            </a:r>
            <a:r>
              <a:rPr lang="en-IN" dirty="0"/>
              <a:t>: Payload mass and orbit type help reveal patterns in Falcon 9 first-stage landing success across different missions.</a:t>
            </a:r>
          </a:p>
        </p:txBody>
      </p:sp>
      <p:pic>
        <p:nvPicPr>
          <p:cNvPr id="12" name="Picture 11">
            <a:extLst>
              <a:ext uri="{FF2B5EF4-FFF2-40B4-BE49-F238E27FC236}">
                <a16:creationId xmlns:a16="http://schemas.microsoft.com/office/drawing/2014/main" id="{6D35110F-DE65-1B29-26DF-480E94D43AFF}"/>
              </a:ext>
            </a:extLst>
          </p:cNvPr>
          <p:cNvPicPr>
            <a:picLocks noChangeAspect="1"/>
          </p:cNvPicPr>
          <p:nvPr/>
        </p:nvPicPr>
        <p:blipFill>
          <a:blip r:embed="rId3"/>
          <a:stretch>
            <a:fillRect/>
          </a:stretch>
        </p:blipFill>
        <p:spPr>
          <a:xfrm>
            <a:off x="6492120" y="1514511"/>
            <a:ext cx="5568707" cy="4078232"/>
          </a:xfrm>
          <a:prstGeom prst="rect">
            <a:avLst/>
          </a:prstGeom>
        </p:spPr>
      </p:pic>
    </p:spTree>
    <p:extLst>
      <p:ext uri="{BB962C8B-B14F-4D97-AF65-F5344CB8AC3E}">
        <p14:creationId xmlns:p14="http://schemas.microsoft.com/office/powerpoint/2010/main" val="31453405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23</a:t>
            </a:fld>
            <a:endParaRPr lang="en-US"/>
          </a:p>
        </p:txBody>
      </p:sp>
      <p:sp>
        <p:nvSpPr>
          <p:cNvPr id="4" name="Title 1">
            <a:extLst>
              <a:ext uri="{FF2B5EF4-FFF2-40B4-BE49-F238E27FC236}">
                <a16:creationId xmlns:a16="http://schemas.microsoft.com/office/drawing/2014/main" id="{6D35FD2D-1BD2-45D7-B015-1A96C241520B}"/>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Success Yearly Trend</a:t>
            </a:r>
          </a:p>
        </p:txBody>
      </p:sp>
      <p:sp>
        <p:nvSpPr>
          <p:cNvPr id="2" name="TextBox 1">
            <a:extLst>
              <a:ext uri="{FF2B5EF4-FFF2-40B4-BE49-F238E27FC236}">
                <a16:creationId xmlns:a16="http://schemas.microsoft.com/office/drawing/2014/main" id="{43AE9921-091C-8D73-D913-3F4FCB33101D}"/>
              </a:ext>
            </a:extLst>
          </p:cNvPr>
          <p:cNvSpPr txBox="1"/>
          <p:nvPr/>
        </p:nvSpPr>
        <p:spPr>
          <a:xfrm>
            <a:off x="729179" y="1404258"/>
            <a:ext cx="6215743" cy="2369880"/>
          </a:xfrm>
          <a:prstGeom prst="rect">
            <a:avLst/>
          </a:prstGeom>
          <a:noFill/>
        </p:spPr>
        <p:txBody>
          <a:bodyPr wrap="square" rtlCol="0">
            <a:spAutoFit/>
          </a:bodyPr>
          <a:lstStyle/>
          <a:p>
            <a:r>
              <a:rPr lang="en-IN" sz="2200" dirty="0">
                <a:latin typeface="Abadi" panose="020B0604020104020204" pitchFamily="34" charset="0"/>
              </a:rPr>
              <a:t>Line Chart Analysis</a:t>
            </a:r>
          </a:p>
          <a:p>
            <a:pPr marL="285750" lvl="0" indent="-285750">
              <a:buFont typeface="Wingdings" panose="05000000000000000000" pitchFamily="2" charset="2"/>
              <a:buChar char="Ø"/>
            </a:pPr>
            <a:r>
              <a:rPr lang="en-IN" dirty="0"/>
              <a:t>The line chart shows the yearly average landing success rate from 2010 to 2020.</a:t>
            </a:r>
          </a:p>
          <a:p>
            <a:pPr marL="285750" lvl="0" indent="-285750">
              <a:buFont typeface="Wingdings" panose="05000000000000000000" pitchFamily="2" charset="2"/>
              <a:buChar char="Ø"/>
            </a:pPr>
            <a:r>
              <a:rPr lang="en-IN" dirty="0"/>
              <a:t>It helps identify changes in Falcon 9 first-stage landing performance over time.</a:t>
            </a:r>
          </a:p>
          <a:p>
            <a:pPr marL="285750" lvl="0" indent="-285750">
              <a:buFont typeface="Wingdings" panose="05000000000000000000" pitchFamily="2" charset="2"/>
              <a:buChar char="Ø"/>
            </a:pPr>
            <a:r>
              <a:rPr lang="en-IN" dirty="0"/>
              <a:t>The shaded region represents the variation around the plotted trend.</a:t>
            </a:r>
          </a:p>
          <a:p>
            <a:endParaRPr lang="en-IN" dirty="0"/>
          </a:p>
        </p:txBody>
      </p:sp>
      <p:sp>
        <p:nvSpPr>
          <p:cNvPr id="7" name="TextBox 6">
            <a:extLst>
              <a:ext uri="{FF2B5EF4-FFF2-40B4-BE49-F238E27FC236}">
                <a16:creationId xmlns:a16="http://schemas.microsoft.com/office/drawing/2014/main" id="{50904032-D1C0-1E17-16CB-CF1DCC89D3BC}"/>
              </a:ext>
            </a:extLst>
          </p:cNvPr>
          <p:cNvSpPr txBox="1"/>
          <p:nvPr/>
        </p:nvSpPr>
        <p:spPr>
          <a:xfrm>
            <a:off x="729179" y="3458452"/>
            <a:ext cx="5921829" cy="2369880"/>
          </a:xfrm>
          <a:prstGeom prst="rect">
            <a:avLst/>
          </a:prstGeom>
          <a:noFill/>
        </p:spPr>
        <p:txBody>
          <a:bodyPr wrap="square" rtlCol="0">
            <a:spAutoFit/>
          </a:bodyPr>
          <a:lstStyle/>
          <a:p>
            <a:r>
              <a:rPr lang="en-IN" sz="2200" dirty="0">
                <a:latin typeface="Abadi" panose="020B0604020104020204" pitchFamily="34" charset="0"/>
              </a:rPr>
              <a:t>Key Observations</a:t>
            </a:r>
          </a:p>
          <a:p>
            <a:pPr marL="285750" lvl="0" indent="-285750">
              <a:buFont typeface="Wingdings" panose="05000000000000000000" pitchFamily="2" charset="2"/>
              <a:buChar char="Ø"/>
            </a:pPr>
            <a:r>
              <a:rPr lang="en-IN" dirty="0"/>
              <a:t>From 2010 to 2013, the average success rate remains at 0.</a:t>
            </a:r>
          </a:p>
          <a:p>
            <a:pPr marL="285750" indent="-285750">
              <a:buFont typeface="Wingdings" panose="05000000000000000000" pitchFamily="2" charset="2"/>
              <a:buChar char="Ø"/>
            </a:pPr>
            <a:r>
              <a:rPr lang="en-IN" dirty="0"/>
              <a:t>The success rate begins to increase in 2014 and rises to approximately 0.83 in 2017.</a:t>
            </a:r>
          </a:p>
          <a:p>
            <a:pPr marL="285750" lvl="0" indent="-285750">
              <a:buFont typeface="Wingdings" panose="05000000000000000000" pitchFamily="2" charset="2"/>
              <a:buChar char="Ø"/>
            </a:pPr>
            <a:r>
              <a:rPr lang="en-IN" dirty="0"/>
              <a:t>It decreases to around 0.61 in 2018, then reaches approximately 0.90 in 2019.</a:t>
            </a:r>
          </a:p>
          <a:p>
            <a:pPr marL="285750" lvl="0" indent="-285750">
              <a:buFont typeface="Wingdings" panose="05000000000000000000" pitchFamily="2" charset="2"/>
              <a:buChar char="Ø"/>
            </a:pPr>
            <a:r>
              <a:rPr lang="en-IN" dirty="0"/>
              <a:t>In 2020, the success rate remains high at around 0.84.</a:t>
            </a:r>
          </a:p>
          <a:p>
            <a:endParaRPr lang="en-IN" dirty="0"/>
          </a:p>
        </p:txBody>
      </p:sp>
      <p:sp>
        <p:nvSpPr>
          <p:cNvPr id="8" name="TextBox 7">
            <a:extLst>
              <a:ext uri="{FF2B5EF4-FFF2-40B4-BE49-F238E27FC236}">
                <a16:creationId xmlns:a16="http://schemas.microsoft.com/office/drawing/2014/main" id="{781F846C-DE25-18D9-F66F-698EE2568191}"/>
              </a:ext>
            </a:extLst>
          </p:cNvPr>
          <p:cNvSpPr txBox="1"/>
          <p:nvPr/>
        </p:nvSpPr>
        <p:spPr>
          <a:xfrm>
            <a:off x="729179" y="5611464"/>
            <a:ext cx="10265229" cy="707886"/>
          </a:xfrm>
          <a:prstGeom prst="rect">
            <a:avLst/>
          </a:prstGeom>
          <a:noFill/>
        </p:spPr>
        <p:txBody>
          <a:bodyPr wrap="square" rtlCol="0">
            <a:spAutoFit/>
          </a:bodyPr>
          <a:lstStyle/>
          <a:p>
            <a:r>
              <a:rPr lang="en-IN" sz="2200" dirty="0">
                <a:latin typeface="Abadi" panose="020B0604020104020204" pitchFamily="34" charset="0"/>
              </a:rPr>
              <a:t>Conclusion</a:t>
            </a:r>
            <a:r>
              <a:rPr lang="en-IN" dirty="0"/>
              <a:t>: The yearly trend shows an overall improvement in Falcon 9 first-stage landing success, with some fluctuations between years.</a:t>
            </a:r>
          </a:p>
        </p:txBody>
      </p:sp>
      <p:pic>
        <p:nvPicPr>
          <p:cNvPr id="10" name="Picture 9">
            <a:extLst>
              <a:ext uri="{FF2B5EF4-FFF2-40B4-BE49-F238E27FC236}">
                <a16:creationId xmlns:a16="http://schemas.microsoft.com/office/drawing/2014/main" id="{CF9A679A-222A-F415-77FD-F669F26E369D}"/>
              </a:ext>
            </a:extLst>
          </p:cNvPr>
          <p:cNvPicPr>
            <a:picLocks noChangeAspect="1"/>
          </p:cNvPicPr>
          <p:nvPr/>
        </p:nvPicPr>
        <p:blipFill>
          <a:blip r:embed="rId3"/>
          <a:stretch>
            <a:fillRect/>
          </a:stretch>
        </p:blipFill>
        <p:spPr>
          <a:xfrm>
            <a:off x="6736728" y="1540760"/>
            <a:ext cx="5184658" cy="3776479"/>
          </a:xfrm>
          <a:prstGeom prst="rect">
            <a:avLst/>
          </a:prstGeom>
        </p:spPr>
      </p:pic>
    </p:spTree>
    <p:extLst>
      <p:ext uri="{BB962C8B-B14F-4D97-AF65-F5344CB8AC3E}">
        <p14:creationId xmlns:p14="http://schemas.microsoft.com/office/powerpoint/2010/main" val="7065944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24</a:t>
            </a:fld>
            <a:endParaRPr lang="en-US"/>
          </a:p>
        </p:txBody>
      </p:sp>
      <p:sp>
        <p:nvSpPr>
          <p:cNvPr id="3" name="Title 1">
            <a:extLst>
              <a:ext uri="{FF2B5EF4-FFF2-40B4-BE49-F238E27FC236}">
                <a16:creationId xmlns:a16="http://schemas.microsoft.com/office/drawing/2014/main" id="{86E60219-AE1B-47B6-9A1D-F2865D04BE52}"/>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All Launch Site Names</a:t>
            </a:r>
          </a:p>
        </p:txBody>
      </p:sp>
      <p:sp>
        <p:nvSpPr>
          <p:cNvPr id="2" name="TextBox 1">
            <a:extLst>
              <a:ext uri="{FF2B5EF4-FFF2-40B4-BE49-F238E27FC236}">
                <a16:creationId xmlns:a16="http://schemas.microsoft.com/office/drawing/2014/main" id="{D35FC2F0-67ED-7324-6940-EB16B6E4F17C}"/>
              </a:ext>
            </a:extLst>
          </p:cNvPr>
          <p:cNvSpPr txBox="1"/>
          <p:nvPr/>
        </p:nvSpPr>
        <p:spPr>
          <a:xfrm>
            <a:off x="849085" y="1480458"/>
            <a:ext cx="9688286" cy="1785104"/>
          </a:xfrm>
          <a:prstGeom prst="rect">
            <a:avLst/>
          </a:prstGeom>
          <a:noFill/>
        </p:spPr>
        <p:txBody>
          <a:bodyPr wrap="square" rtlCol="0">
            <a:spAutoFit/>
          </a:bodyPr>
          <a:lstStyle/>
          <a:p>
            <a:r>
              <a:rPr lang="en-IN" sz="2600" dirty="0">
                <a:latin typeface="Abadi" panose="020B0604020104020204" pitchFamily="34" charset="0"/>
              </a:rPr>
              <a:t>Unique Launch Sites</a:t>
            </a:r>
          </a:p>
          <a:p>
            <a:pPr marL="285750" lvl="0" indent="-285750">
              <a:buFont typeface="Wingdings" panose="05000000000000000000" pitchFamily="2" charset="2"/>
              <a:buChar char="q"/>
            </a:pPr>
            <a:r>
              <a:rPr lang="en-IN" sz="2200" dirty="0"/>
              <a:t>CCAFS LC-40</a:t>
            </a:r>
            <a:r>
              <a:rPr lang="en-IN" sz="2200" b="1" dirty="0"/>
              <a:t>:</a:t>
            </a:r>
            <a:r>
              <a:rPr lang="en-IN" sz="2200" dirty="0"/>
              <a:t> Cape Canaveral Air Force Station, Space Launch Complex 40.</a:t>
            </a:r>
          </a:p>
          <a:p>
            <a:pPr marL="285750" lvl="0" indent="-285750">
              <a:buFont typeface="Wingdings" panose="05000000000000000000" pitchFamily="2" charset="2"/>
              <a:buChar char="q"/>
            </a:pPr>
            <a:r>
              <a:rPr lang="en-IN" sz="2200" dirty="0"/>
              <a:t>VAFB SLC-4E</a:t>
            </a:r>
            <a:r>
              <a:rPr lang="en-IN" sz="2200" b="1" dirty="0"/>
              <a:t>:</a:t>
            </a:r>
            <a:r>
              <a:rPr lang="en-IN" sz="2200" dirty="0"/>
              <a:t> Vandenberg Air Force Base, Space Launch Complex 4 East.</a:t>
            </a:r>
          </a:p>
          <a:p>
            <a:pPr marL="285750" lvl="0" indent="-285750">
              <a:buFont typeface="Wingdings" panose="05000000000000000000" pitchFamily="2" charset="2"/>
              <a:buChar char="q"/>
            </a:pPr>
            <a:r>
              <a:rPr lang="en-IN" sz="2200" dirty="0"/>
              <a:t>KSC LC-39A</a:t>
            </a:r>
            <a:r>
              <a:rPr lang="en-IN" sz="2200" b="1" dirty="0"/>
              <a:t>:</a:t>
            </a:r>
            <a:r>
              <a:rPr lang="en-IN" sz="2200" dirty="0"/>
              <a:t> Kennedy Space </a:t>
            </a:r>
            <a:r>
              <a:rPr lang="en-IN" sz="2200" dirty="0" err="1"/>
              <a:t>Center</a:t>
            </a:r>
            <a:r>
              <a:rPr lang="en-IN" sz="2200" dirty="0"/>
              <a:t>, Launch Complex 39A.</a:t>
            </a:r>
          </a:p>
          <a:p>
            <a:endParaRPr lang="en-IN" b="1" dirty="0"/>
          </a:p>
        </p:txBody>
      </p:sp>
      <p:sp>
        <p:nvSpPr>
          <p:cNvPr id="6" name="TextBox 5">
            <a:extLst>
              <a:ext uri="{FF2B5EF4-FFF2-40B4-BE49-F238E27FC236}">
                <a16:creationId xmlns:a16="http://schemas.microsoft.com/office/drawing/2014/main" id="{A0169ACC-658B-14CA-3ADE-FABACC06B3EE}"/>
              </a:ext>
            </a:extLst>
          </p:cNvPr>
          <p:cNvSpPr txBox="1"/>
          <p:nvPr/>
        </p:nvSpPr>
        <p:spPr>
          <a:xfrm>
            <a:off x="849085" y="3243790"/>
            <a:ext cx="9557657" cy="3477875"/>
          </a:xfrm>
          <a:prstGeom prst="rect">
            <a:avLst/>
          </a:prstGeom>
          <a:noFill/>
        </p:spPr>
        <p:txBody>
          <a:bodyPr wrap="square" rtlCol="0">
            <a:spAutoFit/>
          </a:bodyPr>
          <a:lstStyle/>
          <a:p>
            <a:r>
              <a:rPr lang="en-IN" sz="2600" dirty="0">
                <a:latin typeface="Abadi" panose="020B0604020104020204" pitchFamily="34" charset="0"/>
              </a:rPr>
              <a:t>Explanation</a:t>
            </a:r>
          </a:p>
          <a:p>
            <a:pPr marL="285750" lvl="0" indent="-285750">
              <a:buFont typeface="Wingdings" panose="05000000000000000000" pitchFamily="2" charset="2"/>
              <a:buChar char="Ø"/>
            </a:pPr>
            <a:r>
              <a:rPr lang="en-IN" sz="2200" dirty="0"/>
              <a:t>Used the SQL SELECT DISTINCT statement to identify unique launch sites in the SpaceX dataset.</a:t>
            </a:r>
          </a:p>
          <a:p>
            <a:pPr marL="285750" lvl="0" indent="-285750">
              <a:buFont typeface="Wingdings" panose="05000000000000000000" pitchFamily="2" charset="2"/>
              <a:buChar char="Ø"/>
            </a:pPr>
            <a:r>
              <a:rPr lang="en-IN" sz="2200" dirty="0"/>
              <a:t>Identified </a:t>
            </a:r>
            <a:r>
              <a:rPr lang="en-IN" sz="2200" b="1" dirty="0"/>
              <a:t>three unique launch sites</a:t>
            </a:r>
            <a:r>
              <a:rPr lang="en-IN" sz="2200" dirty="0"/>
              <a:t> and eliminated duplicate entries.</a:t>
            </a:r>
          </a:p>
          <a:p>
            <a:pPr marL="285750" lvl="0" indent="-285750">
              <a:buFont typeface="Wingdings" panose="05000000000000000000" pitchFamily="2" charset="2"/>
              <a:buChar char="Ø"/>
            </a:pPr>
            <a:r>
              <a:rPr lang="en-IN" sz="2200" dirty="0"/>
              <a:t>These launch sites provide the locations for </a:t>
            </a:r>
            <a:r>
              <a:rPr lang="en-IN" sz="2200" dirty="0" err="1"/>
              <a:t>analyzing</a:t>
            </a:r>
            <a:r>
              <a:rPr lang="en-IN" sz="2200" dirty="0"/>
              <a:t> Falcon 9 launch activities.</a:t>
            </a:r>
          </a:p>
          <a:p>
            <a:pPr marL="285750" lvl="0" indent="-285750">
              <a:buFont typeface="Wingdings" panose="05000000000000000000" pitchFamily="2" charset="2"/>
              <a:buChar char="Ø"/>
            </a:pPr>
            <a:r>
              <a:rPr lang="en-IN" sz="2200" dirty="0"/>
              <a:t>Compared launch sites with payload mass, flight number, and landing outcomes to explore patterns in first-stage landing success.</a:t>
            </a:r>
          </a:p>
          <a:p>
            <a:pPr marL="285750" lvl="0" indent="-285750">
              <a:buFont typeface="Wingdings" panose="05000000000000000000" pitchFamily="2" charset="2"/>
              <a:buChar char="Ø"/>
            </a:pPr>
            <a:r>
              <a:rPr lang="en-IN" sz="2200" dirty="0"/>
              <a:t>This analysis helps understand the role of launch site information in evaluating Falcon 9 mission performance.</a:t>
            </a:r>
          </a:p>
          <a:p>
            <a:endParaRPr lang="en-IN" dirty="0"/>
          </a:p>
        </p:txBody>
      </p:sp>
    </p:spTree>
    <p:extLst>
      <p:ext uri="{BB962C8B-B14F-4D97-AF65-F5344CB8AC3E}">
        <p14:creationId xmlns:p14="http://schemas.microsoft.com/office/powerpoint/2010/main" val="27278509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25</a:t>
            </a:fld>
            <a:endParaRPr lang="en-US"/>
          </a:p>
        </p:txBody>
      </p:sp>
      <p:sp>
        <p:nvSpPr>
          <p:cNvPr id="3" name="Title 1">
            <a:extLst>
              <a:ext uri="{FF2B5EF4-FFF2-40B4-BE49-F238E27FC236}">
                <a16:creationId xmlns:a16="http://schemas.microsoft.com/office/drawing/2014/main" id="{557C8CBA-1A0E-4CDF-A451-7AAA44D3983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Site Names Begin with 'CCA'</a:t>
            </a:r>
          </a:p>
        </p:txBody>
      </p:sp>
      <p:sp>
        <p:nvSpPr>
          <p:cNvPr id="6" name="TextBox 5">
            <a:extLst>
              <a:ext uri="{FF2B5EF4-FFF2-40B4-BE49-F238E27FC236}">
                <a16:creationId xmlns:a16="http://schemas.microsoft.com/office/drawing/2014/main" id="{77304ADE-DEE1-EB80-B625-EB4C767E0DA6}"/>
              </a:ext>
            </a:extLst>
          </p:cNvPr>
          <p:cNvSpPr txBox="1"/>
          <p:nvPr/>
        </p:nvSpPr>
        <p:spPr>
          <a:xfrm>
            <a:off x="770011" y="1524000"/>
            <a:ext cx="11062760" cy="1369606"/>
          </a:xfrm>
          <a:prstGeom prst="rect">
            <a:avLst/>
          </a:prstGeom>
          <a:noFill/>
        </p:spPr>
        <p:txBody>
          <a:bodyPr wrap="square" rtlCol="0">
            <a:spAutoFit/>
          </a:bodyPr>
          <a:lstStyle/>
          <a:p>
            <a:r>
              <a:rPr lang="en-IN" sz="2500" dirty="0">
                <a:latin typeface="Abadi" panose="020B0604020104020204" pitchFamily="34" charset="0"/>
              </a:rPr>
              <a:t>Query Analysis</a:t>
            </a:r>
          </a:p>
          <a:p>
            <a:pPr marL="285750" lvl="0" indent="-285750">
              <a:buFont typeface="Wingdings" panose="05000000000000000000" pitchFamily="2" charset="2"/>
              <a:buChar char="Ø"/>
            </a:pPr>
            <a:r>
              <a:rPr lang="en-IN" sz="2000" dirty="0"/>
              <a:t>Used the SQL LIKE 'CCA%' condition to identify launch sites whose names begin with </a:t>
            </a:r>
            <a:r>
              <a:rPr lang="en-IN" sz="2000" b="1" dirty="0"/>
              <a:t>CCA</a:t>
            </a:r>
            <a:r>
              <a:rPr lang="en-IN" sz="2000" dirty="0"/>
              <a:t>.</a:t>
            </a:r>
          </a:p>
          <a:p>
            <a:pPr marL="285750" lvl="0" indent="-285750">
              <a:buFont typeface="Wingdings" panose="05000000000000000000" pitchFamily="2" charset="2"/>
              <a:buChar char="Ø"/>
            </a:pPr>
            <a:r>
              <a:rPr lang="en-IN" sz="2000" dirty="0"/>
              <a:t>Retrieved the first five records using the LIMIT 5 clause.</a:t>
            </a:r>
          </a:p>
          <a:p>
            <a:endParaRPr lang="en-IN" dirty="0"/>
          </a:p>
        </p:txBody>
      </p:sp>
      <p:sp>
        <p:nvSpPr>
          <p:cNvPr id="7" name="TextBox 6">
            <a:extLst>
              <a:ext uri="{FF2B5EF4-FFF2-40B4-BE49-F238E27FC236}">
                <a16:creationId xmlns:a16="http://schemas.microsoft.com/office/drawing/2014/main" id="{B99821A5-F08C-29AF-81DE-9CA31CAC6DAA}"/>
              </a:ext>
            </a:extLst>
          </p:cNvPr>
          <p:cNvSpPr txBox="1"/>
          <p:nvPr/>
        </p:nvSpPr>
        <p:spPr>
          <a:xfrm>
            <a:off x="770011" y="2784748"/>
            <a:ext cx="9078685" cy="1985159"/>
          </a:xfrm>
          <a:prstGeom prst="rect">
            <a:avLst/>
          </a:prstGeom>
          <a:noFill/>
        </p:spPr>
        <p:txBody>
          <a:bodyPr wrap="square" rtlCol="0">
            <a:spAutoFit/>
          </a:bodyPr>
          <a:lstStyle/>
          <a:p>
            <a:r>
              <a:rPr lang="en-IN" sz="2500" dirty="0">
                <a:latin typeface="Abadi" panose="020B0604020104020204" pitchFamily="34" charset="0"/>
              </a:rPr>
              <a:t>Key Observations</a:t>
            </a:r>
          </a:p>
          <a:p>
            <a:pPr marL="285750" lvl="0" indent="-285750">
              <a:buFont typeface="Wingdings" panose="05000000000000000000" pitchFamily="2" charset="2"/>
              <a:buChar char="Ø"/>
            </a:pPr>
            <a:r>
              <a:rPr lang="en-IN" sz="2000" dirty="0"/>
              <a:t>All five records belong to the </a:t>
            </a:r>
            <a:r>
              <a:rPr lang="en-IN" sz="2000" b="1" dirty="0"/>
              <a:t>CCAFS LC-40</a:t>
            </a:r>
            <a:r>
              <a:rPr lang="en-IN" sz="2000" dirty="0"/>
              <a:t> launch site.</a:t>
            </a:r>
          </a:p>
          <a:p>
            <a:pPr marL="285750" lvl="0" indent="-285750">
              <a:buFont typeface="Wingdings" panose="05000000000000000000" pitchFamily="2" charset="2"/>
              <a:buChar char="Ø"/>
            </a:pPr>
            <a:r>
              <a:rPr lang="en-IN" sz="2000" dirty="0"/>
              <a:t>The records include launches from 2010 to 2013.</a:t>
            </a:r>
          </a:p>
          <a:p>
            <a:pPr marL="285750" lvl="0" indent="-285750">
              <a:buFont typeface="Wingdings" panose="05000000000000000000" pitchFamily="2" charset="2"/>
              <a:buChar char="Ø"/>
            </a:pPr>
            <a:r>
              <a:rPr lang="en-IN" sz="2000" dirty="0"/>
              <a:t>The missions include Dragon demonstration flights and NASA cargo resupply missions</a:t>
            </a:r>
            <a:r>
              <a:rPr lang="en-IN" dirty="0"/>
              <a:t>.</a:t>
            </a:r>
          </a:p>
          <a:p>
            <a:endParaRPr lang="en-IN" dirty="0"/>
          </a:p>
        </p:txBody>
      </p:sp>
      <p:sp>
        <p:nvSpPr>
          <p:cNvPr id="8" name="TextBox 7">
            <a:extLst>
              <a:ext uri="{FF2B5EF4-FFF2-40B4-BE49-F238E27FC236}">
                <a16:creationId xmlns:a16="http://schemas.microsoft.com/office/drawing/2014/main" id="{CDB8CD4B-CAC4-258C-1DF3-763E61F90686}"/>
              </a:ext>
            </a:extLst>
          </p:cNvPr>
          <p:cNvSpPr txBox="1"/>
          <p:nvPr/>
        </p:nvSpPr>
        <p:spPr>
          <a:xfrm>
            <a:off x="770011" y="4595735"/>
            <a:ext cx="11549743" cy="1061829"/>
          </a:xfrm>
          <a:prstGeom prst="rect">
            <a:avLst/>
          </a:prstGeom>
          <a:noFill/>
        </p:spPr>
        <p:txBody>
          <a:bodyPr wrap="square" rtlCol="0">
            <a:spAutoFit/>
          </a:bodyPr>
          <a:lstStyle/>
          <a:p>
            <a:r>
              <a:rPr lang="en-IN" sz="2500" dirty="0">
                <a:latin typeface="Abadi" panose="020B0604020104020204" pitchFamily="34" charset="0"/>
              </a:rPr>
              <a:t>Conclusion</a:t>
            </a:r>
            <a:r>
              <a:rPr lang="en-IN" b="1" dirty="0"/>
              <a:t>:</a:t>
            </a:r>
            <a:r>
              <a:rPr lang="en-IN" dirty="0"/>
              <a:t> </a:t>
            </a:r>
            <a:r>
              <a:rPr lang="en-IN" sz="2000" dirty="0"/>
              <a:t>CCAFS LC-40 is a launch site used for multiple Falcon 9 missions, including early demonstration and cargo resupply flights.</a:t>
            </a:r>
          </a:p>
          <a:p>
            <a:endParaRPr lang="en-IN" dirty="0"/>
          </a:p>
        </p:txBody>
      </p:sp>
    </p:spTree>
    <p:extLst>
      <p:ext uri="{BB962C8B-B14F-4D97-AF65-F5344CB8AC3E}">
        <p14:creationId xmlns:p14="http://schemas.microsoft.com/office/powerpoint/2010/main" val="17947386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26</a:t>
            </a:fld>
            <a:endParaRPr lang="en-US"/>
          </a:p>
        </p:txBody>
      </p:sp>
      <p:sp>
        <p:nvSpPr>
          <p:cNvPr id="3" name="Title 1">
            <a:extLst>
              <a:ext uri="{FF2B5EF4-FFF2-40B4-BE49-F238E27FC236}">
                <a16:creationId xmlns:a16="http://schemas.microsoft.com/office/drawing/2014/main" id="{FD161C47-0660-416F-B4C2-25E4D35D69F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Total Payload Mass</a:t>
            </a:r>
          </a:p>
        </p:txBody>
      </p:sp>
      <p:sp>
        <p:nvSpPr>
          <p:cNvPr id="2" name="TextBox 1">
            <a:extLst>
              <a:ext uri="{FF2B5EF4-FFF2-40B4-BE49-F238E27FC236}">
                <a16:creationId xmlns:a16="http://schemas.microsoft.com/office/drawing/2014/main" id="{154CB0D1-C95E-956C-285C-53BF8BB79B2C}"/>
              </a:ext>
            </a:extLst>
          </p:cNvPr>
          <p:cNvSpPr txBox="1"/>
          <p:nvPr/>
        </p:nvSpPr>
        <p:spPr>
          <a:xfrm>
            <a:off x="701371" y="1447800"/>
            <a:ext cx="11215160" cy="5570756"/>
          </a:xfrm>
          <a:prstGeom prst="rect">
            <a:avLst/>
          </a:prstGeom>
          <a:noFill/>
        </p:spPr>
        <p:txBody>
          <a:bodyPr wrap="square" rtlCol="0">
            <a:spAutoFit/>
          </a:bodyPr>
          <a:lstStyle/>
          <a:p>
            <a:pPr marL="457200" lvl="0" indent="-457200">
              <a:buFont typeface="Wingdings" panose="05000000000000000000" pitchFamily="2" charset="2"/>
              <a:buChar char="Ø"/>
            </a:pPr>
            <a:r>
              <a:rPr lang="en-IN" sz="2600" b="1" dirty="0"/>
              <a:t>Objective:</a:t>
            </a:r>
            <a:r>
              <a:rPr lang="en-IN" sz="2600" dirty="0"/>
              <a:t> Calculate the total payload mass carried by SpaceX boosters for NASA (CRS) missions.</a:t>
            </a:r>
          </a:p>
          <a:p>
            <a:pPr marL="457200" lvl="0" indent="-457200">
              <a:buFont typeface="Wingdings" panose="05000000000000000000" pitchFamily="2" charset="2"/>
              <a:buChar char="Ø"/>
            </a:pPr>
            <a:r>
              <a:rPr lang="en-IN" sz="2600" b="1" dirty="0"/>
              <a:t>SQL Analysis:</a:t>
            </a:r>
            <a:r>
              <a:rPr lang="en-IN" sz="2600" dirty="0"/>
              <a:t> Used the SUM() function to calculate the combined payload mass of NASA (CRS) missions in the SPACEXTABLE database.</a:t>
            </a:r>
          </a:p>
          <a:p>
            <a:pPr marL="457200" lvl="0" indent="-457200">
              <a:buFont typeface="Wingdings" panose="05000000000000000000" pitchFamily="2" charset="2"/>
              <a:buChar char="Ø"/>
            </a:pPr>
            <a:r>
              <a:rPr lang="en-IN" sz="2600" b="1" dirty="0"/>
              <a:t>Filtering:</a:t>
            </a:r>
            <a:r>
              <a:rPr lang="en-IN" sz="2600" dirty="0"/>
              <a:t> Applied the condition WHERE Customer = 'NASA (CRS)' to include only payloads associated with NASA cargo resupply missions.</a:t>
            </a:r>
          </a:p>
          <a:p>
            <a:pPr marL="457200" lvl="0" indent="-457200">
              <a:buFont typeface="Wingdings" panose="05000000000000000000" pitchFamily="2" charset="2"/>
              <a:buChar char="Ø"/>
            </a:pPr>
            <a:r>
              <a:rPr lang="en-IN" sz="2600" b="1" dirty="0"/>
              <a:t>Query Result:</a:t>
            </a:r>
            <a:r>
              <a:rPr lang="en-IN" sz="2600" dirty="0"/>
              <a:t> The total payload mass is </a:t>
            </a:r>
            <a:r>
              <a:rPr lang="en-IN" sz="2600" b="1" dirty="0"/>
              <a:t>45,596 kg</a:t>
            </a:r>
            <a:r>
              <a:rPr lang="en-IN" sz="2600" dirty="0"/>
              <a:t>.</a:t>
            </a:r>
          </a:p>
          <a:p>
            <a:pPr marL="457200" lvl="0" indent="-457200">
              <a:buFont typeface="Wingdings" panose="05000000000000000000" pitchFamily="2" charset="2"/>
              <a:buChar char="Ø"/>
            </a:pPr>
            <a:r>
              <a:rPr lang="en-IN" sz="2600" b="1" dirty="0"/>
              <a:t>Key Observation:</a:t>
            </a:r>
            <a:r>
              <a:rPr lang="en-IN" sz="2600" dirty="0"/>
              <a:t> The result represents the combined mass of payloads recorded for NASA (CRS) missions, rather than the payload mass of a single launch.</a:t>
            </a:r>
          </a:p>
          <a:p>
            <a:pPr marL="457200" lvl="0" indent="-457200">
              <a:buFont typeface="Wingdings" panose="05000000000000000000" pitchFamily="2" charset="2"/>
              <a:buChar char="Ø"/>
            </a:pPr>
            <a:r>
              <a:rPr lang="en-IN" sz="2600" b="1" dirty="0"/>
              <a:t>Conclusion:</a:t>
            </a:r>
            <a:r>
              <a:rPr lang="en-IN" sz="2600" dirty="0"/>
              <a:t> This analysis helps quantify the total cargo transported by Falcon 9 boosters for NASA cargo resupply missions and demonstrates how SQL can summarize mission data efficiently.</a:t>
            </a:r>
          </a:p>
          <a:p>
            <a:endParaRPr lang="en-IN" dirty="0"/>
          </a:p>
        </p:txBody>
      </p:sp>
    </p:spTree>
    <p:extLst>
      <p:ext uri="{BB962C8B-B14F-4D97-AF65-F5344CB8AC3E}">
        <p14:creationId xmlns:p14="http://schemas.microsoft.com/office/powerpoint/2010/main" val="40100147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27</a:t>
            </a:fld>
            <a:endParaRPr lang="en-US"/>
          </a:p>
        </p:txBody>
      </p:sp>
      <p:sp>
        <p:nvSpPr>
          <p:cNvPr id="3" name="Title 1">
            <a:extLst>
              <a:ext uri="{FF2B5EF4-FFF2-40B4-BE49-F238E27FC236}">
                <a16:creationId xmlns:a16="http://schemas.microsoft.com/office/drawing/2014/main" id="{AFD52E17-48CB-4D60-BD56-71D197A29B38}"/>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Average Payload Mass by F9 v1.1</a:t>
            </a:r>
          </a:p>
        </p:txBody>
      </p:sp>
      <p:sp>
        <p:nvSpPr>
          <p:cNvPr id="2" name="TextBox 1">
            <a:extLst>
              <a:ext uri="{FF2B5EF4-FFF2-40B4-BE49-F238E27FC236}">
                <a16:creationId xmlns:a16="http://schemas.microsoft.com/office/drawing/2014/main" id="{5734FC5A-AE64-0CC3-9A0D-AD5164060E74}"/>
              </a:ext>
            </a:extLst>
          </p:cNvPr>
          <p:cNvSpPr txBox="1"/>
          <p:nvPr/>
        </p:nvSpPr>
        <p:spPr>
          <a:xfrm>
            <a:off x="734028" y="1547607"/>
            <a:ext cx="10091057" cy="4493538"/>
          </a:xfrm>
          <a:prstGeom prst="rect">
            <a:avLst/>
          </a:prstGeom>
          <a:noFill/>
        </p:spPr>
        <p:txBody>
          <a:bodyPr wrap="square" rtlCol="0">
            <a:spAutoFit/>
          </a:bodyPr>
          <a:lstStyle/>
          <a:p>
            <a:pPr marL="457200" lvl="0" indent="-457200">
              <a:buFont typeface="Wingdings" panose="05000000000000000000" pitchFamily="2" charset="2"/>
              <a:buChar char="Ø"/>
            </a:pPr>
            <a:r>
              <a:rPr lang="en-IN" sz="2600" b="1" dirty="0"/>
              <a:t>Objective:</a:t>
            </a:r>
            <a:r>
              <a:rPr lang="en-IN" sz="2600" dirty="0"/>
              <a:t> Calculate the average payload mass carried by the Falcon 9 v1.1 booster version.</a:t>
            </a:r>
          </a:p>
          <a:p>
            <a:pPr marL="457200" lvl="0" indent="-457200">
              <a:buFont typeface="Wingdings" panose="05000000000000000000" pitchFamily="2" charset="2"/>
              <a:buChar char="Ø"/>
            </a:pPr>
            <a:r>
              <a:rPr lang="en-IN" sz="2600" b="1" dirty="0"/>
              <a:t>SQL Analysis:</a:t>
            </a:r>
            <a:r>
              <a:rPr lang="en-IN" sz="2600" dirty="0"/>
              <a:t> Used the AVG() function on the PAYLOAD_MASS__KG_ column to calculate the average payload mass for F9 v1.1 launches.</a:t>
            </a:r>
          </a:p>
          <a:p>
            <a:pPr marL="457200" lvl="0" indent="-457200">
              <a:buFont typeface="Wingdings" panose="05000000000000000000" pitchFamily="2" charset="2"/>
              <a:buChar char="Ø"/>
            </a:pPr>
            <a:r>
              <a:rPr lang="en-IN" sz="2600" b="1" dirty="0"/>
              <a:t>Query Result:</a:t>
            </a:r>
            <a:r>
              <a:rPr lang="en-IN" sz="2600" dirty="0"/>
              <a:t> The average payload mass is </a:t>
            </a:r>
            <a:r>
              <a:rPr lang="en-IN" sz="2600" b="1" dirty="0"/>
              <a:t>2,928.4 kg</a:t>
            </a:r>
            <a:r>
              <a:rPr lang="en-IN" sz="2600" dirty="0"/>
              <a:t>.</a:t>
            </a:r>
          </a:p>
          <a:p>
            <a:pPr marL="457200" lvl="0" indent="-457200">
              <a:buFont typeface="Wingdings" panose="05000000000000000000" pitchFamily="2" charset="2"/>
              <a:buChar char="Ø"/>
            </a:pPr>
            <a:r>
              <a:rPr lang="en-IN" sz="2600" b="1" dirty="0"/>
              <a:t>Explanation:</a:t>
            </a:r>
            <a:r>
              <a:rPr lang="en-IN" sz="2600" dirty="0"/>
              <a:t> This value represents the average mass of payloads carried by the F9 v1.1 booster across the launches included in the dataset.</a:t>
            </a:r>
          </a:p>
          <a:p>
            <a:pPr marL="457200" lvl="0" indent="-457200">
              <a:buFont typeface="Wingdings" panose="05000000000000000000" pitchFamily="2" charset="2"/>
              <a:buChar char="Ø"/>
            </a:pPr>
            <a:r>
              <a:rPr lang="en-IN" sz="2600" b="1" dirty="0"/>
              <a:t>Conclusion:</a:t>
            </a:r>
            <a:r>
              <a:rPr lang="en-IN" sz="2600" dirty="0"/>
              <a:t> The analysis helps understand the typical payload capacity used in F9 v1.1 missions and compare its payload performance with other Falcon 9 booster versions.</a:t>
            </a:r>
          </a:p>
        </p:txBody>
      </p:sp>
    </p:spTree>
    <p:extLst>
      <p:ext uri="{BB962C8B-B14F-4D97-AF65-F5344CB8AC3E}">
        <p14:creationId xmlns:p14="http://schemas.microsoft.com/office/powerpoint/2010/main" val="27355605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28</a:t>
            </a:fld>
            <a:endParaRPr lang="en-US"/>
          </a:p>
        </p:txBody>
      </p:sp>
      <p:sp>
        <p:nvSpPr>
          <p:cNvPr id="3" name="Title 1">
            <a:extLst>
              <a:ext uri="{FF2B5EF4-FFF2-40B4-BE49-F238E27FC236}">
                <a16:creationId xmlns:a16="http://schemas.microsoft.com/office/drawing/2014/main" id="{7F12CD3C-55B3-4129-817A-84D0B28F713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First Successful Ground Landing Date</a:t>
            </a:r>
          </a:p>
        </p:txBody>
      </p:sp>
      <p:sp>
        <p:nvSpPr>
          <p:cNvPr id="2" name="TextBox 1">
            <a:extLst>
              <a:ext uri="{FF2B5EF4-FFF2-40B4-BE49-F238E27FC236}">
                <a16:creationId xmlns:a16="http://schemas.microsoft.com/office/drawing/2014/main" id="{FD81CDBB-02F6-7A2B-502F-9B6FAE7C3C16}"/>
              </a:ext>
            </a:extLst>
          </p:cNvPr>
          <p:cNvSpPr txBox="1"/>
          <p:nvPr/>
        </p:nvSpPr>
        <p:spPr>
          <a:xfrm>
            <a:off x="734028" y="1698172"/>
            <a:ext cx="11419115" cy="4893647"/>
          </a:xfrm>
          <a:prstGeom prst="rect">
            <a:avLst/>
          </a:prstGeom>
          <a:noFill/>
        </p:spPr>
        <p:txBody>
          <a:bodyPr wrap="square" rtlCol="0">
            <a:spAutoFit/>
          </a:bodyPr>
          <a:lstStyle/>
          <a:p>
            <a:pPr marL="457200" lvl="0" indent="-457200">
              <a:buFont typeface="Wingdings" panose="05000000000000000000" pitchFamily="2" charset="2"/>
              <a:buChar char="Ø"/>
            </a:pPr>
            <a:r>
              <a:rPr lang="en-IN" sz="2600" b="1" dirty="0">
                <a:latin typeface="Abadi" panose="020B0604020104020204" pitchFamily="34" charset="0"/>
              </a:rPr>
              <a:t>Objective:</a:t>
            </a:r>
            <a:r>
              <a:rPr lang="en-IN" sz="2600" dirty="0">
                <a:latin typeface="Abadi" panose="020B0604020104020204" pitchFamily="34" charset="0"/>
              </a:rPr>
              <a:t> Identify the date of the first successful Falcon 9 first-stage landing on a ground pad.</a:t>
            </a:r>
          </a:p>
          <a:p>
            <a:pPr marL="457200" lvl="0" indent="-457200">
              <a:buFont typeface="Wingdings" panose="05000000000000000000" pitchFamily="2" charset="2"/>
              <a:buChar char="Ø"/>
            </a:pPr>
            <a:r>
              <a:rPr lang="en-IN" sz="2600" b="1" dirty="0">
                <a:latin typeface="Abadi" panose="020B0604020104020204" pitchFamily="34" charset="0"/>
              </a:rPr>
              <a:t>SQL Analysis:</a:t>
            </a:r>
            <a:r>
              <a:rPr lang="en-IN" sz="2600" dirty="0">
                <a:latin typeface="Abadi" panose="020B0604020104020204" pitchFamily="34" charset="0"/>
              </a:rPr>
              <a:t> Used the MIN() function on the Date column to find the earliest landing date where the Landing Outcome was 'Success (ground pad)'.</a:t>
            </a:r>
          </a:p>
          <a:p>
            <a:pPr marL="457200" lvl="0" indent="-457200">
              <a:buFont typeface="Wingdings" panose="05000000000000000000" pitchFamily="2" charset="2"/>
              <a:buChar char="Ø"/>
            </a:pPr>
            <a:r>
              <a:rPr lang="en-IN" sz="2600" b="1" dirty="0">
                <a:latin typeface="Abadi" panose="020B0604020104020204" pitchFamily="34" charset="0"/>
              </a:rPr>
              <a:t>Query Result:</a:t>
            </a:r>
            <a:r>
              <a:rPr lang="en-IN" sz="2600" dirty="0">
                <a:latin typeface="Abadi" panose="020B0604020104020204" pitchFamily="34" charset="0"/>
              </a:rPr>
              <a:t> </a:t>
            </a:r>
            <a:r>
              <a:rPr lang="en-IN" sz="2600" b="1" dirty="0">
                <a:latin typeface="Abadi" panose="020B0604020104020204" pitchFamily="34" charset="0"/>
              </a:rPr>
              <a:t>22 December 2015 (2015-12-22).</a:t>
            </a:r>
            <a:endParaRPr lang="en-IN" sz="2600" dirty="0">
              <a:latin typeface="Abadi" panose="020B0604020104020204" pitchFamily="34" charset="0"/>
            </a:endParaRPr>
          </a:p>
          <a:p>
            <a:pPr marL="457200" lvl="0" indent="-457200">
              <a:buFont typeface="Wingdings" panose="05000000000000000000" pitchFamily="2" charset="2"/>
              <a:buChar char="Ø"/>
            </a:pPr>
            <a:r>
              <a:rPr lang="en-IN" sz="2600" b="1" dirty="0">
                <a:latin typeface="Abadi" panose="020B0604020104020204" pitchFamily="34" charset="0"/>
              </a:rPr>
              <a:t>Key Observation:</a:t>
            </a:r>
            <a:r>
              <a:rPr lang="en-IN" sz="2600" dirty="0">
                <a:latin typeface="Abadi" panose="020B0604020104020204" pitchFamily="34" charset="0"/>
              </a:rPr>
              <a:t> The query identifies the earliest recorded successful ground-pad landing in the dataset.</a:t>
            </a:r>
          </a:p>
          <a:p>
            <a:pPr marL="457200" lvl="0" indent="-457200">
              <a:buFont typeface="Wingdings" panose="05000000000000000000" pitchFamily="2" charset="2"/>
              <a:buChar char="Ø"/>
            </a:pPr>
            <a:r>
              <a:rPr lang="en-IN" sz="2600" b="1" dirty="0">
                <a:latin typeface="Abadi" panose="020B0604020104020204" pitchFamily="34" charset="0"/>
              </a:rPr>
              <a:t>Conclusion:</a:t>
            </a:r>
            <a:r>
              <a:rPr lang="en-IN" sz="2600" dirty="0">
                <a:latin typeface="Abadi" panose="020B0604020104020204" pitchFamily="34" charset="0"/>
              </a:rPr>
              <a:t> This result helps determine when SpaceX first achieved a successful ground-pad landing, an important milestone in developing reusable rocket technology.</a:t>
            </a:r>
          </a:p>
          <a:p>
            <a:pPr marL="457200" indent="-457200">
              <a:buFont typeface="Wingdings" panose="05000000000000000000" pitchFamily="2" charset="2"/>
              <a:buChar char="Ø"/>
            </a:pPr>
            <a:endParaRPr lang="en-IN" sz="2600" dirty="0">
              <a:latin typeface="Abadi" panose="020B0604020104020204" pitchFamily="34" charset="0"/>
            </a:endParaRPr>
          </a:p>
        </p:txBody>
      </p:sp>
    </p:spTree>
    <p:extLst>
      <p:ext uri="{BB962C8B-B14F-4D97-AF65-F5344CB8AC3E}">
        <p14:creationId xmlns:p14="http://schemas.microsoft.com/office/powerpoint/2010/main" val="14346799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29</a:t>
            </a:fld>
            <a:endParaRPr lang="en-US"/>
          </a:p>
        </p:txBody>
      </p:sp>
      <p:sp>
        <p:nvSpPr>
          <p:cNvPr id="8" name="Title 1">
            <a:extLst>
              <a:ext uri="{FF2B5EF4-FFF2-40B4-BE49-F238E27FC236}">
                <a16:creationId xmlns:a16="http://schemas.microsoft.com/office/drawing/2014/main" id="{952C2E9C-C6BE-40BD-A406-CFB441363CB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Successful Drone Ship Landing with Payload between 4000 and 6000</a:t>
            </a:r>
          </a:p>
        </p:txBody>
      </p:sp>
      <p:sp>
        <p:nvSpPr>
          <p:cNvPr id="2" name="TextBox 1">
            <a:extLst>
              <a:ext uri="{FF2B5EF4-FFF2-40B4-BE49-F238E27FC236}">
                <a16:creationId xmlns:a16="http://schemas.microsoft.com/office/drawing/2014/main" id="{5F7B9594-35A1-5832-84DD-EE7388540FB7}"/>
              </a:ext>
            </a:extLst>
          </p:cNvPr>
          <p:cNvSpPr txBox="1"/>
          <p:nvPr/>
        </p:nvSpPr>
        <p:spPr>
          <a:xfrm>
            <a:off x="734028" y="1317172"/>
            <a:ext cx="10371211" cy="5786199"/>
          </a:xfrm>
          <a:prstGeom prst="rect">
            <a:avLst/>
          </a:prstGeom>
          <a:noFill/>
        </p:spPr>
        <p:txBody>
          <a:bodyPr wrap="square" rtlCol="0">
            <a:spAutoFit/>
          </a:bodyPr>
          <a:lstStyle/>
          <a:p>
            <a:pPr marL="342900" lvl="0" indent="-342900">
              <a:buFont typeface="Wingdings" panose="05000000000000000000" pitchFamily="2" charset="2"/>
              <a:buChar char="Ø"/>
            </a:pPr>
            <a:r>
              <a:rPr lang="en-IN" sz="2200" b="1" dirty="0"/>
              <a:t>Objective:</a:t>
            </a:r>
            <a:r>
              <a:rPr lang="en-IN" sz="2200" dirty="0"/>
              <a:t> Identify the booster versions that successfully landed on a drone ship while carrying a payload mass greater than 4,000 kg and less than 6,000 kg.</a:t>
            </a:r>
          </a:p>
          <a:p>
            <a:pPr marL="342900" lvl="0" indent="-342900">
              <a:buFont typeface="Wingdings" panose="05000000000000000000" pitchFamily="2" charset="2"/>
              <a:buChar char="Ø"/>
            </a:pPr>
            <a:r>
              <a:rPr lang="en-IN" sz="2200" b="1" dirty="0"/>
              <a:t>SQL Analysis:</a:t>
            </a:r>
            <a:r>
              <a:rPr lang="en-IN" sz="2200" dirty="0"/>
              <a:t> Used the SELECT DISTINCT statement to retrieve unique booster versions from the SPACEXTABLE database.</a:t>
            </a:r>
          </a:p>
          <a:p>
            <a:pPr marL="342900" lvl="0" indent="-342900">
              <a:buFont typeface="Wingdings" panose="05000000000000000000" pitchFamily="2" charset="2"/>
              <a:buChar char="Ø"/>
            </a:pPr>
            <a:r>
              <a:rPr lang="en-IN" sz="2200" b="1" dirty="0"/>
              <a:t>Filtering Conditions:</a:t>
            </a:r>
            <a:r>
              <a:rPr lang="en-IN" sz="2200" dirty="0"/>
              <a:t> Selected records with the landing outcome Success (drone ship) and payload mass between 4,000 kg and 6,000 kg.</a:t>
            </a:r>
          </a:p>
          <a:p>
            <a:pPr marL="342900" lvl="0" indent="-342900">
              <a:buFont typeface="Wingdings" panose="05000000000000000000" pitchFamily="2" charset="2"/>
              <a:buChar char="Ø"/>
            </a:pPr>
            <a:r>
              <a:rPr lang="en-IN" sz="2200" b="1" dirty="0"/>
              <a:t>Query Results:</a:t>
            </a:r>
            <a:r>
              <a:rPr lang="en-IN" sz="2200" dirty="0"/>
              <a:t> The identified booster versions include:</a:t>
            </a:r>
          </a:p>
          <a:p>
            <a:pPr marL="800100" lvl="1" indent="-342900">
              <a:buFont typeface="Wingdings" panose="05000000000000000000" pitchFamily="2" charset="2"/>
              <a:buChar char="Ø"/>
            </a:pPr>
            <a:r>
              <a:rPr lang="en-IN" sz="2200" dirty="0"/>
              <a:t>F9 FT B1022</a:t>
            </a:r>
          </a:p>
          <a:p>
            <a:pPr marL="800100" lvl="1" indent="-342900">
              <a:buFont typeface="Wingdings" panose="05000000000000000000" pitchFamily="2" charset="2"/>
              <a:buChar char="Ø"/>
            </a:pPr>
            <a:r>
              <a:rPr lang="en-IN" sz="2200" dirty="0"/>
              <a:t>F9 FT B1026</a:t>
            </a:r>
          </a:p>
          <a:p>
            <a:pPr marL="800100" lvl="1" indent="-342900">
              <a:buFont typeface="Wingdings" panose="05000000000000000000" pitchFamily="2" charset="2"/>
              <a:buChar char="Ø"/>
            </a:pPr>
            <a:r>
              <a:rPr lang="en-IN" sz="2200" dirty="0"/>
              <a:t>F9 FT B1021.2</a:t>
            </a:r>
          </a:p>
          <a:p>
            <a:pPr marL="800100" lvl="1" indent="-342900">
              <a:buFont typeface="Wingdings" panose="05000000000000000000" pitchFamily="2" charset="2"/>
              <a:buChar char="Ø"/>
            </a:pPr>
            <a:r>
              <a:rPr lang="en-IN" sz="2200" dirty="0"/>
              <a:t>F9 FT B1031.2</a:t>
            </a:r>
          </a:p>
          <a:p>
            <a:pPr marL="342900" lvl="0" indent="-342900">
              <a:buFont typeface="Wingdings" panose="05000000000000000000" pitchFamily="2" charset="2"/>
              <a:buChar char="Ø"/>
            </a:pPr>
            <a:r>
              <a:rPr lang="en-IN" sz="2200" b="1" dirty="0"/>
              <a:t>Key Observation:</a:t>
            </a:r>
            <a:r>
              <a:rPr lang="en-IN" sz="2200" dirty="0"/>
              <a:t> These booster versions meet the specified landing-outcome and payload-mass conditions in the dataset.</a:t>
            </a:r>
          </a:p>
          <a:p>
            <a:pPr marL="342900" lvl="0" indent="-342900">
              <a:buFont typeface="Wingdings" panose="05000000000000000000" pitchFamily="2" charset="2"/>
              <a:buChar char="Ø"/>
            </a:pPr>
            <a:r>
              <a:rPr lang="en-IN" sz="2200" b="1" dirty="0"/>
              <a:t>Conclusion:</a:t>
            </a:r>
            <a:r>
              <a:rPr lang="en-IN" sz="2200" dirty="0"/>
              <a:t> This analysis identifies Falcon 9 booster versions that achieved successful drone-ship landings within the selected payload range, helping examine booster recovery performance.</a:t>
            </a:r>
          </a:p>
          <a:p>
            <a:endParaRPr lang="en-IN" dirty="0"/>
          </a:p>
        </p:txBody>
      </p:sp>
    </p:spTree>
    <p:extLst>
      <p:ext uri="{BB962C8B-B14F-4D97-AF65-F5344CB8AC3E}">
        <p14:creationId xmlns:p14="http://schemas.microsoft.com/office/powerpoint/2010/main" val="6393995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30</a:t>
            </a:fld>
            <a:endParaRPr lang="en-US"/>
          </a:p>
        </p:txBody>
      </p:sp>
      <p:sp>
        <p:nvSpPr>
          <p:cNvPr id="3" name="Title 1">
            <a:extLst>
              <a:ext uri="{FF2B5EF4-FFF2-40B4-BE49-F238E27FC236}">
                <a16:creationId xmlns:a16="http://schemas.microsoft.com/office/drawing/2014/main" id="{79B32320-42D4-49FA-8047-C080B444B3A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Total Number of Successful and Failure Mission Outcomes</a:t>
            </a:r>
          </a:p>
        </p:txBody>
      </p:sp>
      <p:sp>
        <p:nvSpPr>
          <p:cNvPr id="2" name="TextBox 1">
            <a:extLst>
              <a:ext uri="{FF2B5EF4-FFF2-40B4-BE49-F238E27FC236}">
                <a16:creationId xmlns:a16="http://schemas.microsoft.com/office/drawing/2014/main" id="{5CC6160A-D715-C361-12DC-16DEE67A65FC}"/>
              </a:ext>
            </a:extLst>
          </p:cNvPr>
          <p:cNvSpPr txBox="1"/>
          <p:nvPr/>
        </p:nvSpPr>
        <p:spPr>
          <a:xfrm>
            <a:off x="734028" y="1436913"/>
            <a:ext cx="9993085" cy="5632311"/>
          </a:xfrm>
          <a:prstGeom prst="rect">
            <a:avLst/>
          </a:prstGeom>
          <a:noFill/>
        </p:spPr>
        <p:txBody>
          <a:bodyPr wrap="square" rtlCol="0">
            <a:spAutoFit/>
          </a:bodyPr>
          <a:lstStyle/>
          <a:p>
            <a:pPr marL="342900" lvl="0" indent="-342900">
              <a:buFont typeface="Wingdings" panose="05000000000000000000" pitchFamily="2" charset="2"/>
              <a:buChar char="Ø"/>
            </a:pPr>
            <a:r>
              <a:rPr lang="en-IN" sz="2400" b="1" dirty="0"/>
              <a:t>Objective:</a:t>
            </a:r>
            <a:r>
              <a:rPr lang="en-IN" sz="2400" dirty="0"/>
              <a:t> Calculate the total number of successful and failed missions recorded in the SpaceX dataset.</a:t>
            </a:r>
          </a:p>
          <a:p>
            <a:pPr marL="342900" lvl="0" indent="-342900">
              <a:buFont typeface="Wingdings" panose="05000000000000000000" pitchFamily="2" charset="2"/>
              <a:buChar char="Ø"/>
            </a:pPr>
            <a:r>
              <a:rPr lang="en-IN" sz="2400" b="1" dirty="0"/>
              <a:t>SQL Analysis:</a:t>
            </a:r>
            <a:r>
              <a:rPr lang="en-IN" sz="2400" dirty="0"/>
              <a:t> Used the COUNT() function to count mission records and GROUP BY Mission Outcome to organize the results by outcome.</a:t>
            </a:r>
          </a:p>
          <a:p>
            <a:pPr marL="342900" lvl="0" indent="-342900">
              <a:buFont typeface="Wingdings" panose="05000000000000000000" pitchFamily="2" charset="2"/>
              <a:buChar char="Ø"/>
            </a:pPr>
            <a:r>
              <a:rPr lang="en-IN" sz="2400" b="1" dirty="0"/>
              <a:t>Successful Missions:</a:t>
            </a:r>
            <a:r>
              <a:rPr lang="en-IN" sz="2400" dirty="0"/>
              <a:t> The dataset records </a:t>
            </a:r>
            <a:r>
              <a:rPr lang="en-IN" sz="2400" b="1" dirty="0"/>
              <a:t>98 missions</a:t>
            </a:r>
            <a:r>
              <a:rPr lang="en-IN" sz="2400" dirty="0"/>
              <a:t> with the outcome Success.</a:t>
            </a:r>
          </a:p>
          <a:p>
            <a:pPr marL="342900" lvl="0" indent="-342900">
              <a:buFont typeface="Wingdings" panose="05000000000000000000" pitchFamily="2" charset="2"/>
              <a:buChar char="Ø"/>
            </a:pPr>
            <a:r>
              <a:rPr lang="en-IN" sz="2400" b="1" dirty="0"/>
              <a:t>Failure Outcomes:</a:t>
            </a:r>
            <a:r>
              <a:rPr lang="en-IN" sz="2400" dirty="0"/>
              <a:t> The dataset records </a:t>
            </a:r>
            <a:r>
              <a:rPr lang="en-IN" sz="2400" b="1" dirty="0"/>
              <a:t>1 mission</a:t>
            </a:r>
            <a:r>
              <a:rPr lang="en-IN" sz="2400" dirty="0"/>
              <a:t> with the outcome Failure (in flight).</a:t>
            </a:r>
          </a:p>
          <a:p>
            <a:pPr marL="342900" lvl="0" indent="-342900">
              <a:buFont typeface="Wingdings" panose="05000000000000000000" pitchFamily="2" charset="2"/>
              <a:buChar char="Ø"/>
            </a:pPr>
            <a:r>
              <a:rPr lang="en-IN" sz="2400" b="1" dirty="0"/>
              <a:t>Other Outcomes:</a:t>
            </a:r>
            <a:r>
              <a:rPr lang="en-IN" sz="2400" dirty="0"/>
              <a:t> The results also include </a:t>
            </a:r>
            <a:r>
              <a:rPr lang="en-IN" sz="2400" b="1" dirty="0"/>
              <a:t>1 mission</a:t>
            </a:r>
            <a:r>
              <a:rPr lang="en-IN" sz="2400" dirty="0"/>
              <a:t> marked Success (payload status unclear).</a:t>
            </a:r>
          </a:p>
          <a:p>
            <a:pPr marL="342900" lvl="0" indent="-342900">
              <a:buFont typeface="Wingdings" panose="05000000000000000000" pitchFamily="2" charset="2"/>
              <a:buChar char="Ø"/>
            </a:pPr>
            <a:r>
              <a:rPr lang="en-IN" sz="2400" b="1" dirty="0"/>
              <a:t>Key Observation:</a:t>
            </a:r>
            <a:r>
              <a:rPr lang="en-IN" sz="2400" dirty="0"/>
              <a:t> Most missions in the displayed results are recorded as successful, while a smaller number have other or uncertain outcomes.</a:t>
            </a:r>
          </a:p>
          <a:p>
            <a:pPr marL="342900" lvl="0" indent="-342900">
              <a:buFont typeface="Wingdings" panose="05000000000000000000" pitchFamily="2" charset="2"/>
              <a:buChar char="Ø"/>
            </a:pPr>
            <a:r>
              <a:rPr lang="en-IN" sz="2400" b="1" dirty="0"/>
              <a:t>Conclusion:</a:t>
            </a:r>
            <a:r>
              <a:rPr lang="en-IN" sz="2400" dirty="0"/>
              <a:t> This analysis summarizes mission outcomes and helps evaluate SpaceX mission performance using SQL.</a:t>
            </a:r>
          </a:p>
          <a:p>
            <a:endParaRPr lang="en-IN" sz="2400" dirty="0"/>
          </a:p>
        </p:txBody>
      </p:sp>
    </p:spTree>
    <p:extLst>
      <p:ext uri="{BB962C8B-B14F-4D97-AF65-F5344CB8AC3E}">
        <p14:creationId xmlns:p14="http://schemas.microsoft.com/office/powerpoint/2010/main" val="17569726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31</a:t>
            </a:fld>
            <a:endParaRPr lang="en-US" dirty="0"/>
          </a:p>
        </p:txBody>
      </p:sp>
      <p:sp>
        <p:nvSpPr>
          <p:cNvPr id="3" name="Title 1">
            <a:extLst>
              <a:ext uri="{FF2B5EF4-FFF2-40B4-BE49-F238E27FC236}">
                <a16:creationId xmlns:a16="http://schemas.microsoft.com/office/drawing/2014/main" id="{2A7EB98F-A25F-4357-9775-478FC17F7F83}"/>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Boosters Carried Maximum Payload</a:t>
            </a:r>
          </a:p>
        </p:txBody>
      </p:sp>
      <p:sp>
        <p:nvSpPr>
          <p:cNvPr id="7" name="TextBox 6">
            <a:extLst>
              <a:ext uri="{FF2B5EF4-FFF2-40B4-BE49-F238E27FC236}">
                <a16:creationId xmlns:a16="http://schemas.microsoft.com/office/drawing/2014/main" id="{EACB843E-18F6-3599-2E1B-1D0887CB230B}"/>
              </a:ext>
            </a:extLst>
          </p:cNvPr>
          <p:cNvSpPr txBox="1"/>
          <p:nvPr/>
        </p:nvSpPr>
        <p:spPr>
          <a:xfrm>
            <a:off x="770011" y="1730829"/>
            <a:ext cx="10500029" cy="4093428"/>
          </a:xfrm>
          <a:prstGeom prst="rect">
            <a:avLst/>
          </a:prstGeom>
          <a:noFill/>
        </p:spPr>
        <p:txBody>
          <a:bodyPr wrap="square" rtlCol="0">
            <a:spAutoFit/>
          </a:bodyPr>
          <a:lstStyle/>
          <a:p>
            <a:pPr marL="457200" lvl="0" indent="-457200">
              <a:buFont typeface="Wingdings" panose="05000000000000000000" pitchFamily="2" charset="2"/>
              <a:buChar char="Ø"/>
            </a:pPr>
            <a:r>
              <a:rPr lang="en-IN" sz="2600" b="1" dirty="0"/>
              <a:t>Objective:</a:t>
            </a:r>
            <a:r>
              <a:rPr lang="en-IN" sz="2600" dirty="0"/>
              <a:t> Identify the booster versions that carried the maximum payload mass in SpaceX missions.</a:t>
            </a:r>
          </a:p>
          <a:p>
            <a:pPr marL="457200" lvl="0" indent="-457200">
              <a:buFont typeface="Wingdings" panose="05000000000000000000" pitchFamily="2" charset="2"/>
              <a:buChar char="Ø"/>
            </a:pPr>
            <a:r>
              <a:rPr lang="en-IN" sz="2600" b="1" dirty="0"/>
              <a:t>SQL Analysis:</a:t>
            </a:r>
            <a:r>
              <a:rPr lang="en-IN" sz="2600" dirty="0"/>
              <a:t> Used the MAX() function to determine the highest payload mass and identify the corresponding booster versions.</a:t>
            </a:r>
          </a:p>
          <a:p>
            <a:pPr marL="457200" lvl="0" indent="-457200">
              <a:buFont typeface="Wingdings" panose="05000000000000000000" pitchFamily="2" charset="2"/>
              <a:buChar char="Ø"/>
            </a:pPr>
            <a:r>
              <a:rPr lang="en-IN" sz="2600" b="1" dirty="0"/>
              <a:t>Query Result:</a:t>
            </a:r>
            <a:r>
              <a:rPr lang="en-IN" sz="2600" dirty="0"/>
              <a:t> The results list multiple booster versions, including </a:t>
            </a:r>
            <a:r>
              <a:rPr lang="en-IN" sz="2600" b="1" dirty="0"/>
              <a:t>F9 B5 B1048.4</a:t>
            </a:r>
            <a:r>
              <a:rPr lang="en-IN" sz="2600" dirty="0"/>
              <a:t>, </a:t>
            </a:r>
            <a:r>
              <a:rPr lang="en-IN" sz="2600" b="1" dirty="0"/>
              <a:t>F9 B5 B1049.4</a:t>
            </a:r>
            <a:r>
              <a:rPr lang="en-IN" sz="2600" dirty="0"/>
              <a:t>, </a:t>
            </a:r>
            <a:r>
              <a:rPr lang="en-IN" sz="2600" b="1" dirty="0"/>
              <a:t>F9 B5 B1051.3</a:t>
            </a:r>
            <a:r>
              <a:rPr lang="en-IN" sz="2600" dirty="0"/>
              <a:t>, and others.</a:t>
            </a:r>
          </a:p>
          <a:p>
            <a:pPr marL="457200" lvl="0" indent="-457200">
              <a:buFont typeface="Wingdings" panose="05000000000000000000" pitchFamily="2" charset="2"/>
              <a:buChar char="Ø"/>
            </a:pPr>
            <a:r>
              <a:rPr lang="en-IN" sz="2600" b="1" dirty="0"/>
              <a:t>Explanation:</a:t>
            </a:r>
            <a:r>
              <a:rPr lang="en-IN" sz="2600" dirty="0"/>
              <a:t> These booster versions are associated with the maximum payload mass recorded in the dataset. The query results help identify boosters used for missions carrying heavy payloads.</a:t>
            </a:r>
          </a:p>
          <a:p>
            <a:pPr marL="457200" indent="-457200">
              <a:buFont typeface="Wingdings" panose="05000000000000000000" pitchFamily="2" charset="2"/>
              <a:buChar char="Ø"/>
            </a:pPr>
            <a:endParaRPr lang="en-IN" sz="2600" dirty="0"/>
          </a:p>
        </p:txBody>
      </p:sp>
    </p:spTree>
    <p:extLst>
      <p:ext uri="{BB962C8B-B14F-4D97-AF65-F5344CB8AC3E}">
        <p14:creationId xmlns:p14="http://schemas.microsoft.com/office/powerpoint/2010/main" val="35666463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32</a:t>
            </a:fld>
            <a:endParaRPr lang="en-US" dirty="0"/>
          </a:p>
        </p:txBody>
      </p:sp>
      <p:sp>
        <p:nvSpPr>
          <p:cNvPr id="3" name="Title 1">
            <a:extLst>
              <a:ext uri="{FF2B5EF4-FFF2-40B4-BE49-F238E27FC236}">
                <a16:creationId xmlns:a16="http://schemas.microsoft.com/office/drawing/2014/main" id="{964DA114-677C-40D8-8FFA-43531834CFB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2015 Launch Records</a:t>
            </a:r>
          </a:p>
        </p:txBody>
      </p:sp>
      <p:sp>
        <p:nvSpPr>
          <p:cNvPr id="2" name="TextBox 1">
            <a:extLst>
              <a:ext uri="{FF2B5EF4-FFF2-40B4-BE49-F238E27FC236}">
                <a16:creationId xmlns:a16="http://schemas.microsoft.com/office/drawing/2014/main" id="{1CC92F3E-35B2-3299-07B8-F42B706906C8}"/>
              </a:ext>
            </a:extLst>
          </p:cNvPr>
          <p:cNvSpPr txBox="1"/>
          <p:nvPr/>
        </p:nvSpPr>
        <p:spPr>
          <a:xfrm>
            <a:off x="672040" y="1654629"/>
            <a:ext cx="10975674" cy="3939540"/>
          </a:xfrm>
          <a:prstGeom prst="rect">
            <a:avLst/>
          </a:prstGeom>
          <a:noFill/>
        </p:spPr>
        <p:txBody>
          <a:bodyPr wrap="square" rtlCol="0">
            <a:spAutoFit/>
          </a:bodyPr>
          <a:lstStyle/>
          <a:p>
            <a:pPr marL="342900" lvl="0" indent="-342900">
              <a:buFont typeface="Wingdings" panose="05000000000000000000" pitchFamily="2" charset="2"/>
              <a:buChar char="Ø"/>
            </a:pPr>
            <a:r>
              <a:rPr lang="en-IN" sz="2500" b="1" dirty="0"/>
              <a:t>Objective:</a:t>
            </a:r>
            <a:r>
              <a:rPr lang="en-IN" sz="2500" dirty="0"/>
              <a:t> Identify Falcon 9 launches in 2015 that resulted in failed drone-ship landings.</a:t>
            </a:r>
          </a:p>
          <a:p>
            <a:pPr marL="342900" lvl="0" indent="-342900">
              <a:buFont typeface="Wingdings" panose="05000000000000000000" pitchFamily="2" charset="2"/>
              <a:buChar char="Ø"/>
            </a:pPr>
            <a:r>
              <a:rPr lang="en-IN" sz="2500" b="1" dirty="0"/>
              <a:t>SQL Analysis:</a:t>
            </a:r>
            <a:r>
              <a:rPr lang="en-IN" sz="2500" dirty="0"/>
              <a:t> Filtered the launch records for the year 2015 and selected the landing outcome, booster version, and launch site.</a:t>
            </a:r>
          </a:p>
          <a:p>
            <a:pPr marL="342900" lvl="0" indent="-342900">
              <a:buFont typeface="Wingdings" panose="05000000000000000000" pitchFamily="2" charset="2"/>
              <a:buChar char="Ø"/>
            </a:pPr>
            <a:r>
              <a:rPr lang="en-IN" sz="2500" b="1" dirty="0"/>
              <a:t>Query Results:</a:t>
            </a:r>
            <a:r>
              <a:rPr lang="en-IN" sz="2500" dirty="0"/>
              <a:t> Two failed drone-ship landings were identified:</a:t>
            </a:r>
          </a:p>
          <a:p>
            <a:pPr marL="800100" lvl="1" indent="-342900">
              <a:buFont typeface="Wingdings" panose="05000000000000000000" pitchFamily="2" charset="2"/>
              <a:buChar char="q"/>
            </a:pPr>
            <a:r>
              <a:rPr lang="en-IN" sz="2500" b="1" dirty="0"/>
              <a:t>January:</a:t>
            </a:r>
            <a:r>
              <a:rPr lang="en-IN" sz="2500" dirty="0"/>
              <a:t> Booster F9 v1.1 B1012 — CCAFS LC-40.</a:t>
            </a:r>
          </a:p>
          <a:p>
            <a:pPr marL="800100" lvl="1" indent="-342900">
              <a:buFont typeface="Wingdings" panose="05000000000000000000" pitchFamily="2" charset="2"/>
              <a:buChar char="q"/>
            </a:pPr>
            <a:r>
              <a:rPr lang="en-IN" sz="2500" b="1" dirty="0"/>
              <a:t>April:</a:t>
            </a:r>
            <a:r>
              <a:rPr lang="en-IN" sz="2500" dirty="0"/>
              <a:t> Booster F9 v1.1 B1015 — CCAFS LC-40.</a:t>
            </a:r>
          </a:p>
          <a:p>
            <a:pPr marL="342900" lvl="0" indent="-342900">
              <a:buFont typeface="Wingdings" panose="05000000000000000000" pitchFamily="2" charset="2"/>
              <a:buChar char="Ø"/>
            </a:pPr>
            <a:r>
              <a:rPr lang="en-IN" sz="2500" b="1" dirty="0"/>
              <a:t>Explanation:</a:t>
            </a:r>
            <a:r>
              <a:rPr lang="en-IN" sz="2500" dirty="0"/>
              <a:t> The results show that both failed drone-ship landing attempts in the 2015 dataset occurred at CCAFS LC-40 using F9 v1.1 boosters.</a:t>
            </a:r>
          </a:p>
          <a:p>
            <a:pPr marL="342900" indent="-342900">
              <a:buFont typeface="Wingdings" panose="05000000000000000000" pitchFamily="2" charset="2"/>
              <a:buChar char="Ø"/>
            </a:pPr>
            <a:endParaRPr lang="en-IN" sz="2500" dirty="0"/>
          </a:p>
        </p:txBody>
      </p:sp>
    </p:spTree>
    <p:extLst>
      <p:ext uri="{BB962C8B-B14F-4D97-AF65-F5344CB8AC3E}">
        <p14:creationId xmlns:p14="http://schemas.microsoft.com/office/powerpoint/2010/main" val="13984391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33</a:t>
            </a:fld>
            <a:endParaRPr lang="en-US" dirty="0"/>
          </a:p>
        </p:txBody>
      </p:sp>
      <p:sp>
        <p:nvSpPr>
          <p:cNvPr id="3" name="Title 1">
            <a:extLst>
              <a:ext uri="{FF2B5EF4-FFF2-40B4-BE49-F238E27FC236}">
                <a16:creationId xmlns:a16="http://schemas.microsoft.com/office/drawing/2014/main" id="{04523243-E4D6-45EC-97C8-D44398FB7417}"/>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Rank Landing Outcomes Between 2010-06-04 and 2017-03-20</a:t>
            </a:r>
          </a:p>
        </p:txBody>
      </p:sp>
      <p:sp>
        <p:nvSpPr>
          <p:cNvPr id="2" name="TextBox 1">
            <a:extLst>
              <a:ext uri="{FF2B5EF4-FFF2-40B4-BE49-F238E27FC236}">
                <a16:creationId xmlns:a16="http://schemas.microsoft.com/office/drawing/2014/main" id="{70006777-7D34-43DA-5853-6F6544619370}"/>
              </a:ext>
            </a:extLst>
          </p:cNvPr>
          <p:cNvSpPr txBox="1"/>
          <p:nvPr/>
        </p:nvSpPr>
        <p:spPr>
          <a:xfrm>
            <a:off x="849086" y="1578429"/>
            <a:ext cx="10515600" cy="4324261"/>
          </a:xfrm>
          <a:prstGeom prst="rect">
            <a:avLst/>
          </a:prstGeom>
          <a:noFill/>
        </p:spPr>
        <p:txBody>
          <a:bodyPr wrap="square" rtlCol="0">
            <a:spAutoFit/>
          </a:bodyPr>
          <a:lstStyle/>
          <a:p>
            <a:pPr marL="342900" lvl="0" indent="-342900">
              <a:buFont typeface="Wingdings" panose="05000000000000000000" pitchFamily="2" charset="2"/>
              <a:buChar char="Ø"/>
            </a:pPr>
            <a:r>
              <a:rPr lang="en-IN" sz="2500" b="1" dirty="0"/>
              <a:t>Objective:</a:t>
            </a:r>
            <a:r>
              <a:rPr lang="en-IN" sz="2500" dirty="0"/>
              <a:t> Calculate the total number of successful and failed mission outcomes using SQL.</a:t>
            </a:r>
          </a:p>
          <a:p>
            <a:pPr marL="342900" lvl="0" indent="-342900">
              <a:buFont typeface="Wingdings" panose="05000000000000000000" pitchFamily="2" charset="2"/>
              <a:buChar char="Ø"/>
            </a:pPr>
            <a:r>
              <a:rPr lang="en-IN" sz="2500" b="1" dirty="0"/>
              <a:t>SQL Analysis:</a:t>
            </a:r>
            <a:r>
              <a:rPr lang="en-IN" sz="2500" dirty="0"/>
              <a:t> Grouped the launch records by Mission Outcome and used the COUNT() function to count the missions in each category.</a:t>
            </a:r>
          </a:p>
          <a:p>
            <a:pPr marL="342900" lvl="0" indent="-342900">
              <a:buFont typeface="Wingdings" panose="05000000000000000000" pitchFamily="2" charset="2"/>
              <a:buChar char="Ø"/>
            </a:pPr>
            <a:r>
              <a:rPr lang="en-IN" sz="2500" b="1" dirty="0"/>
              <a:t>Query Results:</a:t>
            </a:r>
            <a:endParaRPr lang="en-IN" sz="2500" dirty="0"/>
          </a:p>
          <a:p>
            <a:pPr marL="800100" lvl="1" indent="-342900">
              <a:buFont typeface="Wingdings" panose="05000000000000000000" pitchFamily="2" charset="2"/>
              <a:buChar char="q"/>
            </a:pPr>
            <a:r>
              <a:rPr lang="en-IN" sz="2500" b="1" dirty="0"/>
              <a:t>Success:</a:t>
            </a:r>
            <a:r>
              <a:rPr lang="en-IN" sz="2500" dirty="0"/>
              <a:t> 30 missions</a:t>
            </a:r>
          </a:p>
          <a:p>
            <a:pPr marL="800100" lvl="1" indent="-342900">
              <a:buFont typeface="Wingdings" panose="05000000000000000000" pitchFamily="2" charset="2"/>
              <a:buChar char="q"/>
            </a:pPr>
            <a:r>
              <a:rPr lang="en-IN" sz="2500" b="1" dirty="0"/>
              <a:t>Failure (in flight):</a:t>
            </a:r>
            <a:r>
              <a:rPr lang="en-IN" sz="2500" dirty="0"/>
              <a:t> 1 mission</a:t>
            </a:r>
          </a:p>
          <a:p>
            <a:pPr marL="342900" lvl="0" indent="-342900">
              <a:buFont typeface="Wingdings" panose="05000000000000000000" pitchFamily="2" charset="2"/>
              <a:buChar char="Ø"/>
            </a:pPr>
            <a:r>
              <a:rPr lang="en-IN" sz="2500" b="1" dirty="0"/>
              <a:t>Explanation:</a:t>
            </a:r>
            <a:r>
              <a:rPr lang="en-IN" sz="2500" dirty="0"/>
              <a:t> The results show 30 successful missions and one mission classified as </a:t>
            </a:r>
            <a:r>
              <a:rPr lang="en-IN" sz="2500" i="1" dirty="0"/>
              <a:t>Failure (in flight)</a:t>
            </a:r>
            <a:r>
              <a:rPr lang="en-IN" sz="2500" dirty="0"/>
              <a:t> in the query output. This helps summarize the mission outcomes recorded in the dataset.</a:t>
            </a:r>
          </a:p>
          <a:p>
            <a:pPr marL="342900" indent="-342900">
              <a:buFont typeface="Wingdings" panose="05000000000000000000" pitchFamily="2" charset="2"/>
              <a:buChar char="Ø"/>
            </a:pPr>
            <a:endParaRPr lang="en-IN" sz="2500" dirty="0"/>
          </a:p>
        </p:txBody>
      </p:sp>
    </p:spTree>
    <p:extLst>
      <p:ext uri="{BB962C8B-B14F-4D97-AF65-F5344CB8AC3E}">
        <p14:creationId xmlns:p14="http://schemas.microsoft.com/office/powerpoint/2010/main" val="39751684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B25EC16-0638-FF41-B7CF-E42224EF7FA1}"/>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3</a:t>
            </a:r>
          </a:p>
        </p:txBody>
      </p:sp>
    </p:spTree>
    <p:extLst>
      <p:ext uri="{BB962C8B-B14F-4D97-AF65-F5344CB8AC3E}">
        <p14:creationId xmlns:p14="http://schemas.microsoft.com/office/powerpoint/2010/main" val="10233524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35</a:t>
            </a:fld>
            <a:endParaRPr lang="en-US" dirty="0"/>
          </a:p>
        </p:txBody>
      </p:sp>
      <p:sp>
        <p:nvSpPr>
          <p:cNvPr id="2" name="Title 1">
            <a:extLst>
              <a:ext uri="{FF2B5EF4-FFF2-40B4-BE49-F238E27FC236}">
                <a16:creationId xmlns:a16="http://schemas.microsoft.com/office/drawing/2014/main" id="{54176327-8CC4-4356-8BBB-DC4965CE9857}"/>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IN" dirty="0"/>
              <a:t>SpaceX Launch Sites: Global Location Map</a:t>
            </a:r>
            <a:endParaRPr lang="en-US" dirty="0">
              <a:solidFill>
                <a:srgbClr val="0B49CB"/>
              </a:solidFill>
              <a:latin typeface="Abadi"/>
            </a:endParaRPr>
          </a:p>
        </p:txBody>
      </p:sp>
      <p:sp>
        <p:nvSpPr>
          <p:cNvPr id="6" name="TextBox 5">
            <a:extLst>
              <a:ext uri="{FF2B5EF4-FFF2-40B4-BE49-F238E27FC236}">
                <a16:creationId xmlns:a16="http://schemas.microsoft.com/office/drawing/2014/main" id="{5256B966-0D7C-E0EB-56A9-E2637C6F7435}"/>
              </a:ext>
            </a:extLst>
          </p:cNvPr>
          <p:cNvSpPr txBox="1"/>
          <p:nvPr/>
        </p:nvSpPr>
        <p:spPr>
          <a:xfrm>
            <a:off x="7545610" y="1513115"/>
            <a:ext cx="4123876" cy="2954655"/>
          </a:xfrm>
          <a:prstGeom prst="rect">
            <a:avLst/>
          </a:prstGeom>
          <a:noFill/>
        </p:spPr>
        <p:txBody>
          <a:bodyPr wrap="square" rtlCol="0">
            <a:spAutoFit/>
          </a:bodyPr>
          <a:lstStyle/>
          <a:p>
            <a:pPr>
              <a:spcAft>
                <a:spcPts val="600"/>
              </a:spcAft>
              <a:buSzPct val="100000"/>
            </a:pPr>
            <a:r>
              <a:rPr lang="en-US" sz="2200" b="1" dirty="0">
                <a:solidFill>
                  <a:srgbClr val="0B3D91"/>
                </a:solidFill>
              </a:rPr>
              <a:t>Key elements on the map</a:t>
            </a:r>
            <a:endParaRPr lang="en-US" dirty="0">
              <a:solidFill>
                <a:srgbClr val="1B1F2A"/>
              </a:solidFill>
            </a:endParaRPr>
          </a:p>
          <a:p>
            <a:pPr marL="342900" indent="-342900">
              <a:spcAft>
                <a:spcPts val="600"/>
              </a:spcAft>
              <a:buSzPct val="100000"/>
              <a:buFont typeface="Wingdings" panose="05000000000000000000" pitchFamily="2" charset="2"/>
              <a:buChar char="Ø"/>
            </a:pPr>
            <a:r>
              <a:rPr lang="en-US" dirty="0">
                <a:solidFill>
                  <a:srgbClr val="1B1F2A"/>
                </a:solidFill>
              </a:rPr>
              <a:t>Orange circles mark each launch site (1 km radius)</a:t>
            </a:r>
            <a:endParaRPr lang="en-US" dirty="0"/>
          </a:p>
          <a:p>
            <a:pPr marL="342900" indent="-342900">
              <a:spcAft>
                <a:spcPts val="600"/>
              </a:spcAft>
              <a:buSzPct val="100000"/>
              <a:buFont typeface="Wingdings" panose="05000000000000000000" pitchFamily="2" charset="2"/>
              <a:buChar char="Ø"/>
            </a:pPr>
            <a:r>
              <a:rPr lang="en-US" dirty="0">
                <a:solidFill>
                  <a:srgbClr val="1B1F2A"/>
                </a:solidFill>
              </a:rPr>
              <a:t>Text labels give the site names: CCAFS LC-40, CCAFS SLC-40, KSC LC-39A, VAFB SLC-4E</a:t>
            </a:r>
            <a:endParaRPr lang="en-US" dirty="0"/>
          </a:p>
          <a:p>
            <a:pPr marL="342900" indent="-342900">
              <a:spcAft>
                <a:spcPts val="600"/>
              </a:spcAft>
              <a:buSzPct val="100000"/>
              <a:buFont typeface="Wingdings" panose="05000000000000000000" pitchFamily="2" charset="2"/>
              <a:buChar char="Ø"/>
            </a:pPr>
            <a:r>
              <a:rPr lang="en-US" dirty="0">
                <a:solidFill>
                  <a:srgbClr val="1B1F2A"/>
                </a:solidFill>
              </a:rPr>
              <a:t>Popups show the name when you click a circle</a:t>
            </a:r>
            <a:endParaRPr lang="en-US" dirty="0"/>
          </a:p>
          <a:p>
            <a:endParaRPr lang="en-IN" dirty="0"/>
          </a:p>
        </p:txBody>
      </p:sp>
      <p:sp>
        <p:nvSpPr>
          <p:cNvPr id="8" name="TextBox 7">
            <a:extLst>
              <a:ext uri="{FF2B5EF4-FFF2-40B4-BE49-F238E27FC236}">
                <a16:creationId xmlns:a16="http://schemas.microsoft.com/office/drawing/2014/main" id="{F6287760-CF29-7A9F-5263-D1AB7F76AAF9}"/>
              </a:ext>
            </a:extLst>
          </p:cNvPr>
          <p:cNvSpPr txBox="1"/>
          <p:nvPr/>
        </p:nvSpPr>
        <p:spPr>
          <a:xfrm>
            <a:off x="7653561" y="4184842"/>
            <a:ext cx="4353381" cy="2939266"/>
          </a:xfrm>
          <a:prstGeom prst="rect">
            <a:avLst/>
          </a:prstGeom>
          <a:noFill/>
        </p:spPr>
        <p:txBody>
          <a:bodyPr wrap="square" rtlCol="0">
            <a:spAutoFit/>
          </a:bodyPr>
          <a:lstStyle/>
          <a:p>
            <a:r>
              <a:rPr lang="en-US" sz="2200" b="1" dirty="0">
                <a:solidFill>
                  <a:srgbClr val="0B3D91"/>
                </a:solidFill>
              </a:rPr>
              <a:t>Findings</a:t>
            </a:r>
          </a:p>
          <a:p>
            <a:pPr marL="342900" indent="-342900">
              <a:spcAft>
                <a:spcPts val="600"/>
              </a:spcAft>
              <a:buSzPct val="100000"/>
              <a:buFont typeface="Wingdings" panose="05000000000000000000" pitchFamily="2" charset="2"/>
              <a:buChar char="Ø"/>
            </a:pPr>
            <a:r>
              <a:rPr lang="en-US" dirty="0">
                <a:solidFill>
                  <a:srgbClr val="1B1F2A"/>
                </a:solidFill>
              </a:rPr>
              <a:t>Three sites are in Florida, one is in California</a:t>
            </a:r>
            <a:endParaRPr lang="en-US" dirty="0"/>
          </a:p>
          <a:p>
            <a:pPr marL="342900" indent="-342900">
              <a:spcAft>
                <a:spcPts val="600"/>
              </a:spcAft>
              <a:buSzPct val="100000"/>
              <a:buFont typeface="Wingdings" panose="05000000000000000000" pitchFamily="2" charset="2"/>
              <a:buChar char="Ø"/>
            </a:pPr>
            <a:r>
              <a:rPr lang="en-US" dirty="0">
                <a:solidFill>
                  <a:srgbClr val="1B1F2A"/>
                </a:solidFill>
              </a:rPr>
              <a:t>All sites are in the southern USA, closer to the Equator</a:t>
            </a:r>
            <a:endParaRPr lang="en-US" dirty="0"/>
          </a:p>
          <a:p>
            <a:pPr marL="342900" indent="-342900">
              <a:spcAft>
                <a:spcPts val="600"/>
              </a:spcAft>
              <a:buSzPct val="100000"/>
              <a:buFont typeface="Wingdings" panose="05000000000000000000" pitchFamily="2" charset="2"/>
              <a:buChar char="Ø"/>
            </a:pPr>
            <a:r>
              <a:rPr lang="en-US" dirty="0">
                <a:solidFill>
                  <a:srgbClr val="1B1F2A"/>
                </a:solidFill>
              </a:rPr>
              <a:t>All sit right on the coast, so launches go over water</a:t>
            </a:r>
            <a:endParaRPr lang="en-US" dirty="0"/>
          </a:p>
          <a:p>
            <a:endParaRPr lang="en-US" sz="2200" dirty="0"/>
          </a:p>
          <a:p>
            <a:endParaRPr lang="en-IN" dirty="0"/>
          </a:p>
        </p:txBody>
      </p:sp>
      <p:pic>
        <p:nvPicPr>
          <p:cNvPr id="12" name="Picture 11">
            <a:extLst>
              <a:ext uri="{FF2B5EF4-FFF2-40B4-BE49-F238E27FC236}">
                <a16:creationId xmlns:a16="http://schemas.microsoft.com/office/drawing/2014/main" id="{3120679D-4375-99FE-0957-3D194238F10A}"/>
              </a:ext>
            </a:extLst>
          </p:cNvPr>
          <p:cNvPicPr>
            <a:picLocks noChangeAspect="1"/>
          </p:cNvPicPr>
          <p:nvPr/>
        </p:nvPicPr>
        <p:blipFill>
          <a:blip r:embed="rId3"/>
          <a:stretch>
            <a:fillRect/>
          </a:stretch>
        </p:blipFill>
        <p:spPr>
          <a:xfrm>
            <a:off x="185058" y="1611087"/>
            <a:ext cx="7162799" cy="4512458"/>
          </a:xfrm>
          <a:prstGeom prst="rect">
            <a:avLst/>
          </a:prstGeom>
        </p:spPr>
      </p:pic>
    </p:spTree>
    <p:extLst>
      <p:ext uri="{BB962C8B-B14F-4D97-AF65-F5344CB8AC3E}">
        <p14:creationId xmlns:p14="http://schemas.microsoft.com/office/powerpoint/2010/main" val="9816717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36</a:t>
            </a:fld>
            <a:endParaRPr lang="en-US"/>
          </a:p>
        </p:txBody>
      </p:sp>
      <p:sp>
        <p:nvSpPr>
          <p:cNvPr id="8" name="Title 1">
            <a:extLst>
              <a:ext uri="{FF2B5EF4-FFF2-40B4-BE49-F238E27FC236}">
                <a16:creationId xmlns:a16="http://schemas.microsoft.com/office/drawing/2014/main" id="{2E0ECA32-E146-40DA-85CD-9677244BC3E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IN" dirty="0"/>
              <a:t>Launch Outcomes by Site</a:t>
            </a:r>
            <a:endParaRPr lang="en-US" dirty="0">
              <a:solidFill>
                <a:srgbClr val="0B49CB"/>
              </a:solidFill>
              <a:latin typeface="Abadi"/>
            </a:endParaRPr>
          </a:p>
        </p:txBody>
      </p:sp>
      <p:sp>
        <p:nvSpPr>
          <p:cNvPr id="2" name="TextBox 1">
            <a:extLst>
              <a:ext uri="{FF2B5EF4-FFF2-40B4-BE49-F238E27FC236}">
                <a16:creationId xmlns:a16="http://schemas.microsoft.com/office/drawing/2014/main" id="{F27725AE-7208-0D99-841C-EB4C359A11AF}"/>
              </a:ext>
            </a:extLst>
          </p:cNvPr>
          <p:cNvSpPr txBox="1"/>
          <p:nvPr/>
        </p:nvSpPr>
        <p:spPr>
          <a:xfrm>
            <a:off x="5763985" y="1338021"/>
            <a:ext cx="6074229" cy="2646878"/>
          </a:xfrm>
          <a:prstGeom prst="rect">
            <a:avLst/>
          </a:prstGeom>
          <a:noFill/>
        </p:spPr>
        <p:txBody>
          <a:bodyPr wrap="square" rtlCol="0">
            <a:spAutoFit/>
          </a:bodyPr>
          <a:lstStyle/>
          <a:p>
            <a:pPr lvl="0"/>
            <a:r>
              <a:rPr lang="en-IN" sz="2200" b="1" dirty="0">
                <a:solidFill>
                  <a:srgbClr val="0B49CB"/>
                </a:solidFill>
              </a:rPr>
              <a:t>Important elements</a:t>
            </a:r>
            <a:endParaRPr lang="en-IN" dirty="0">
              <a:solidFill>
                <a:srgbClr val="0B49CB"/>
              </a:solidFill>
            </a:endParaRPr>
          </a:p>
          <a:p>
            <a:pPr marL="285750" lvl="0" indent="-285750">
              <a:buFont typeface="Wingdings" panose="05000000000000000000" pitchFamily="2" charset="2"/>
              <a:buChar char="Ø"/>
            </a:pPr>
            <a:r>
              <a:rPr lang="en-IN" dirty="0"/>
              <a:t>Each marker is one launch record, placed at its launch site’s coordinates.</a:t>
            </a:r>
          </a:p>
          <a:p>
            <a:pPr marL="285750" lvl="0" indent="-285750">
              <a:buFont typeface="Wingdings" panose="05000000000000000000" pitchFamily="2" charset="2"/>
              <a:buChar char="Ø"/>
            </a:pPr>
            <a:r>
              <a:rPr lang="en-IN" dirty="0"/>
              <a:t>Green marker means a successful landing (class = 1). Red marker means a failed landing (class = 0).</a:t>
            </a:r>
          </a:p>
          <a:p>
            <a:pPr marL="285750" lvl="0" indent="-285750">
              <a:buFont typeface="Wingdings" panose="05000000000000000000" pitchFamily="2" charset="2"/>
              <a:buChar char="Ø"/>
            </a:pPr>
            <a:r>
              <a:rPr lang="en-IN" dirty="0"/>
              <a:t>Marker clusters group many markers that share the same coordinate. The number on a cluster is how many launches it holds, and zooming in splits it into single markers.</a:t>
            </a:r>
          </a:p>
          <a:p>
            <a:endParaRPr lang="en-IN" dirty="0"/>
          </a:p>
        </p:txBody>
      </p:sp>
      <p:sp>
        <p:nvSpPr>
          <p:cNvPr id="4" name="TextBox 3">
            <a:extLst>
              <a:ext uri="{FF2B5EF4-FFF2-40B4-BE49-F238E27FC236}">
                <a16:creationId xmlns:a16="http://schemas.microsoft.com/office/drawing/2014/main" id="{10CF5735-548A-F7FD-FEF1-2EDC9D0EEB31}"/>
              </a:ext>
            </a:extLst>
          </p:cNvPr>
          <p:cNvSpPr txBox="1"/>
          <p:nvPr/>
        </p:nvSpPr>
        <p:spPr>
          <a:xfrm>
            <a:off x="5657849" y="3625146"/>
            <a:ext cx="6286500" cy="3200876"/>
          </a:xfrm>
          <a:prstGeom prst="rect">
            <a:avLst/>
          </a:prstGeom>
          <a:noFill/>
        </p:spPr>
        <p:txBody>
          <a:bodyPr wrap="square" rtlCol="0">
            <a:spAutoFit/>
          </a:bodyPr>
          <a:lstStyle/>
          <a:p>
            <a:r>
              <a:rPr lang="en-IN" sz="2200" b="1" dirty="0">
                <a:solidFill>
                  <a:srgbClr val="0B49CB"/>
                </a:solidFill>
              </a:rPr>
              <a:t>Findings</a:t>
            </a:r>
            <a:r>
              <a:rPr lang="en-IN" b="1" dirty="0">
                <a:solidFill>
                  <a:srgbClr val="0B49CB"/>
                </a:solidFill>
              </a:rPr>
              <a:t>:</a:t>
            </a:r>
          </a:p>
          <a:p>
            <a:pPr marL="285750" lvl="0" indent="-285750">
              <a:buFont typeface="Wingdings" panose="05000000000000000000" pitchFamily="2" charset="2"/>
              <a:buChar char="Ø"/>
            </a:pPr>
            <a:r>
              <a:rPr lang="en-IN" dirty="0"/>
              <a:t>KSC LC-39A has mostly green markers, so it has the highest success rate (roughly 77%).</a:t>
            </a:r>
          </a:p>
          <a:p>
            <a:pPr marL="285750" lvl="0" indent="-285750">
              <a:buFont typeface="Wingdings" panose="05000000000000000000" pitchFamily="2" charset="2"/>
              <a:buChar char="Ø"/>
            </a:pPr>
            <a:r>
              <a:rPr lang="en-IN" dirty="0"/>
              <a:t>CCAFS LC-40 has mostly red markers, so it has the lowest success rate (roughly 27%). Many of its launches were early ones, when landings often failed.</a:t>
            </a:r>
          </a:p>
          <a:p>
            <a:pPr marL="285750" lvl="0" indent="-285750">
              <a:buFont typeface="Wingdings" panose="05000000000000000000" pitchFamily="2" charset="2"/>
              <a:buChar char="Ø"/>
            </a:pPr>
            <a:r>
              <a:rPr lang="en-IN" dirty="0"/>
              <a:t>CCAFS SLC-40 and VAFB SLC-4E are in the middle, at roughly 40%.</a:t>
            </a:r>
          </a:p>
          <a:p>
            <a:pPr marL="285750" lvl="0" indent="-285750">
              <a:buFont typeface="Wingdings" panose="05000000000000000000" pitchFamily="2" charset="2"/>
              <a:buChar char="Ø"/>
            </a:pPr>
            <a:r>
              <a:rPr lang="en-IN" dirty="0"/>
              <a:t>Red markers are mostly the early launches and green markers the later ones, so success improved over time.</a:t>
            </a:r>
          </a:p>
          <a:p>
            <a:endParaRPr lang="en-IN" dirty="0"/>
          </a:p>
        </p:txBody>
      </p:sp>
      <p:pic>
        <p:nvPicPr>
          <p:cNvPr id="7" name="Picture 6">
            <a:extLst>
              <a:ext uri="{FF2B5EF4-FFF2-40B4-BE49-F238E27FC236}">
                <a16:creationId xmlns:a16="http://schemas.microsoft.com/office/drawing/2014/main" id="{C4952940-481F-1595-1B5D-BB18E132D2AF}"/>
              </a:ext>
            </a:extLst>
          </p:cNvPr>
          <p:cNvPicPr>
            <a:picLocks noChangeAspect="1"/>
          </p:cNvPicPr>
          <p:nvPr/>
        </p:nvPicPr>
        <p:blipFill>
          <a:blip r:embed="rId3"/>
          <a:stretch>
            <a:fillRect/>
          </a:stretch>
        </p:blipFill>
        <p:spPr>
          <a:xfrm>
            <a:off x="117020" y="1459549"/>
            <a:ext cx="5540829" cy="4967662"/>
          </a:xfrm>
          <a:prstGeom prst="rect">
            <a:avLst/>
          </a:prstGeom>
        </p:spPr>
      </p:pic>
    </p:spTree>
    <p:extLst>
      <p:ext uri="{BB962C8B-B14F-4D97-AF65-F5344CB8AC3E}">
        <p14:creationId xmlns:p14="http://schemas.microsoft.com/office/powerpoint/2010/main" val="2395978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37</a:t>
            </a:fld>
            <a:endParaRPr lang="en-US"/>
          </a:p>
        </p:txBody>
      </p:sp>
      <p:sp>
        <p:nvSpPr>
          <p:cNvPr id="8" name="Title 1">
            <a:extLst>
              <a:ext uri="{FF2B5EF4-FFF2-40B4-BE49-F238E27FC236}">
                <a16:creationId xmlns:a16="http://schemas.microsoft.com/office/drawing/2014/main" id="{34C97452-C78A-4701-B8AB-ABFE63D5BED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IN" dirty="0"/>
              <a:t>Launch Site Proximities: CCAFS SLC-40</a:t>
            </a:r>
            <a:endParaRPr lang="en-US" dirty="0">
              <a:solidFill>
                <a:srgbClr val="0B49CB"/>
              </a:solidFill>
              <a:latin typeface="Abadi"/>
            </a:endParaRPr>
          </a:p>
        </p:txBody>
      </p:sp>
      <p:sp>
        <p:nvSpPr>
          <p:cNvPr id="4" name="TextBox 3">
            <a:extLst>
              <a:ext uri="{FF2B5EF4-FFF2-40B4-BE49-F238E27FC236}">
                <a16:creationId xmlns:a16="http://schemas.microsoft.com/office/drawing/2014/main" id="{5D418A6F-94EC-7721-EB51-7A30D6A8FDCA}"/>
              </a:ext>
            </a:extLst>
          </p:cNvPr>
          <p:cNvSpPr txBox="1"/>
          <p:nvPr/>
        </p:nvSpPr>
        <p:spPr>
          <a:xfrm>
            <a:off x="6204857" y="1415142"/>
            <a:ext cx="5987143" cy="2646878"/>
          </a:xfrm>
          <a:prstGeom prst="rect">
            <a:avLst/>
          </a:prstGeom>
          <a:noFill/>
        </p:spPr>
        <p:txBody>
          <a:bodyPr wrap="square" rtlCol="0">
            <a:spAutoFit/>
          </a:bodyPr>
          <a:lstStyle/>
          <a:p>
            <a:r>
              <a:rPr lang="en-IN" sz="2200" b="1" dirty="0">
                <a:solidFill>
                  <a:srgbClr val="0B49CB"/>
                </a:solidFill>
              </a:rPr>
              <a:t>Important elements</a:t>
            </a:r>
            <a:endParaRPr lang="en-IN" sz="2200" dirty="0">
              <a:solidFill>
                <a:srgbClr val="0B49CB"/>
              </a:solidFill>
            </a:endParaRPr>
          </a:p>
          <a:p>
            <a:pPr marL="285750" lvl="0" indent="-285750">
              <a:buFont typeface="Wingdings" panose="05000000000000000000" pitchFamily="2" charset="2"/>
              <a:buChar char="Ø"/>
            </a:pPr>
            <a:r>
              <a:rPr lang="en-IN" dirty="0"/>
              <a:t>The orange circle marks the launch site.</a:t>
            </a:r>
          </a:p>
          <a:p>
            <a:pPr marL="285750" lvl="0" indent="-285750">
              <a:buFont typeface="Wingdings" panose="05000000000000000000" pitchFamily="2" charset="2"/>
              <a:buChar char="Ø"/>
            </a:pPr>
            <a:r>
              <a:rPr lang="en-IN" dirty="0"/>
              <a:t>Each thin line joins the launch site to a nearby feature (coastline, railway, highway).</a:t>
            </a:r>
          </a:p>
          <a:p>
            <a:pPr marL="285750" lvl="0" indent="-285750">
              <a:buFont typeface="Wingdings" panose="05000000000000000000" pitchFamily="2" charset="2"/>
              <a:buChar char="Ø"/>
            </a:pPr>
            <a:r>
              <a:rPr lang="en-IN" dirty="0"/>
              <a:t>The orange number at the end of each line is the distance in km, calculated with the Haversine formula, which measures distance between two latitude/longitude points on a sphere.</a:t>
            </a:r>
          </a:p>
          <a:p>
            <a:endParaRPr lang="en-IN" dirty="0"/>
          </a:p>
        </p:txBody>
      </p:sp>
      <p:sp>
        <p:nvSpPr>
          <p:cNvPr id="6" name="TextBox 5">
            <a:extLst>
              <a:ext uri="{FF2B5EF4-FFF2-40B4-BE49-F238E27FC236}">
                <a16:creationId xmlns:a16="http://schemas.microsoft.com/office/drawing/2014/main" id="{E9B42D73-7D12-8547-34AD-E6523CBD22D9}"/>
              </a:ext>
            </a:extLst>
          </p:cNvPr>
          <p:cNvSpPr txBox="1"/>
          <p:nvPr/>
        </p:nvSpPr>
        <p:spPr>
          <a:xfrm>
            <a:off x="6204857" y="3951514"/>
            <a:ext cx="5812971" cy="2585323"/>
          </a:xfrm>
          <a:prstGeom prst="rect">
            <a:avLst/>
          </a:prstGeom>
          <a:noFill/>
        </p:spPr>
        <p:txBody>
          <a:bodyPr wrap="square" rtlCol="0">
            <a:spAutoFit/>
          </a:bodyPr>
          <a:lstStyle/>
          <a:p>
            <a:r>
              <a:rPr lang="en-IN" b="1" dirty="0">
                <a:solidFill>
                  <a:srgbClr val="0B49CB"/>
                </a:solidFill>
              </a:rPr>
              <a:t>Findings:</a:t>
            </a:r>
          </a:p>
          <a:p>
            <a:pPr marL="285750" lvl="0" indent="-285750">
              <a:buFont typeface="Wingdings" panose="05000000000000000000" pitchFamily="2" charset="2"/>
              <a:buChar char="Ø"/>
            </a:pPr>
            <a:r>
              <a:rPr lang="en-IN" dirty="0"/>
              <a:t>Coastline: about 0.5 km, so launches go over water.</a:t>
            </a:r>
          </a:p>
          <a:p>
            <a:pPr marL="285750" lvl="0" indent="-285750">
              <a:buFont typeface="Wingdings" panose="05000000000000000000" pitchFamily="2" charset="2"/>
              <a:buChar char="Ø"/>
            </a:pPr>
            <a:r>
              <a:rPr lang="en-IN" dirty="0"/>
              <a:t>Railway (NASA Railroad): about 1.3 km, for moving heavy equipment.</a:t>
            </a:r>
          </a:p>
          <a:p>
            <a:pPr marL="285750" lvl="0" indent="-285750">
              <a:buFont typeface="Wingdings" panose="05000000000000000000" pitchFamily="2" charset="2"/>
              <a:buChar char="Ø"/>
            </a:pPr>
            <a:r>
              <a:rPr lang="en-IN" dirty="0"/>
              <a:t>Highway (Samuel C. Phillips Pkwy): under 0.1 km, for crew and supply access.</a:t>
            </a:r>
          </a:p>
          <a:p>
            <a:pPr marL="285750" lvl="0" indent="-285750">
              <a:buFont typeface="Wingdings" panose="05000000000000000000" pitchFamily="2" charset="2"/>
              <a:buChar char="Ø"/>
            </a:pPr>
            <a:r>
              <a:rPr lang="en-IN" dirty="0"/>
              <a:t>City (Melbourne): roughly 50 km, which keeps people away from blast, noise and debris.</a:t>
            </a:r>
          </a:p>
          <a:p>
            <a:endParaRPr lang="en-IN" dirty="0"/>
          </a:p>
        </p:txBody>
      </p:sp>
      <p:pic>
        <p:nvPicPr>
          <p:cNvPr id="9" name="Picture 8">
            <a:extLst>
              <a:ext uri="{FF2B5EF4-FFF2-40B4-BE49-F238E27FC236}">
                <a16:creationId xmlns:a16="http://schemas.microsoft.com/office/drawing/2014/main" id="{0D69C3DB-6DF0-67E5-C422-6DEFF6C02028}"/>
              </a:ext>
            </a:extLst>
          </p:cNvPr>
          <p:cNvPicPr>
            <a:picLocks noChangeAspect="1"/>
          </p:cNvPicPr>
          <p:nvPr/>
        </p:nvPicPr>
        <p:blipFill>
          <a:blip r:embed="rId3"/>
          <a:stretch>
            <a:fillRect/>
          </a:stretch>
        </p:blipFill>
        <p:spPr>
          <a:xfrm>
            <a:off x="770011" y="1900405"/>
            <a:ext cx="2212439" cy="1528595"/>
          </a:xfrm>
          <a:prstGeom prst="rect">
            <a:avLst/>
          </a:prstGeom>
        </p:spPr>
      </p:pic>
      <p:pic>
        <p:nvPicPr>
          <p:cNvPr id="11" name="Picture 10">
            <a:extLst>
              <a:ext uri="{FF2B5EF4-FFF2-40B4-BE49-F238E27FC236}">
                <a16:creationId xmlns:a16="http://schemas.microsoft.com/office/drawing/2014/main" id="{852C676C-D3B6-D10C-E5E4-0249537BCBA3}"/>
              </a:ext>
            </a:extLst>
          </p:cNvPr>
          <p:cNvPicPr>
            <a:picLocks noChangeAspect="1"/>
          </p:cNvPicPr>
          <p:nvPr/>
        </p:nvPicPr>
        <p:blipFill>
          <a:blip r:embed="rId4"/>
          <a:stretch>
            <a:fillRect/>
          </a:stretch>
        </p:blipFill>
        <p:spPr>
          <a:xfrm>
            <a:off x="3593389" y="1743079"/>
            <a:ext cx="2000529" cy="1991003"/>
          </a:xfrm>
          <a:prstGeom prst="rect">
            <a:avLst/>
          </a:prstGeom>
        </p:spPr>
      </p:pic>
      <p:pic>
        <p:nvPicPr>
          <p:cNvPr id="13" name="Picture 12">
            <a:extLst>
              <a:ext uri="{FF2B5EF4-FFF2-40B4-BE49-F238E27FC236}">
                <a16:creationId xmlns:a16="http://schemas.microsoft.com/office/drawing/2014/main" id="{3B0B332F-0BE8-A2F9-6B31-75798D4BD270}"/>
              </a:ext>
            </a:extLst>
          </p:cNvPr>
          <p:cNvPicPr>
            <a:picLocks noChangeAspect="1"/>
          </p:cNvPicPr>
          <p:nvPr/>
        </p:nvPicPr>
        <p:blipFill>
          <a:blip r:embed="rId5"/>
          <a:stretch>
            <a:fillRect/>
          </a:stretch>
        </p:blipFill>
        <p:spPr>
          <a:xfrm>
            <a:off x="1513114" y="4546788"/>
            <a:ext cx="3439886" cy="1156695"/>
          </a:xfrm>
          <a:prstGeom prst="rect">
            <a:avLst/>
          </a:prstGeom>
        </p:spPr>
      </p:pic>
    </p:spTree>
    <p:extLst>
      <p:ext uri="{BB962C8B-B14F-4D97-AF65-F5344CB8AC3E}">
        <p14:creationId xmlns:p14="http://schemas.microsoft.com/office/powerpoint/2010/main" val="2324990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8BBD4D-F87B-2648-91EB-CF6A4BF6870A}"/>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4</a:t>
            </a:r>
          </a:p>
        </p:txBody>
      </p:sp>
    </p:spTree>
    <p:extLst>
      <p:ext uri="{BB962C8B-B14F-4D97-AF65-F5344CB8AC3E}">
        <p14:creationId xmlns:p14="http://schemas.microsoft.com/office/powerpoint/2010/main" val="7334617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39</a:t>
            </a:fld>
            <a:endParaRPr lang="en-US"/>
          </a:p>
        </p:txBody>
      </p:sp>
      <p:sp>
        <p:nvSpPr>
          <p:cNvPr id="8" name="Title 1">
            <a:extLst>
              <a:ext uri="{FF2B5EF4-FFF2-40B4-BE49-F238E27FC236}">
                <a16:creationId xmlns:a16="http://schemas.microsoft.com/office/drawing/2014/main" id="{9456A072-47A6-4424-9ABE-F398119040D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IN" b="1" dirty="0"/>
              <a:t>Launch Success Count by Site</a:t>
            </a:r>
          </a:p>
        </p:txBody>
      </p:sp>
      <p:sp>
        <p:nvSpPr>
          <p:cNvPr id="2" name="TextBox 1">
            <a:extLst>
              <a:ext uri="{FF2B5EF4-FFF2-40B4-BE49-F238E27FC236}">
                <a16:creationId xmlns:a16="http://schemas.microsoft.com/office/drawing/2014/main" id="{6725BA07-EE4B-ACC7-637A-1C055997F318}"/>
              </a:ext>
            </a:extLst>
          </p:cNvPr>
          <p:cNvSpPr txBox="1"/>
          <p:nvPr/>
        </p:nvSpPr>
        <p:spPr>
          <a:xfrm>
            <a:off x="182182" y="4103914"/>
            <a:ext cx="5913818" cy="2831544"/>
          </a:xfrm>
          <a:prstGeom prst="rect">
            <a:avLst/>
          </a:prstGeom>
          <a:noFill/>
        </p:spPr>
        <p:txBody>
          <a:bodyPr wrap="square" rtlCol="0">
            <a:spAutoFit/>
          </a:bodyPr>
          <a:lstStyle/>
          <a:p>
            <a:pPr marL="285750" lvl="0" indent="-285750">
              <a:buFont typeface="Wingdings" panose="05000000000000000000" pitchFamily="2" charset="2"/>
              <a:buChar char="Ø"/>
            </a:pPr>
            <a:r>
              <a:rPr lang="en-IN" sz="2000" b="1" dirty="0"/>
              <a:t>Objective:</a:t>
            </a:r>
            <a:r>
              <a:rPr lang="en-IN" sz="2000" dirty="0"/>
              <a:t> Display the number of successful Falcon 9 launches at each launch site using a pie chart.</a:t>
            </a:r>
          </a:p>
          <a:p>
            <a:pPr marL="285750" lvl="0" indent="-285750">
              <a:buFont typeface="Wingdings" panose="05000000000000000000" pitchFamily="2" charset="2"/>
              <a:buChar char="Ø"/>
            </a:pPr>
            <a:r>
              <a:rPr lang="en-IN" sz="2000" b="1" dirty="0"/>
              <a:t>KSC LC-39A:</a:t>
            </a:r>
            <a:r>
              <a:rPr lang="en-IN" sz="2000" dirty="0"/>
              <a:t> Recorded the highest share of successful launches at </a:t>
            </a:r>
            <a:r>
              <a:rPr lang="en-IN" sz="2000" b="1" dirty="0"/>
              <a:t>41.7%</a:t>
            </a:r>
            <a:r>
              <a:rPr lang="en-IN" sz="2000" dirty="0"/>
              <a:t>.</a:t>
            </a:r>
          </a:p>
          <a:p>
            <a:pPr marL="285750" lvl="0" indent="-285750">
              <a:buFont typeface="Wingdings" panose="05000000000000000000" pitchFamily="2" charset="2"/>
              <a:buChar char="Ø"/>
            </a:pPr>
            <a:r>
              <a:rPr lang="en-IN" sz="2000" b="1" dirty="0"/>
              <a:t>CCAFS LC-40:</a:t>
            </a:r>
            <a:r>
              <a:rPr lang="en-IN" sz="2000" dirty="0"/>
              <a:t> Accounted for </a:t>
            </a:r>
            <a:r>
              <a:rPr lang="en-IN" sz="2000" b="1" dirty="0"/>
              <a:t>29.2%</a:t>
            </a:r>
            <a:r>
              <a:rPr lang="en-IN" sz="2000" dirty="0"/>
              <a:t> of successful launches.</a:t>
            </a:r>
          </a:p>
          <a:p>
            <a:pPr marL="285750" lvl="0" indent="-285750">
              <a:buFont typeface="Wingdings" panose="05000000000000000000" pitchFamily="2" charset="2"/>
              <a:buChar char="Ø"/>
            </a:pPr>
            <a:r>
              <a:rPr lang="en-IN" sz="2000" b="1" dirty="0"/>
              <a:t>VAFB SLC-4E:</a:t>
            </a:r>
            <a:r>
              <a:rPr lang="en-IN" sz="2000" dirty="0"/>
              <a:t> Contributed </a:t>
            </a:r>
            <a:r>
              <a:rPr lang="en-IN" sz="2000" b="1" dirty="0"/>
              <a:t>16.7%</a:t>
            </a:r>
            <a:r>
              <a:rPr lang="en-IN" sz="2000" dirty="0"/>
              <a:t> of successful launches.</a:t>
            </a:r>
          </a:p>
          <a:p>
            <a:endParaRPr lang="en-IN" dirty="0"/>
          </a:p>
        </p:txBody>
      </p:sp>
      <p:sp>
        <p:nvSpPr>
          <p:cNvPr id="7" name="TextBox 6">
            <a:extLst>
              <a:ext uri="{FF2B5EF4-FFF2-40B4-BE49-F238E27FC236}">
                <a16:creationId xmlns:a16="http://schemas.microsoft.com/office/drawing/2014/main" id="{6399D954-499F-09A2-1F27-882F6159E8B6}"/>
              </a:ext>
            </a:extLst>
          </p:cNvPr>
          <p:cNvSpPr txBox="1"/>
          <p:nvPr/>
        </p:nvSpPr>
        <p:spPr>
          <a:xfrm>
            <a:off x="6259286" y="4103914"/>
            <a:ext cx="5519057" cy="2215991"/>
          </a:xfrm>
          <a:prstGeom prst="rect">
            <a:avLst/>
          </a:prstGeom>
          <a:noFill/>
        </p:spPr>
        <p:txBody>
          <a:bodyPr wrap="square" rtlCol="0">
            <a:spAutoFit/>
          </a:bodyPr>
          <a:lstStyle/>
          <a:p>
            <a:pPr marL="285750" indent="-285750">
              <a:buFont typeface="Wingdings" panose="05000000000000000000" pitchFamily="2" charset="2"/>
              <a:buChar char="Ø"/>
            </a:pPr>
            <a:r>
              <a:rPr lang="en-IN" sz="2000" b="1" dirty="0"/>
              <a:t>CCAFS SLC-40:</a:t>
            </a:r>
            <a:r>
              <a:rPr lang="en-IN" sz="2000" dirty="0"/>
              <a:t> Represented </a:t>
            </a:r>
            <a:r>
              <a:rPr lang="en-IN" sz="2000" b="1" dirty="0"/>
              <a:t>12.5%</a:t>
            </a:r>
            <a:r>
              <a:rPr lang="en-IN" sz="2000" dirty="0"/>
              <a:t> of successful launches.</a:t>
            </a:r>
          </a:p>
          <a:p>
            <a:pPr marL="285750" indent="-285750">
              <a:buFont typeface="Wingdings" panose="05000000000000000000" pitchFamily="2" charset="2"/>
              <a:buChar char="Ø"/>
            </a:pPr>
            <a:r>
              <a:rPr lang="en-IN" sz="2000" b="1" dirty="0"/>
              <a:t>Key Finding:</a:t>
            </a:r>
            <a:r>
              <a:rPr lang="en-IN" sz="2000" dirty="0"/>
              <a:t> KSC LC-39A had the largest share of successful launches among the sites displayed.</a:t>
            </a:r>
          </a:p>
          <a:p>
            <a:pPr marL="285750" indent="-285750">
              <a:buFont typeface="Wingdings" panose="05000000000000000000" pitchFamily="2" charset="2"/>
              <a:buChar char="Ø"/>
            </a:pPr>
            <a:r>
              <a:rPr lang="en-IN" sz="2000" b="1" dirty="0"/>
              <a:t>Interactive Feature:</a:t>
            </a:r>
            <a:r>
              <a:rPr lang="en-IN" sz="2000" dirty="0"/>
              <a:t> The dashboard includes an </a:t>
            </a:r>
            <a:r>
              <a:rPr lang="en-IN" sz="2000" b="1" dirty="0"/>
              <a:t>All Sites</a:t>
            </a:r>
            <a:r>
              <a:rPr lang="en-IN" sz="2000" dirty="0"/>
              <a:t> dropdown to filter launch-site data.</a:t>
            </a:r>
          </a:p>
          <a:p>
            <a:endParaRPr lang="en-IN" dirty="0"/>
          </a:p>
        </p:txBody>
      </p:sp>
      <p:pic>
        <p:nvPicPr>
          <p:cNvPr id="10" name="Picture 9">
            <a:extLst>
              <a:ext uri="{FF2B5EF4-FFF2-40B4-BE49-F238E27FC236}">
                <a16:creationId xmlns:a16="http://schemas.microsoft.com/office/drawing/2014/main" id="{D889F533-2F4F-D31D-2C9D-AAB2C72F58EA}"/>
              </a:ext>
            </a:extLst>
          </p:cNvPr>
          <p:cNvPicPr>
            <a:picLocks noChangeAspect="1"/>
          </p:cNvPicPr>
          <p:nvPr/>
        </p:nvPicPr>
        <p:blipFill>
          <a:blip r:embed="rId3"/>
          <a:stretch>
            <a:fillRect/>
          </a:stretch>
        </p:blipFill>
        <p:spPr>
          <a:xfrm>
            <a:off x="457200" y="1378369"/>
            <a:ext cx="11321143" cy="2751433"/>
          </a:xfrm>
          <a:prstGeom prst="rect">
            <a:avLst/>
          </a:prstGeom>
        </p:spPr>
      </p:pic>
    </p:spTree>
    <p:extLst>
      <p:ext uri="{BB962C8B-B14F-4D97-AF65-F5344CB8AC3E}">
        <p14:creationId xmlns:p14="http://schemas.microsoft.com/office/powerpoint/2010/main" val="7001329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40</a:t>
            </a:fld>
            <a:endParaRPr lang="en-US"/>
          </a:p>
        </p:txBody>
      </p:sp>
      <p:sp>
        <p:nvSpPr>
          <p:cNvPr id="8" name="Title 1">
            <a:extLst>
              <a:ext uri="{FF2B5EF4-FFF2-40B4-BE49-F238E27FC236}">
                <a16:creationId xmlns:a16="http://schemas.microsoft.com/office/drawing/2014/main" id="{4EF94599-779E-457E-B57B-6063EBF7A84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b="1" dirty="0">
                <a:solidFill>
                  <a:srgbClr val="0B3D91"/>
                </a:solidFill>
                <a:latin typeface="Arial" pitchFamily="34" charset="0"/>
                <a:ea typeface="Arial" pitchFamily="34" charset="-122"/>
                <a:cs typeface="Arial" pitchFamily="34" charset="-120"/>
              </a:rPr>
              <a:t>Highest Launch Success Ratio: KSC LC-39A</a:t>
            </a:r>
            <a:endParaRPr lang="en-US" dirty="0">
              <a:solidFill>
                <a:srgbClr val="0B49CB"/>
              </a:solidFill>
              <a:latin typeface="Abadi"/>
            </a:endParaRPr>
          </a:p>
        </p:txBody>
      </p:sp>
      <p:sp>
        <p:nvSpPr>
          <p:cNvPr id="2" name="TextBox 1">
            <a:extLst>
              <a:ext uri="{FF2B5EF4-FFF2-40B4-BE49-F238E27FC236}">
                <a16:creationId xmlns:a16="http://schemas.microsoft.com/office/drawing/2014/main" id="{B0B80BB4-1566-1F00-EFE8-8A4FD3577BE0}"/>
              </a:ext>
            </a:extLst>
          </p:cNvPr>
          <p:cNvSpPr txBox="1"/>
          <p:nvPr/>
        </p:nvSpPr>
        <p:spPr>
          <a:xfrm>
            <a:off x="878868" y="4657398"/>
            <a:ext cx="4550228" cy="2200602"/>
          </a:xfrm>
          <a:prstGeom prst="rect">
            <a:avLst/>
          </a:prstGeom>
          <a:noFill/>
        </p:spPr>
        <p:txBody>
          <a:bodyPr wrap="square" rtlCol="0">
            <a:spAutoFit/>
          </a:bodyPr>
          <a:lstStyle/>
          <a:p>
            <a:pPr>
              <a:spcAft>
                <a:spcPts val="600"/>
              </a:spcAft>
              <a:buSzPct val="100000"/>
            </a:pPr>
            <a:r>
              <a:rPr lang="en-US" sz="2200" b="1" dirty="0">
                <a:solidFill>
                  <a:srgbClr val="0B3D91"/>
                </a:solidFill>
              </a:rPr>
              <a:t>Key elements on the chart</a:t>
            </a:r>
            <a:endParaRPr lang="en-US" dirty="0">
              <a:solidFill>
                <a:srgbClr val="1B1F2A"/>
              </a:solidFill>
            </a:endParaRPr>
          </a:p>
          <a:p>
            <a:pPr marL="342900" indent="-342900">
              <a:spcAft>
                <a:spcPts val="600"/>
              </a:spcAft>
              <a:buSzPct val="100000"/>
              <a:buFont typeface="Wingdings" panose="05000000000000000000" pitchFamily="2" charset="2"/>
              <a:buChar char="Ø"/>
            </a:pPr>
            <a:r>
              <a:rPr lang="en-US" dirty="0">
                <a:solidFill>
                  <a:srgbClr val="1B1F2A"/>
                </a:solidFill>
              </a:rPr>
              <a:t>Title shows the selected site: KSC LC-39A</a:t>
            </a:r>
            <a:endParaRPr lang="en-US" dirty="0"/>
          </a:p>
          <a:p>
            <a:pPr marL="342900" indent="-342900">
              <a:spcAft>
                <a:spcPts val="600"/>
              </a:spcAft>
              <a:buSzPct val="100000"/>
              <a:buFont typeface="Wingdings" panose="05000000000000000000" pitchFamily="2" charset="2"/>
              <a:buChar char="Ø"/>
            </a:pPr>
            <a:r>
              <a:rPr lang="en-US" dirty="0">
                <a:solidFill>
                  <a:srgbClr val="1B1F2A"/>
                </a:solidFill>
              </a:rPr>
              <a:t>Blue slice (1) = successful launches, 76.9%</a:t>
            </a:r>
            <a:endParaRPr lang="en-US" dirty="0"/>
          </a:p>
          <a:p>
            <a:pPr marL="342900" indent="-342900">
              <a:spcAft>
                <a:spcPts val="600"/>
              </a:spcAft>
              <a:buSzPct val="100000"/>
              <a:buFont typeface="Wingdings" panose="05000000000000000000" pitchFamily="2" charset="2"/>
              <a:buChar char="Ø"/>
            </a:pPr>
            <a:r>
              <a:rPr lang="en-US" dirty="0">
                <a:solidFill>
                  <a:srgbClr val="1B1F2A"/>
                </a:solidFill>
              </a:rPr>
              <a:t>Red slice (0) = failed launches, 23.1%</a:t>
            </a:r>
            <a:endParaRPr lang="en-US" dirty="0"/>
          </a:p>
          <a:p>
            <a:pPr marL="342900" indent="-342900">
              <a:spcAft>
                <a:spcPts val="600"/>
              </a:spcAft>
              <a:buSzPct val="100000"/>
              <a:buFont typeface="Wingdings" panose="05000000000000000000" pitchFamily="2" charset="2"/>
              <a:buChar char="Ø"/>
            </a:pPr>
            <a:r>
              <a:rPr lang="en-US" dirty="0">
                <a:solidFill>
                  <a:srgbClr val="1B1F2A"/>
                </a:solidFill>
              </a:rPr>
              <a:t>Legend explains the two classes</a:t>
            </a:r>
            <a:endParaRPr lang="en-US" dirty="0"/>
          </a:p>
          <a:p>
            <a:endParaRPr lang="en-IN" dirty="0"/>
          </a:p>
        </p:txBody>
      </p:sp>
      <p:pic>
        <p:nvPicPr>
          <p:cNvPr id="6" name="Picture 5">
            <a:extLst>
              <a:ext uri="{FF2B5EF4-FFF2-40B4-BE49-F238E27FC236}">
                <a16:creationId xmlns:a16="http://schemas.microsoft.com/office/drawing/2014/main" id="{7F9C4325-F4BA-1F32-8447-DE91EEFF7121}"/>
              </a:ext>
            </a:extLst>
          </p:cNvPr>
          <p:cNvPicPr>
            <a:picLocks noChangeAspect="1"/>
          </p:cNvPicPr>
          <p:nvPr/>
        </p:nvPicPr>
        <p:blipFill>
          <a:blip r:embed="rId3"/>
          <a:stretch>
            <a:fillRect/>
          </a:stretch>
        </p:blipFill>
        <p:spPr>
          <a:xfrm>
            <a:off x="385005" y="1419346"/>
            <a:ext cx="11421989" cy="3017822"/>
          </a:xfrm>
          <a:prstGeom prst="rect">
            <a:avLst/>
          </a:prstGeom>
        </p:spPr>
      </p:pic>
      <p:sp>
        <p:nvSpPr>
          <p:cNvPr id="7" name="TextBox 6">
            <a:extLst>
              <a:ext uri="{FF2B5EF4-FFF2-40B4-BE49-F238E27FC236}">
                <a16:creationId xmlns:a16="http://schemas.microsoft.com/office/drawing/2014/main" id="{5B813023-E8A1-2001-6964-2A0FC1667B3B}"/>
              </a:ext>
            </a:extLst>
          </p:cNvPr>
          <p:cNvSpPr txBox="1"/>
          <p:nvPr/>
        </p:nvSpPr>
        <p:spPr>
          <a:xfrm>
            <a:off x="6335486" y="4657398"/>
            <a:ext cx="4256314" cy="2400657"/>
          </a:xfrm>
          <a:prstGeom prst="rect">
            <a:avLst/>
          </a:prstGeom>
          <a:noFill/>
        </p:spPr>
        <p:txBody>
          <a:bodyPr wrap="square" rtlCol="0">
            <a:spAutoFit/>
          </a:bodyPr>
          <a:lstStyle/>
          <a:p>
            <a:pPr>
              <a:spcAft>
                <a:spcPts val="600"/>
              </a:spcAft>
              <a:buSzPct val="100000"/>
            </a:pPr>
            <a:r>
              <a:rPr lang="en-US" sz="2200" b="1" dirty="0">
                <a:solidFill>
                  <a:srgbClr val="0B3D91"/>
                </a:solidFill>
              </a:rPr>
              <a:t>Findings</a:t>
            </a:r>
            <a:endParaRPr lang="en-US" sz="2200" dirty="0">
              <a:solidFill>
                <a:srgbClr val="1B1F2A"/>
              </a:solidFill>
            </a:endParaRPr>
          </a:p>
          <a:p>
            <a:pPr marL="342900" indent="-342900">
              <a:spcAft>
                <a:spcPts val="600"/>
              </a:spcAft>
              <a:buSzPct val="100000"/>
              <a:buFont typeface="Wingdings" panose="05000000000000000000" pitchFamily="2" charset="2"/>
              <a:buChar char="Ø"/>
            </a:pPr>
            <a:r>
              <a:rPr lang="en-US" dirty="0">
                <a:solidFill>
                  <a:srgbClr val="1B1F2A"/>
                </a:solidFill>
              </a:rPr>
              <a:t>KSC LC-39A has the highest success ratio of all launch sites</a:t>
            </a:r>
            <a:endParaRPr lang="en-US" dirty="0"/>
          </a:p>
          <a:p>
            <a:pPr marL="342900" indent="-342900">
              <a:spcAft>
                <a:spcPts val="600"/>
              </a:spcAft>
              <a:buSzPct val="100000"/>
              <a:buFont typeface="Wingdings" panose="05000000000000000000" pitchFamily="2" charset="2"/>
              <a:buChar char="Ø"/>
            </a:pPr>
            <a:r>
              <a:rPr lang="en-US" dirty="0">
                <a:solidFill>
                  <a:srgbClr val="1B1F2A"/>
                </a:solidFill>
              </a:rPr>
              <a:t>Over three in four launches succeeded</a:t>
            </a:r>
            <a:endParaRPr lang="en-US" dirty="0"/>
          </a:p>
          <a:p>
            <a:pPr marL="342900" indent="-342900">
              <a:spcAft>
                <a:spcPts val="600"/>
              </a:spcAft>
              <a:buSzPct val="100000"/>
              <a:buFont typeface="Wingdings" panose="05000000000000000000" pitchFamily="2" charset="2"/>
              <a:buChar char="Ø"/>
            </a:pPr>
            <a:r>
              <a:rPr lang="en-US" dirty="0">
                <a:solidFill>
                  <a:srgbClr val="1B1F2A"/>
                </a:solidFill>
              </a:rPr>
              <a:t>This matches the mostly green markers on the Folium map</a:t>
            </a:r>
            <a:endParaRPr lang="en-US" dirty="0"/>
          </a:p>
          <a:p>
            <a:endParaRPr lang="en-IN" dirty="0"/>
          </a:p>
        </p:txBody>
      </p:sp>
    </p:spTree>
    <p:extLst>
      <p:ext uri="{BB962C8B-B14F-4D97-AF65-F5344CB8AC3E}">
        <p14:creationId xmlns:p14="http://schemas.microsoft.com/office/powerpoint/2010/main" val="18661607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41</a:t>
            </a:fld>
            <a:endParaRPr lang="en-US"/>
          </a:p>
        </p:txBody>
      </p:sp>
      <p:sp>
        <p:nvSpPr>
          <p:cNvPr id="12" name="Title 1">
            <a:extLst>
              <a:ext uri="{FF2B5EF4-FFF2-40B4-BE49-F238E27FC236}">
                <a16:creationId xmlns:a16="http://schemas.microsoft.com/office/drawing/2014/main" id="{4D271BF5-BAA1-4CEB-A575-76A097FABBB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IN" dirty="0"/>
              <a:t>Payload vs. Launch Outcome</a:t>
            </a:r>
            <a:endParaRPr lang="en-US" dirty="0">
              <a:solidFill>
                <a:srgbClr val="0B49CB"/>
              </a:solidFill>
              <a:latin typeface="Abadi"/>
            </a:endParaRPr>
          </a:p>
        </p:txBody>
      </p:sp>
      <p:sp>
        <p:nvSpPr>
          <p:cNvPr id="2" name="TextBox 1">
            <a:extLst>
              <a:ext uri="{FF2B5EF4-FFF2-40B4-BE49-F238E27FC236}">
                <a16:creationId xmlns:a16="http://schemas.microsoft.com/office/drawing/2014/main" id="{8DBA899B-48C3-BC14-188D-A1FB3657A5A3}"/>
              </a:ext>
            </a:extLst>
          </p:cNvPr>
          <p:cNvSpPr txBox="1"/>
          <p:nvPr/>
        </p:nvSpPr>
        <p:spPr>
          <a:xfrm>
            <a:off x="508754" y="1291288"/>
            <a:ext cx="11802989" cy="400110"/>
          </a:xfrm>
          <a:prstGeom prst="rect">
            <a:avLst/>
          </a:prstGeom>
          <a:noFill/>
        </p:spPr>
        <p:txBody>
          <a:bodyPr wrap="square" rtlCol="0">
            <a:spAutoFit/>
          </a:bodyPr>
          <a:lstStyle/>
          <a:p>
            <a:r>
              <a:rPr lang="en-IN" sz="2000" b="1" dirty="0">
                <a:solidFill>
                  <a:schemeClr val="accent1">
                    <a:lumMod val="75000"/>
                  </a:schemeClr>
                </a:solidFill>
              </a:rPr>
              <a:t>Layout : </a:t>
            </a:r>
            <a:r>
              <a:rPr lang="en-IN" sz="2000" dirty="0"/>
              <a:t>Put the three screenshots on the slide, </a:t>
            </a:r>
            <a:r>
              <a:rPr lang="en-IN" sz="2000" dirty="0" err="1"/>
              <a:t>labeled</a:t>
            </a:r>
            <a:r>
              <a:rPr lang="en-IN" sz="2000" dirty="0"/>
              <a:t> </a:t>
            </a:r>
            <a:r>
              <a:rPr lang="en-IN" sz="2000" b="1" dirty="0"/>
              <a:t>(a) 0-10,000 kg</a:t>
            </a:r>
            <a:r>
              <a:rPr lang="en-IN" sz="2000" dirty="0"/>
              <a:t>, </a:t>
            </a:r>
            <a:r>
              <a:rPr lang="en-IN" sz="2000" b="1" dirty="0"/>
              <a:t>(b) 2,500-~8,500 kg</a:t>
            </a:r>
            <a:r>
              <a:rPr lang="en-IN" sz="2000" dirty="0"/>
              <a:t> and </a:t>
            </a:r>
            <a:r>
              <a:rPr lang="en-IN" sz="2000" b="1" dirty="0"/>
              <a:t>kg</a:t>
            </a:r>
            <a:r>
              <a:rPr lang="en-IN" sz="2000" dirty="0"/>
              <a:t>. </a:t>
            </a:r>
            <a:endParaRPr lang="en-IN" sz="2000" b="1" dirty="0">
              <a:solidFill>
                <a:schemeClr val="accent1">
                  <a:lumMod val="75000"/>
                </a:schemeClr>
              </a:solidFill>
            </a:endParaRPr>
          </a:p>
        </p:txBody>
      </p:sp>
      <p:pic>
        <p:nvPicPr>
          <p:cNvPr id="6" name="Picture 5">
            <a:extLst>
              <a:ext uri="{FF2B5EF4-FFF2-40B4-BE49-F238E27FC236}">
                <a16:creationId xmlns:a16="http://schemas.microsoft.com/office/drawing/2014/main" id="{7A9E1EA7-C29B-38C1-C1EC-41C7563D27E8}"/>
              </a:ext>
            </a:extLst>
          </p:cNvPr>
          <p:cNvPicPr>
            <a:picLocks noChangeAspect="1"/>
          </p:cNvPicPr>
          <p:nvPr/>
        </p:nvPicPr>
        <p:blipFill>
          <a:blip r:embed="rId3"/>
          <a:stretch>
            <a:fillRect/>
          </a:stretch>
        </p:blipFill>
        <p:spPr>
          <a:xfrm>
            <a:off x="206828" y="1691398"/>
            <a:ext cx="5889172" cy="2859653"/>
          </a:xfrm>
          <a:prstGeom prst="rect">
            <a:avLst/>
          </a:prstGeom>
        </p:spPr>
      </p:pic>
      <p:pic>
        <p:nvPicPr>
          <p:cNvPr id="8" name="Picture 7">
            <a:extLst>
              <a:ext uri="{FF2B5EF4-FFF2-40B4-BE49-F238E27FC236}">
                <a16:creationId xmlns:a16="http://schemas.microsoft.com/office/drawing/2014/main" id="{85857F02-9F93-CB59-DAEC-9F0FDDA4AF89}"/>
              </a:ext>
            </a:extLst>
          </p:cNvPr>
          <p:cNvPicPr>
            <a:picLocks noChangeAspect="1"/>
          </p:cNvPicPr>
          <p:nvPr/>
        </p:nvPicPr>
        <p:blipFill>
          <a:blip r:embed="rId4"/>
          <a:stretch>
            <a:fillRect/>
          </a:stretch>
        </p:blipFill>
        <p:spPr>
          <a:xfrm>
            <a:off x="6397926" y="1645846"/>
            <a:ext cx="5573486" cy="2736112"/>
          </a:xfrm>
          <a:prstGeom prst="rect">
            <a:avLst/>
          </a:prstGeom>
        </p:spPr>
      </p:pic>
      <p:sp>
        <p:nvSpPr>
          <p:cNvPr id="9" name="TextBox 8">
            <a:extLst>
              <a:ext uri="{FF2B5EF4-FFF2-40B4-BE49-F238E27FC236}">
                <a16:creationId xmlns:a16="http://schemas.microsoft.com/office/drawing/2014/main" id="{2B63B0C9-16B3-AB2D-18AD-720108B5735D}"/>
              </a:ext>
            </a:extLst>
          </p:cNvPr>
          <p:cNvSpPr txBox="1"/>
          <p:nvPr/>
        </p:nvSpPr>
        <p:spPr>
          <a:xfrm>
            <a:off x="184752" y="4594412"/>
            <a:ext cx="6210300" cy="2862322"/>
          </a:xfrm>
          <a:prstGeom prst="rect">
            <a:avLst/>
          </a:prstGeom>
          <a:noFill/>
        </p:spPr>
        <p:txBody>
          <a:bodyPr wrap="square" rtlCol="0">
            <a:spAutoFit/>
          </a:bodyPr>
          <a:lstStyle/>
          <a:p>
            <a:pPr lvl="0"/>
            <a:r>
              <a:rPr lang="en-IN" b="1" dirty="0"/>
              <a:t>What the plot shows:</a:t>
            </a:r>
            <a:r>
              <a:rPr lang="en-IN" dirty="0"/>
              <a:t> each dot is one launch across all sites. Class 1 is a successful landing, class 0 is a failure, and </a:t>
            </a:r>
            <a:r>
              <a:rPr lang="en-IN" dirty="0" err="1"/>
              <a:t>color</a:t>
            </a:r>
            <a:r>
              <a:rPr lang="en-IN" dirty="0"/>
              <a:t> shows booster version. The slider filters by payload mass.</a:t>
            </a:r>
          </a:p>
          <a:p>
            <a:pPr lvl="0"/>
            <a:r>
              <a:rPr lang="en-IN" b="1" dirty="0"/>
              <a:t>Best-performing range, about 2,500-4,000 kg:</a:t>
            </a:r>
            <a:r>
              <a:rPr lang="en-IN" dirty="0"/>
              <a:t> roughly two-thirds of launches succeed here (about 8 of 12 in screenshot b), mostly with the </a:t>
            </a:r>
            <a:r>
              <a:rPr lang="en-IN" b="1" dirty="0"/>
              <a:t>FT</a:t>
            </a:r>
            <a:r>
              <a:rPr lang="en-IN" dirty="0"/>
              <a:t> and </a:t>
            </a:r>
            <a:r>
              <a:rPr lang="en-IN" b="1" dirty="0"/>
              <a:t>B4</a:t>
            </a:r>
            <a:r>
              <a:rPr lang="en-IN" dirty="0"/>
              <a:t> boosters.</a:t>
            </a:r>
          </a:p>
          <a:p>
            <a:r>
              <a:rPr lang="en-IN" b="1" dirty="0"/>
              <a:t>Success falls at higher payloads:</a:t>
            </a:r>
            <a:r>
              <a:rPr lang="en-IN" dirty="0"/>
              <a:t> at 4,000-5,500 kg it drops to about 40%. Above ~5,500 kg almost every launch fails</a:t>
            </a:r>
          </a:p>
          <a:p>
            <a:pPr lvl="0"/>
            <a:endParaRPr lang="en-IN" dirty="0"/>
          </a:p>
          <a:p>
            <a:endParaRPr lang="en-IN" dirty="0"/>
          </a:p>
        </p:txBody>
      </p:sp>
      <p:sp>
        <p:nvSpPr>
          <p:cNvPr id="11" name="TextBox 10">
            <a:extLst>
              <a:ext uri="{FF2B5EF4-FFF2-40B4-BE49-F238E27FC236}">
                <a16:creationId xmlns:a16="http://schemas.microsoft.com/office/drawing/2014/main" id="{AA874544-527B-4CA4-B2EF-39CEC7AA582E}"/>
              </a:ext>
            </a:extLst>
          </p:cNvPr>
          <p:cNvSpPr txBox="1"/>
          <p:nvPr/>
        </p:nvSpPr>
        <p:spPr>
          <a:xfrm>
            <a:off x="6290505" y="4381958"/>
            <a:ext cx="6097437" cy="2862322"/>
          </a:xfrm>
          <a:prstGeom prst="rect">
            <a:avLst/>
          </a:prstGeom>
          <a:noFill/>
        </p:spPr>
        <p:txBody>
          <a:bodyPr wrap="square" rtlCol="0">
            <a:spAutoFit/>
          </a:bodyPr>
          <a:lstStyle/>
          <a:p>
            <a:pPr lvl="0"/>
            <a:r>
              <a:rPr lang="en-IN" b="1" dirty="0"/>
              <a:t>Narrowest window, 5,000-7,500 kg:</a:t>
            </a:r>
            <a:r>
              <a:rPr lang="en-IN" dirty="0"/>
              <a:t> only 2 of 9 launches succeed (about 22%). Both successes are </a:t>
            </a:r>
            <a:r>
              <a:rPr lang="en-IN" b="1" dirty="0"/>
              <a:t>FT</a:t>
            </a:r>
            <a:r>
              <a:rPr lang="en-IN" dirty="0"/>
              <a:t> boosters at about 5,200-5,300 kg.</a:t>
            </a:r>
          </a:p>
          <a:p>
            <a:pPr lvl="0"/>
            <a:r>
              <a:rPr lang="en-IN" b="1" dirty="0"/>
              <a:t>Booster version matters:</a:t>
            </a:r>
            <a:r>
              <a:rPr lang="en-IN" dirty="0"/>
              <a:t> </a:t>
            </a:r>
            <a:r>
              <a:rPr lang="en-IN" b="1" dirty="0"/>
              <a:t>v1.0</a:t>
            </a:r>
            <a:r>
              <a:rPr lang="en-IN" dirty="0"/>
              <a:t> has only failures, and </a:t>
            </a:r>
            <a:r>
              <a:rPr lang="en-IN" b="1" dirty="0"/>
              <a:t>v1.1</a:t>
            </a:r>
            <a:r>
              <a:rPr lang="en-IN" dirty="0"/>
              <a:t> is almost all failures. </a:t>
            </a:r>
            <a:r>
              <a:rPr lang="en-IN" b="1" dirty="0"/>
              <a:t>FT, B4 and B5</a:t>
            </a:r>
            <a:r>
              <a:rPr lang="en-IN" dirty="0"/>
              <a:t> account for nearly all successes, so newer boosters are more reliable across payload ranges.</a:t>
            </a:r>
          </a:p>
          <a:p>
            <a:pPr lvl="0"/>
            <a:r>
              <a:rPr lang="en-IN" b="1" dirty="0"/>
              <a:t>Conclusion:</a:t>
            </a:r>
            <a:r>
              <a:rPr lang="en-IN" dirty="0"/>
              <a:t> the highest success rate comes from mid-range payloads (about 2,500-4,000 kg) on newer boosters (FT/B4/B5). </a:t>
            </a:r>
          </a:p>
          <a:p>
            <a:endParaRPr lang="en-IN" dirty="0"/>
          </a:p>
        </p:txBody>
      </p:sp>
    </p:spTree>
    <p:extLst>
      <p:ext uri="{BB962C8B-B14F-4D97-AF65-F5344CB8AC3E}">
        <p14:creationId xmlns:p14="http://schemas.microsoft.com/office/powerpoint/2010/main" val="2523596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37DFD2-2B76-8445-A1BD-6628DC42C398}"/>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5</a:t>
            </a:r>
          </a:p>
        </p:txBody>
      </p:sp>
    </p:spTree>
    <p:extLst>
      <p:ext uri="{BB962C8B-B14F-4D97-AF65-F5344CB8AC3E}">
        <p14:creationId xmlns:p14="http://schemas.microsoft.com/office/powerpoint/2010/main" val="12903941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p:txBody>
          <a:bodyPr/>
          <a:lstStyle/>
          <a:p>
            <a:fld id="{5075537C-CA84-1446-933C-8E9D027F9201}" type="slidenum">
              <a:rPr lang="en-US" smtClean="0"/>
              <a:t>43</a:t>
            </a:fld>
            <a:endParaRPr lang="en-US"/>
          </a:p>
        </p:txBody>
      </p:sp>
      <p:sp>
        <p:nvSpPr>
          <p:cNvPr id="9" name="Title 1">
            <a:extLst>
              <a:ext uri="{FF2B5EF4-FFF2-40B4-BE49-F238E27FC236}">
                <a16:creationId xmlns:a16="http://schemas.microsoft.com/office/drawing/2014/main" id="{B68D8986-45AC-4FB5-96E8-C45F9603EB5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Classification Accuracy</a:t>
            </a:r>
            <a:endParaRPr lang="en-US" dirty="0">
              <a:solidFill>
                <a:srgbClr val="0B49CB"/>
              </a:solidFill>
            </a:endParaRPr>
          </a:p>
        </p:txBody>
      </p:sp>
      <p:pic>
        <p:nvPicPr>
          <p:cNvPr id="3" name="Picture 2">
            <a:extLst>
              <a:ext uri="{FF2B5EF4-FFF2-40B4-BE49-F238E27FC236}">
                <a16:creationId xmlns:a16="http://schemas.microsoft.com/office/drawing/2014/main" id="{99F52B27-0502-218C-52E2-7F0359B212A2}"/>
              </a:ext>
            </a:extLst>
          </p:cNvPr>
          <p:cNvPicPr>
            <a:picLocks noChangeAspect="1"/>
          </p:cNvPicPr>
          <p:nvPr/>
        </p:nvPicPr>
        <p:blipFill>
          <a:blip r:embed="rId3"/>
          <a:stretch>
            <a:fillRect/>
          </a:stretch>
        </p:blipFill>
        <p:spPr>
          <a:xfrm>
            <a:off x="5555513" y="1494660"/>
            <a:ext cx="6318517" cy="4123952"/>
          </a:xfrm>
          <a:prstGeom prst="rect">
            <a:avLst/>
          </a:prstGeom>
        </p:spPr>
      </p:pic>
      <p:sp>
        <p:nvSpPr>
          <p:cNvPr id="6" name="TextBox 5">
            <a:extLst>
              <a:ext uri="{FF2B5EF4-FFF2-40B4-BE49-F238E27FC236}">
                <a16:creationId xmlns:a16="http://schemas.microsoft.com/office/drawing/2014/main" id="{04087752-C55C-FE56-3A85-7AF2E65A4707}"/>
              </a:ext>
            </a:extLst>
          </p:cNvPr>
          <p:cNvSpPr txBox="1"/>
          <p:nvPr/>
        </p:nvSpPr>
        <p:spPr>
          <a:xfrm>
            <a:off x="457199" y="1225689"/>
            <a:ext cx="4920343" cy="5632311"/>
          </a:xfrm>
          <a:prstGeom prst="rect">
            <a:avLst/>
          </a:prstGeom>
          <a:noFill/>
        </p:spPr>
        <p:txBody>
          <a:bodyPr wrap="square" rtlCol="0">
            <a:spAutoFit/>
          </a:bodyPr>
          <a:lstStyle/>
          <a:p>
            <a:pPr marL="285750" indent="-285750">
              <a:buFont typeface="Wingdings" panose="05000000000000000000" pitchFamily="2" charset="2"/>
              <a:buChar char="Ø"/>
            </a:pPr>
            <a:endParaRPr lang="en-IN" dirty="0"/>
          </a:p>
          <a:p>
            <a:pPr marL="285750" lvl="0" indent="-285750">
              <a:buFont typeface="Wingdings" panose="05000000000000000000" pitchFamily="2" charset="2"/>
              <a:buChar char="Ø"/>
            </a:pPr>
            <a:r>
              <a:rPr lang="en-IN" dirty="0"/>
              <a:t>Four classification models were built and tuned with </a:t>
            </a:r>
            <a:r>
              <a:rPr lang="en-IN" dirty="0" err="1"/>
              <a:t>GridSearchCV</a:t>
            </a:r>
            <a:r>
              <a:rPr lang="en-IN" dirty="0"/>
              <a:t> (10-fold cross-validation): Logistic Regression, SVM, Decision Tree and KNN.</a:t>
            </a:r>
          </a:p>
          <a:p>
            <a:pPr marL="285750" lvl="0" indent="-285750">
              <a:buFont typeface="Wingdings" panose="05000000000000000000" pitchFamily="2" charset="2"/>
              <a:buChar char="Ø"/>
            </a:pPr>
            <a:r>
              <a:rPr lang="en-IN" b="1" dirty="0"/>
              <a:t>Logistic Regression, SVM and KNN tie for the highest test accuracy at 83.3%</a:t>
            </a:r>
            <a:r>
              <a:rPr lang="en-IN" dirty="0"/>
              <a:t> (15 of 18 test launches correct).</a:t>
            </a:r>
          </a:p>
          <a:p>
            <a:pPr marL="285750" lvl="0" indent="-285750">
              <a:buFont typeface="Wingdings" panose="05000000000000000000" pitchFamily="2" charset="2"/>
              <a:buChar char="Ø"/>
            </a:pPr>
            <a:r>
              <a:rPr lang="en-IN" b="1" dirty="0"/>
              <a:t>Decision Tree scored lowest at 77.8%</a:t>
            </a:r>
            <a:r>
              <a:rPr lang="en-IN" dirty="0"/>
              <a:t> (14 of 18), one launch fewer than the others.</a:t>
            </a:r>
          </a:p>
          <a:p>
            <a:pPr marL="285750" lvl="0" indent="-285750">
              <a:buFont typeface="Wingdings" panose="05000000000000000000" pitchFamily="2" charset="2"/>
              <a:buChar char="Ø"/>
            </a:pPr>
            <a:r>
              <a:rPr lang="en-IN" dirty="0"/>
              <a:t>The test set contains only 18 launches, so a single launch changes accuracy by about 5.5 percentage points. The differences between models are not large enough to be conclusive.</a:t>
            </a:r>
          </a:p>
          <a:p>
            <a:pPr marL="285750" lvl="0" indent="-285750">
              <a:buFont typeface="Wingdings" panose="05000000000000000000" pitchFamily="2" charset="2"/>
              <a:buChar char="Ø"/>
            </a:pPr>
            <a:r>
              <a:rPr lang="en-IN" b="1" dirty="0"/>
              <a:t>Answer:</a:t>
            </a:r>
            <a:r>
              <a:rPr lang="en-IN" dirty="0"/>
              <a:t> Logistic Regression, SVM and KNN share the highest accuracy. Logistic Regression is reported as the best model because it ties for the top score and is the simplest and easiest to interpret.</a:t>
            </a:r>
          </a:p>
          <a:p>
            <a:endParaRPr lang="en-IN" dirty="0"/>
          </a:p>
        </p:txBody>
      </p:sp>
    </p:spTree>
    <p:extLst>
      <p:ext uri="{BB962C8B-B14F-4D97-AF65-F5344CB8AC3E}">
        <p14:creationId xmlns:p14="http://schemas.microsoft.com/office/powerpoint/2010/main" val="24594460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p:txBody>
          <a:bodyPr/>
          <a:lstStyle/>
          <a:p>
            <a:fld id="{5075537C-CA84-1446-933C-8E9D027F9201}" type="slidenum">
              <a:rPr lang="en-US" smtClean="0"/>
              <a:t>44</a:t>
            </a:fld>
            <a:endParaRPr lang="en-US"/>
          </a:p>
        </p:txBody>
      </p:sp>
      <p:sp>
        <p:nvSpPr>
          <p:cNvPr id="9" name="Title 1">
            <a:extLst>
              <a:ext uri="{FF2B5EF4-FFF2-40B4-BE49-F238E27FC236}">
                <a16:creationId xmlns:a16="http://schemas.microsoft.com/office/drawing/2014/main" id="{533106AC-60D7-46AE-8E64-7B84ABDBD09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Confusion Matrix</a:t>
            </a:r>
            <a:endParaRPr lang="en-US" dirty="0">
              <a:solidFill>
                <a:srgbClr val="0B49CB"/>
              </a:solidFill>
            </a:endParaRPr>
          </a:p>
        </p:txBody>
      </p:sp>
      <p:pic>
        <p:nvPicPr>
          <p:cNvPr id="6" name="Picture 5">
            <a:extLst>
              <a:ext uri="{FF2B5EF4-FFF2-40B4-BE49-F238E27FC236}">
                <a16:creationId xmlns:a16="http://schemas.microsoft.com/office/drawing/2014/main" id="{0449EFD7-B242-98A3-68D2-567A6DF73F0B}"/>
              </a:ext>
            </a:extLst>
          </p:cNvPr>
          <p:cNvPicPr>
            <a:picLocks noChangeAspect="1"/>
          </p:cNvPicPr>
          <p:nvPr/>
        </p:nvPicPr>
        <p:blipFill>
          <a:blip r:embed="rId3"/>
          <a:stretch>
            <a:fillRect/>
          </a:stretch>
        </p:blipFill>
        <p:spPr>
          <a:xfrm>
            <a:off x="6439281" y="1519915"/>
            <a:ext cx="4846330" cy="4160528"/>
          </a:xfrm>
          <a:prstGeom prst="rect">
            <a:avLst/>
          </a:prstGeom>
        </p:spPr>
      </p:pic>
      <p:sp>
        <p:nvSpPr>
          <p:cNvPr id="7" name="TextBox 6">
            <a:extLst>
              <a:ext uri="{FF2B5EF4-FFF2-40B4-BE49-F238E27FC236}">
                <a16:creationId xmlns:a16="http://schemas.microsoft.com/office/drawing/2014/main" id="{D1F51F46-2BE6-5448-FE85-81218CF759FA}"/>
              </a:ext>
            </a:extLst>
          </p:cNvPr>
          <p:cNvSpPr txBox="1"/>
          <p:nvPr/>
        </p:nvSpPr>
        <p:spPr>
          <a:xfrm>
            <a:off x="576943" y="1519915"/>
            <a:ext cx="5344886" cy="5016758"/>
          </a:xfrm>
          <a:prstGeom prst="rect">
            <a:avLst/>
          </a:prstGeom>
          <a:noFill/>
        </p:spPr>
        <p:txBody>
          <a:bodyPr wrap="square" rtlCol="0">
            <a:spAutoFit/>
          </a:bodyPr>
          <a:lstStyle/>
          <a:p>
            <a:r>
              <a:rPr lang="en-IN" sz="2000" b="1" dirty="0">
                <a:solidFill>
                  <a:schemeClr val="accent1">
                    <a:lumMod val="75000"/>
                  </a:schemeClr>
                </a:solidFill>
              </a:rPr>
              <a:t>Confusion Matrix: Logistic Regression</a:t>
            </a:r>
          </a:p>
          <a:p>
            <a:pPr marL="342900" lvl="0" indent="-342900">
              <a:buFont typeface="Wingdings" panose="05000000000000000000" pitchFamily="2" charset="2"/>
              <a:buChar char="Ø"/>
            </a:pPr>
            <a:r>
              <a:rPr lang="en-IN" sz="2000" dirty="0"/>
              <a:t>The confusion matrix is for </a:t>
            </a:r>
            <a:r>
              <a:rPr lang="en-IN" sz="2000" b="1" dirty="0"/>
              <a:t>Logistic Regression</a:t>
            </a:r>
            <a:r>
              <a:rPr lang="en-IN" sz="2000" dirty="0"/>
              <a:t>, which ties for the highest test accuracy (83.3%, 15 of 18 launches correct).</a:t>
            </a:r>
          </a:p>
          <a:p>
            <a:pPr marL="342900" lvl="0" indent="-342900">
              <a:buFont typeface="Wingdings" panose="05000000000000000000" pitchFamily="2" charset="2"/>
              <a:buChar char="Ø"/>
            </a:pPr>
            <a:r>
              <a:rPr lang="en-IN" sz="2000" b="1" dirty="0"/>
              <a:t>12 true positives:</a:t>
            </a:r>
            <a:r>
              <a:rPr lang="en-IN" sz="2000" dirty="0"/>
              <a:t> successful landings that the model predicted correctly. It did not miss a single real success (0 false negatives).</a:t>
            </a:r>
          </a:p>
          <a:p>
            <a:pPr marL="342900" lvl="0" indent="-342900">
              <a:buFont typeface="Wingdings" panose="05000000000000000000" pitchFamily="2" charset="2"/>
              <a:buChar char="Ø"/>
            </a:pPr>
            <a:r>
              <a:rPr lang="en-IN" sz="2000" b="1" dirty="0"/>
              <a:t>3 true negatives:</a:t>
            </a:r>
            <a:r>
              <a:rPr lang="en-IN" sz="2000" dirty="0"/>
              <a:t> failed landings that the model correctly predicted would fail.</a:t>
            </a:r>
          </a:p>
          <a:p>
            <a:pPr marL="342900" lvl="0" indent="-342900">
              <a:buFont typeface="Wingdings" panose="05000000000000000000" pitchFamily="2" charset="2"/>
              <a:buChar char="Ø"/>
            </a:pPr>
            <a:r>
              <a:rPr lang="en-IN" sz="2000" b="1" dirty="0"/>
              <a:t>3 false positives:</a:t>
            </a:r>
            <a:r>
              <a:rPr lang="en-IN" sz="2000" dirty="0"/>
              <a:t> launches that failed but were predicted to land. This is the model’s main weakness.</a:t>
            </a:r>
          </a:p>
          <a:p>
            <a:pPr marL="342900" lvl="0" indent="-342900">
              <a:buFont typeface="Wingdings" panose="05000000000000000000" pitchFamily="2" charset="2"/>
              <a:buChar char="Ø"/>
            </a:pPr>
            <a:r>
              <a:rPr lang="en-IN" sz="2000" dirty="0"/>
              <a:t>The model is slightly over-optimistic. It rarely misses a real success, but sometimes predicts a landing that does not happen.</a:t>
            </a:r>
          </a:p>
          <a:p>
            <a:endParaRPr lang="en-IN" sz="2000" dirty="0">
              <a:solidFill>
                <a:schemeClr val="accent1">
                  <a:lumMod val="75000"/>
                </a:schemeClr>
              </a:solidFill>
            </a:endParaRPr>
          </a:p>
        </p:txBody>
      </p:sp>
    </p:spTree>
    <p:extLst>
      <p:ext uri="{BB962C8B-B14F-4D97-AF65-F5344CB8AC3E}">
        <p14:creationId xmlns:p14="http://schemas.microsoft.com/office/powerpoint/2010/main" val="36450342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A56319-AADE-D741-AA33-1311B7CA8C0C}"/>
              </a:ext>
            </a:extLst>
          </p:cNvPr>
          <p:cNvSpPr>
            <a:spLocks noGrp="1"/>
          </p:cNvSpPr>
          <p:nvPr>
            <p:ph type="sldNum" sz="quarter" idx="12"/>
          </p:nvPr>
        </p:nvSpPr>
        <p:spPr/>
        <p:txBody>
          <a:bodyPr/>
          <a:lstStyle/>
          <a:p>
            <a:fld id="{5075537C-CA84-1446-933C-8E9D027F9201}" type="slidenum">
              <a:rPr lang="en-US" smtClean="0"/>
              <a:t>45</a:t>
            </a:fld>
            <a:endParaRPr lang="en-US"/>
          </a:p>
        </p:txBody>
      </p:sp>
      <p:sp>
        <p:nvSpPr>
          <p:cNvPr id="9" name="Title 1">
            <a:extLst>
              <a:ext uri="{FF2B5EF4-FFF2-40B4-BE49-F238E27FC236}">
                <a16:creationId xmlns:a16="http://schemas.microsoft.com/office/drawing/2014/main" id="{FB98079A-48C6-4E10-8AB1-B940BD1E42D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Conclusions</a:t>
            </a:r>
            <a:endParaRPr lang="en-US">
              <a:solidFill>
                <a:srgbClr val="0B49CB"/>
              </a:solidFill>
            </a:endParaRPr>
          </a:p>
        </p:txBody>
      </p:sp>
      <p:sp>
        <p:nvSpPr>
          <p:cNvPr id="3" name="TextBox 2">
            <a:extLst>
              <a:ext uri="{FF2B5EF4-FFF2-40B4-BE49-F238E27FC236}">
                <a16:creationId xmlns:a16="http://schemas.microsoft.com/office/drawing/2014/main" id="{EEA64334-0732-3B9D-C2B6-AFCA65B16C80}"/>
              </a:ext>
            </a:extLst>
          </p:cNvPr>
          <p:cNvSpPr txBox="1"/>
          <p:nvPr/>
        </p:nvSpPr>
        <p:spPr>
          <a:xfrm>
            <a:off x="770011" y="1491343"/>
            <a:ext cx="10145486" cy="5216813"/>
          </a:xfrm>
          <a:prstGeom prst="rect">
            <a:avLst/>
          </a:prstGeom>
          <a:noFill/>
        </p:spPr>
        <p:txBody>
          <a:bodyPr wrap="square" rtlCol="0">
            <a:spAutoFit/>
          </a:bodyPr>
          <a:lstStyle/>
          <a:p>
            <a:pPr marL="285750" lvl="0" indent="-285750">
              <a:buFont typeface="Wingdings" panose="05000000000000000000" pitchFamily="2" charset="2"/>
              <a:buChar char="Ø"/>
            </a:pPr>
            <a:r>
              <a:rPr lang="en-IN" sz="2100" b="1" dirty="0"/>
              <a:t>Landing success depends on payload and booster version.</a:t>
            </a:r>
            <a:r>
              <a:rPr lang="en-IN" sz="2100" dirty="0"/>
              <a:t> The dashboard showed the highest success rate at mid-range payloads (about 2,500-4,000 kg) and a sharp drop above about 5,500 kg.</a:t>
            </a:r>
          </a:p>
          <a:p>
            <a:pPr marL="285750" lvl="0" indent="-285750">
              <a:buFont typeface="Wingdings" panose="05000000000000000000" pitchFamily="2" charset="2"/>
              <a:buChar char="Ø"/>
            </a:pPr>
            <a:r>
              <a:rPr lang="en-IN" sz="2100" b="1" dirty="0"/>
              <a:t>Newer boosters (FT, B4, B5) account for nearly all successful landings.</a:t>
            </a:r>
            <a:r>
              <a:rPr lang="en-IN" sz="2100" dirty="0"/>
              <a:t> The older v1.0 and v1.1 boosters mostly failed.</a:t>
            </a:r>
          </a:p>
          <a:p>
            <a:pPr marL="285750" lvl="0" indent="-285750">
              <a:buFont typeface="Wingdings" panose="05000000000000000000" pitchFamily="2" charset="2"/>
              <a:buChar char="Ø"/>
            </a:pPr>
            <a:r>
              <a:rPr lang="en-IN" sz="2100" b="1" dirty="0"/>
              <a:t>Four classification models were tested:</a:t>
            </a:r>
            <a:r>
              <a:rPr lang="en-IN" sz="2100" dirty="0"/>
              <a:t> Logistic Regression, SVM, KNN and Decision Tree, each tuned with </a:t>
            </a:r>
            <a:r>
              <a:rPr lang="en-IN" sz="2100" dirty="0" err="1"/>
              <a:t>GridSearchCV</a:t>
            </a:r>
            <a:r>
              <a:rPr lang="en-IN" sz="2100" dirty="0"/>
              <a:t> and 10-fold cross-validation.</a:t>
            </a:r>
          </a:p>
          <a:p>
            <a:pPr marL="285750" lvl="0" indent="-285750">
              <a:buFont typeface="Wingdings" panose="05000000000000000000" pitchFamily="2" charset="2"/>
              <a:buChar char="Ø"/>
            </a:pPr>
            <a:r>
              <a:rPr lang="en-IN" sz="2100" b="1" dirty="0"/>
              <a:t>Logistic Regression, SVM and KNN tie for the best test accuracy at 83.3%</a:t>
            </a:r>
            <a:r>
              <a:rPr lang="en-IN" sz="2100" dirty="0"/>
              <a:t> (15 of 18 launches). The Decision Tree is lowest at 77.8%.</a:t>
            </a:r>
          </a:p>
          <a:p>
            <a:pPr marL="285750" lvl="0" indent="-285750">
              <a:buFont typeface="Wingdings" panose="05000000000000000000" pitchFamily="2" charset="2"/>
              <a:buChar char="Ø"/>
            </a:pPr>
            <a:r>
              <a:rPr lang="en-IN" sz="2100" b="1" dirty="0"/>
              <a:t>Logistic Regression is the selected model.</a:t>
            </a:r>
            <a:r>
              <a:rPr lang="en-IN" sz="2100" dirty="0"/>
              <a:t> It predicted every successful landing correctly (12 of 12) but wrongly predicted 3 failed landings as successes.</a:t>
            </a:r>
          </a:p>
          <a:p>
            <a:pPr marL="285750" lvl="0" indent="-285750">
              <a:buFont typeface="Wingdings" panose="05000000000000000000" pitchFamily="2" charset="2"/>
              <a:buChar char="Ø"/>
            </a:pPr>
            <a:r>
              <a:rPr lang="en-IN" sz="2100" b="1" dirty="0"/>
              <a:t>Practical value:</a:t>
            </a:r>
            <a:r>
              <a:rPr lang="en-IN" sz="2100" dirty="0"/>
              <a:t> predicting whether the first stage will land helps estimate launch cost, which a competing company could use when bidding against SpaceX.</a:t>
            </a:r>
          </a:p>
          <a:p>
            <a:pPr marL="285750" lvl="0" indent="-285750">
              <a:buFont typeface="Wingdings" panose="05000000000000000000" pitchFamily="2" charset="2"/>
              <a:buChar char="Ø"/>
            </a:pPr>
            <a:r>
              <a:rPr lang="en-IN" sz="2100" b="1" dirty="0"/>
              <a:t>Limitation and next step:</a:t>
            </a:r>
            <a:r>
              <a:rPr lang="en-IN" sz="2100" dirty="0"/>
              <a:t> only 90 launches are available, with 18 in the test set. More launch data would give a more reliable comparison between models.</a:t>
            </a:r>
          </a:p>
          <a:p>
            <a:endParaRPr lang="en-IN" dirty="0"/>
          </a:p>
        </p:txBody>
      </p:sp>
    </p:spTree>
    <p:extLst>
      <p:ext uri="{BB962C8B-B14F-4D97-AF65-F5344CB8AC3E}">
        <p14:creationId xmlns:p14="http://schemas.microsoft.com/office/powerpoint/2010/main" val="16301236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7525D5A-386D-C541-9D42-BBDEA82289E4}"/>
              </a:ext>
            </a:extLst>
          </p:cNvPr>
          <p:cNvSpPr>
            <a:spLocks noGrp="1"/>
          </p:cNvSpPr>
          <p:nvPr>
            <p:ph type="sldNum" sz="quarter" idx="12"/>
          </p:nvPr>
        </p:nvSpPr>
        <p:spPr/>
        <p:txBody>
          <a:bodyPr/>
          <a:lstStyle/>
          <a:p>
            <a:fld id="{5075537C-CA84-1446-933C-8E9D027F9201}" type="slidenum">
              <a:rPr lang="en-US" smtClean="0"/>
              <a:t>46</a:t>
            </a:fld>
            <a:endParaRPr lang="en-US"/>
          </a:p>
        </p:txBody>
      </p:sp>
      <p:sp>
        <p:nvSpPr>
          <p:cNvPr id="11" name="Title 1">
            <a:extLst>
              <a:ext uri="{FF2B5EF4-FFF2-40B4-BE49-F238E27FC236}">
                <a16:creationId xmlns:a16="http://schemas.microsoft.com/office/drawing/2014/main" id="{60F8A56C-5EE1-4DBF-842D-C2A130AA680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Appendix</a:t>
            </a:r>
            <a:endParaRPr lang="en-US" dirty="0">
              <a:solidFill>
                <a:srgbClr val="0B49CB"/>
              </a:solidFill>
            </a:endParaRPr>
          </a:p>
        </p:txBody>
      </p:sp>
      <p:sp>
        <p:nvSpPr>
          <p:cNvPr id="2" name="TextBox 1">
            <a:extLst>
              <a:ext uri="{FF2B5EF4-FFF2-40B4-BE49-F238E27FC236}">
                <a16:creationId xmlns:a16="http://schemas.microsoft.com/office/drawing/2014/main" id="{26FA7EDF-80E3-E2F5-2E3E-4F451B4E59D7}"/>
              </a:ext>
            </a:extLst>
          </p:cNvPr>
          <p:cNvSpPr txBox="1"/>
          <p:nvPr/>
        </p:nvSpPr>
        <p:spPr>
          <a:xfrm>
            <a:off x="936171" y="1578429"/>
            <a:ext cx="9318172" cy="5293757"/>
          </a:xfrm>
          <a:prstGeom prst="rect">
            <a:avLst/>
          </a:prstGeom>
          <a:noFill/>
        </p:spPr>
        <p:txBody>
          <a:bodyPr wrap="square" rtlCol="0">
            <a:spAutoFit/>
          </a:bodyPr>
          <a:lstStyle/>
          <a:p>
            <a:pPr marL="285750" lvl="0" indent="-285750">
              <a:buFont typeface="Wingdings" panose="05000000000000000000" pitchFamily="2" charset="2"/>
              <a:buChar char="Ø"/>
            </a:pPr>
            <a:r>
              <a:rPr lang="en-IN" sz="2000" b="1" dirty="0"/>
              <a:t>GitHub repository:</a:t>
            </a:r>
            <a:r>
              <a:rPr lang="en-IN" sz="2000" dirty="0"/>
              <a:t> </a:t>
            </a:r>
            <a:r>
              <a:rPr lang="en-IN" sz="2000" dirty="0">
                <a:hlinkClick r:id="rId4"/>
              </a:rPr>
              <a:t>https://github.com/anatesan-01/Data-Science-Capstone--IBM</a:t>
            </a:r>
            <a:endParaRPr lang="en-IN" sz="2000" dirty="0"/>
          </a:p>
          <a:p>
            <a:pPr marL="285750" lvl="0" indent="-285750">
              <a:buFont typeface="Wingdings" panose="05000000000000000000" pitchFamily="2" charset="2"/>
              <a:buChar char="Ø"/>
            </a:pPr>
            <a:r>
              <a:rPr lang="en-IN" sz="2000" b="1" dirty="0"/>
              <a:t>Notebooks and code (all in the repository):</a:t>
            </a:r>
            <a:r>
              <a:rPr lang="en-IN" sz="2000" dirty="0"/>
              <a:t> </a:t>
            </a:r>
          </a:p>
          <a:p>
            <a:pPr marL="742950" lvl="1" indent="-285750">
              <a:buFont typeface="Wingdings" panose="05000000000000000000" pitchFamily="2" charset="2"/>
              <a:buChar char="q"/>
            </a:pPr>
            <a:r>
              <a:rPr lang="en-IN" sz="2000" dirty="0"/>
              <a:t>Data collection (SpaceX API): jupyter-labs-spacex-data-collection-api-v2.ipynb</a:t>
            </a:r>
          </a:p>
          <a:p>
            <a:pPr marL="742950" lvl="1" indent="-285750">
              <a:buFont typeface="Wingdings" panose="05000000000000000000" pitchFamily="2" charset="2"/>
              <a:buChar char="q"/>
            </a:pPr>
            <a:r>
              <a:rPr lang="en-IN" sz="2000" dirty="0"/>
              <a:t>Data wrangling: labs-</a:t>
            </a:r>
            <a:r>
              <a:rPr lang="en-IN" sz="2000" dirty="0" err="1"/>
              <a:t>jupyter</a:t>
            </a:r>
            <a:r>
              <a:rPr lang="en-IN" sz="2000" dirty="0"/>
              <a:t>-</a:t>
            </a:r>
            <a:r>
              <a:rPr lang="en-IN" sz="2000" dirty="0" err="1"/>
              <a:t>spacex</a:t>
            </a:r>
            <a:r>
              <a:rPr lang="en-IN" sz="2000" dirty="0"/>
              <a:t>-Data wrangling-v2.ipynb</a:t>
            </a:r>
          </a:p>
          <a:p>
            <a:pPr marL="742950" lvl="1" indent="-285750">
              <a:buFont typeface="Wingdings" panose="05000000000000000000" pitchFamily="2" charset="2"/>
              <a:buChar char="q"/>
            </a:pPr>
            <a:r>
              <a:rPr lang="en-IN" sz="2000" dirty="0"/>
              <a:t>EDA with data visualization: jupyter-labs-eda-dataviz-v2.ipynb</a:t>
            </a:r>
          </a:p>
          <a:p>
            <a:pPr marL="742950" lvl="1" indent="-285750">
              <a:buFont typeface="Wingdings" panose="05000000000000000000" pitchFamily="2" charset="2"/>
              <a:buChar char="q"/>
            </a:pPr>
            <a:r>
              <a:rPr lang="en-IN" sz="2000" dirty="0"/>
              <a:t>EDA with SQL: </a:t>
            </a:r>
            <a:r>
              <a:rPr lang="en-IN" sz="2000" dirty="0" err="1"/>
              <a:t>jupyter</a:t>
            </a:r>
            <a:r>
              <a:rPr lang="en-IN" sz="2000" dirty="0"/>
              <a:t>-labs-</a:t>
            </a:r>
            <a:r>
              <a:rPr lang="en-IN" sz="2000" dirty="0" err="1"/>
              <a:t>eda</a:t>
            </a:r>
            <a:r>
              <a:rPr lang="en-IN" sz="2000" dirty="0"/>
              <a:t>-</a:t>
            </a:r>
            <a:r>
              <a:rPr lang="en-IN" sz="2000" dirty="0" err="1"/>
              <a:t>sql-coursera_sqllite.ipynb</a:t>
            </a:r>
            <a:endParaRPr lang="en-IN" sz="2000" dirty="0"/>
          </a:p>
          <a:p>
            <a:pPr marL="742950" lvl="1" indent="-285750">
              <a:buFont typeface="Wingdings" panose="05000000000000000000" pitchFamily="2" charset="2"/>
              <a:buChar char="q"/>
            </a:pPr>
            <a:r>
              <a:rPr lang="en-IN" sz="2000" dirty="0"/>
              <a:t>Folium launch-site map: lab-jupyter-launch-site-location-v2.ipynb</a:t>
            </a:r>
          </a:p>
          <a:p>
            <a:pPr marL="742950" lvl="1" indent="-285750">
              <a:buFont typeface="Wingdings" panose="05000000000000000000" pitchFamily="2" charset="2"/>
              <a:buChar char="q"/>
            </a:pPr>
            <a:r>
              <a:rPr lang="en-IN" sz="2000" dirty="0" err="1"/>
              <a:t>Plotly</a:t>
            </a:r>
            <a:r>
              <a:rPr lang="en-IN" sz="2000" dirty="0"/>
              <a:t> Dash dashboard: spacex_dash_app.py</a:t>
            </a:r>
          </a:p>
          <a:p>
            <a:pPr marL="742950" lvl="1" indent="-285750">
              <a:buFont typeface="Wingdings" panose="05000000000000000000" pitchFamily="2" charset="2"/>
              <a:buChar char="q"/>
            </a:pPr>
            <a:r>
              <a:rPr lang="en-IN" sz="2000" dirty="0"/>
              <a:t>Machine learning prediction: SpaceX-Machine-Learning-Prediction-Part-5 notebook</a:t>
            </a:r>
          </a:p>
          <a:p>
            <a:pPr marL="285750" lvl="0" indent="-285750">
              <a:buFont typeface="Wingdings" panose="05000000000000000000" pitchFamily="2" charset="2"/>
              <a:buChar char="Ø"/>
            </a:pPr>
            <a:r>
              <a:rPr lang="en-IN" sz="2000" b="1" dirty="0"/>
              <a:t>Datasets:</a:t>
            </a:r>
            <a:r>
              <a:rPr lang="en-IN" sz="2000" dirty="0"/>
              <a:t> dataset_part_2.csv (cleaned launches with the Class label) and dataset_part_3.csv (one-hot encoded features), both from the IBM course data.</a:t>
            </a:r>
          </a:p>
          <a:p>
            <a:pPr marL="285750" lvl="0" indent="-285750">
              <a:buFont typeface="Wingdings" panose="05000000000000000000" pitchFamily="2" charset="2"/>
              <a:buChar char="Ø"/>
            </a:pPr>
            <a:r>
              <a:rPr lang="en-IN" sz="2000" b="1" dirty="0"/>
              <a:t>SQL queries run (SQLite):</a:t>
            </a:r>
            <a:r>
              <a:rPr lang="en-IN" sz="2000" dirty="0"/>
              <a:t> unique launch sites, LIKE 'CCA%', total and average payload, first ground-pad landing, drone-ship landings between 4,000 and 6,000 kg, mission outcome counts, maximum payload boosters, 2015 failed drone-ship landings, and landing outcome ranking.</a:t>
            </a:r>
          </a:p>
          <a:p>
            <a:endParaRPr lang="en-IN" dirty="0"/>
          </a:p>
        </p:txBody>
      </p:sp>
    </p:spTree>
    <p:extLst>
      <p:ext uri="{BB962C8B-B14F-4D97-AF65-F5344CB8AC3E}">
        <p14:creationId xmlns:p14="http://schemas.microsoft.com/office/powerpoint/2010/main" val="34100085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1040741"/>
      </p:ext>
    </p:extLst>
  </p:cSld>
  <p:clrMapOvr>
    <a:masterClrMapping/>
  </p:clrMapOvr>
  <p:transition spd="slow">
    <p:push dir="u"/>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62F7CB0-C005-400D-8101-957D1D433F39}">
  <we:reference id="wa200005566" version="3.0.1.2" store="en-US" storeType="OMEX"/>
  <we:alternateReferences>
    <we:reference id="wa200005566" version="3.0.1.2"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2" ma:contentTypeDescription="Create a new document." ma:contentTypeScope="" ma:versionID="5271f8e20090c87afed7729ac71f61b2">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cf12c133eb44377ebd94fdb7db4757b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D840426-F08D-42AC-9846-A20E4AB85A26}">
  <ds:schemaRefs>
    <ds:schemaRef ds:uri="155be751-a274-42e8-93fb-f39d3b9bccc8"/>
    <ds:schemaRef ds:uri="f80a141d-92ca-4d3d-9308-f7e7b1d44ce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4DA07C5-A406-4A0D-B3E6-3856C94AC7F3}">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f80a141d-92ca-4d3d-9308-f7e7b1d44ce8"/>
    <ds:schemaRef ds:uri="http://purl.org/dc/dcmitype/"/>
    <ds:schemaRef ds:uri="http://www.w3.org/XML/1998/namespace"/>
    <ds:schemaRef ds:uri="155be751-a274-42e8-93fb-f39d3b9bccc8"/>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7EFDA260-DDA0-422C-B7AE-778F653FBB3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649</TotalTime>
  <Words>5166</Words>
  <Application>Microsoft Office PowerPoint</Application>
  <PresentationFormat>Widescreen</PresentationFormat>
  <Paragraphs>494</Paragraphs>
  <Slides>47</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47</vt:i4>
      </vt:variant>
    </vt:vector>
  </HeadingPairs>
  <TitlesOfParts>
    <vt:vector size="55" baseType="lpstr">
      <vt:lpstr>Abadi</vt:lpstr>
      <vt:lpstr>Aptos</vt:lpstr>
      <vt:lpstr>Arial</vt:lpstr>
      <vt:lpstr>Arial Narrow</vt:lpstr>
      <vt:lpstr>Calibri</vt:lpstr>
      <vt:lpstr>IBM Plex Mono SemiBold</vt:lpstr>
      <vt:lpstr>Wingdings</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&lt;Title&gt;</dc:title>
  <dc:creator>YAN Luo</dc:creator>
  <cp:lastModifiedBy>natesan a</cp:lastModifiedBy>
  <cp:revision>208</cp:revision>
  <dcterms:created xsi:type="dcterms:W3CDTF">2021-04-29T18:58:34Z</dcterms:created>
  <dcterms:modified xsi:type="dcterms:W3CDTF">2026-10-28T09:46:05Z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ies>
</file>