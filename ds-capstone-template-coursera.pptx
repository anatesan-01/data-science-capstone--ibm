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 varScale="1">
        <p:scale>
          <a:sx n="70" d="100"/>
          <a:sy n="70" d="100"/>
        </p:scale>
        <p:origin x="1373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0991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4328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789" r:id="rId14"/>
    <p:sldLayoutId id="214748379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&lt;Name&gt;</a:t>
            </a: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&lt;Date&gt;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CBBBF-CD20-6B7C-DC96-24967D64281A}"/>
              </a:ext>
            </a:extLst>
          </p:cNvPr>
          <p:cNvSpPr txBox="1"/>
          <p:nvPr/>
        </p:nvSpPr>
        <p:spPr>
          <a:xfrm>
            <a:off x="1245354" y="3547943"/>
            <a:ext cx="289121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Collection &amp; Web Scraping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Wrangling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EDA &amp; SQL Analysis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Interactive Visual Analytics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Predictive Analysis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764C5A-92AF-D101-8710-B2356D28A1C3}"/>
              </a:ext>
            </a:extLst>
          </p:cNvPr>
          <p:cNvSpPr txBox="1"/>
          <p:nvPr/>
        </p:nvSpPr>
        <p:spPr>
          <a:xfrm>
            <a:off x="7010399" y="1983470"/>
            <a:ext cx="23295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8BFF12-37BC-4D46-EBAC-33A07F451573}"/>
              </a:ext>
            </a:extLst>
          </p:cNvPr>
          <p:cNvSpPr txBox="1"/>
          <p:nvPr/>
        </p:nvSpPr>
        <p:spPr>
          <a:xfrm>
            <a:off x="7422206" y="2432965"/>
            <a:ext cx="28736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EDA Visualization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SQL Analysis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Folium Map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Plotly</a:t>
            </a: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Dash Dashboard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Machine Learning Results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A84A0-6664-4C68-E0B7-AC471CE1A2E4}"/>
              </a:ext>
            </a:extLst>
          </p:cNvPr>
          <p:cNvSpPr txBox="1"/>
          <p:nvPr/>
        </p:nvSpPr>
        <p:spPr>
          <a:xfrm>
            <a:off x="7052012" y="4290383"/>
            <a:ext cx="1839221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endParaRPr lang="en-IN" sz="2200" dirty="0">
              <a:latin typeface="Abadi" panose="020B0604020104020204" pitchFamily="34" charset="0"/>
            </a:endParaRPr>
          </a:p>
          <a:p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5449F2-0FA3-1C78-B09A-17C1EA19C8C9}"/>
              </a:ext>
            </a:extLst>
          </p:cNvPr>
          <p:cNvSpPr txBox="1"/>
          <p:nvPr/>
        </p:nvSpPr>
        <p:spPr>
          <a:xfrm>
            <a:off x="7034078" y="4547672"/>
            <a:ext cx="167308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endParaRPr lang="en-IN" dirty="0"/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Appendix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3" y="2684972"/>
            <a:ext cx="4017889" cy="1039909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ACB788-2158-EB9A-1FD0-BBA75D69D694}"/>
              </a:ext>
            </a:extLst>
          </p:cNvPr>
          <p:cNvSpPr txBox="1"/>
          <p:nvPr/>
        </p:nvSpPr>
        <p:spPr>
          <a:xfrm>
            <a:off x="620486" y="1198451"/>
            <a:ext cx="113538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Predict the landing success of SpaceX Falcon 9's first stage to understand rocket reusability and launch costs.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Collected data using the SpaceX API and web scraping.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Performed data cleaning, data wrangling, EDA, and SQL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Created interactive maps using Folium and dashboards using </a:t>
            </a:r>
            <a:r>
              <a:rPr lang="en-IN" dirty="0" err="1">
                <a:latin typeface="Aptos" panose="020B0004020202020204" pitchFamily="34" charset="0"/>
              </a:rPr>
              <a:t>Plotly</a:t>
            </a:r>
            <a:r>
              <a:rPr lang="en-IN" dirty="0">
                <a:latin typeface="Aptos" panose="020B0004020202020204" pitchFamily="34" charset="0"/>
              </a:rPr>
              <a:t> Dash.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Built and evaluated Logistic Regression, SVM, Decision Tree, and KNN models.</a:t>
            </a:r>
          </a:p>
          <a:p>
            <a:pPr lvl="0"/>
            <a:endParaRPr lang="en-IN" sz="2200" b="1" dirty="0"/>
          </a:p>
          <a:p>
            <a:r>
              <a:rPr lang="en-IN" sz="2200" dirty="0">
                <a:latin typeface="Abadi" panose="020B0604020104020204" pitchFamily="34" charset="0"/>
              </a:rPr>
              <a:t>Key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 err="1"/>
              <a:t>Analyzed</a:t>
            </a:r>
            <a:r>
              <a:rPr lang="en-IN" dirty="0"/>
              <a:t> </a:t>
            </a:r>
            <a:r>
              <a:rPr lang="en-IN" dirty="0">
                <a:latin typeface="Aptos" panose="020B0004020202020204" pitchFamily="34" charset="0"/>
              </a:rPr>
              <a:t>launch success patterns across launch sites, orbit types, payloads, and years.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Used interactive visualizations to explore launch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Evaluated classification models using accuracy and confusion matrices.</a:t>
            </a:r>
          </a:p>
          <a:p>
            <a:pPr lvl="0"/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Data analytics and machine learning can help predict first-stage landing outcomes and support decisions about booster reusability and launch-cost estimation.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7" y="2521403"/>
            <a:ext cx="5660840" cy="1898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A5FF7-59E4-756F-726C-4957CEACD720}"/>
              </a:ext>
            </a:extLst>
          </p:cNvPr>
          <p:cNvSpPr txBox="1"/>
          <p:nvPr/>
        </p:nvSpPr>
        <p:spPr>
          <a:xfrm>
            <a:off x="734028" y="1346956"/>
            <a:ext cx="1119051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Project Background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SpaceX operates the Falcon 9 rocket, which is designed to recover and reuse its first stage.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Reusing the first stage can reduce launch costs compared with expendable rockets.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 Y aims to compete in the commercial space-launch industry by understanding the factors affecting launch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Problem Statement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Determine whether the Falcon 9 first stage will land successfully.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Identify relationships between launch sites, payload mass, orbit type, and landing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 historical launch data and machine learning to predict landing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Project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 and </a:t>
            </a:r>
            <a:r>
              <a:rPr lang="en-IN" dirty="0" err="1">
                <a:latin typeface="Aptos" panose="020B0004020202020204" pitchFamily="34" charset="0"/>
              </a:rPr>
              <a:t>Analyze</a:t>
            </a:r>
            <a:r>
              <a:rPr lang="en-IN" dirty="0">
                <a:latin typeface="Aptos" panose="020B0004020202020204" pitchFamily="34" charset="0"/>
              </a:rPr>
              <a:t> SpaceX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Build interactive visualizations and dashboards.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Compare classification models and identify the best-performing model for predicting landing outcomes.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14772" y="6025573"/>
            <a:ext cx="2743200" cy="401638"/>
          </a:xfrm>
        </p:spPr>
        <p:txBody>
          <a:bodyPr/>
          <a:lstStyle/>
          <a:p>
            <a:fld id="{5075537C-CA84-1446-933C-8E9D027F920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F1C738-6E3F-8158-8C58-D140B787D7A4}"/>
              </a:ext>
            </a:extLst>
          </p:cNvPr>
          <p:cNvSpPr txBox="1"/>
          <p:nvPr/>
        </p:nvSpPr>
        <p:spPr>
          <a:xfrm>
            <a:off x="701371" y="1032190"/>
            <a:ext cx="1145797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b="1" dirty="0"/>
              <a:t>1. Data Collection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SpaceX API:</a:t>
            </a:r>
            <a:r>
              <a:rPr lang="en-IN" dirty="0"/>
              <a:t> Retrieved launch records and mission details in JSON format.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Web Scraping:</a:t>
            </a:r>
            <a:r>
              <a:rPr lang="en-IN" dirty="0"/>
              <a:t> Extracted supplementary launch information from web pages using Python libraries such as Pandas and </a:t>
            </a:r>
            <a:r>
              <a:rPr lang="en-IN" dirty="0" err="1"/>
              <a:t>BeautifulSoup</a:t>
            </a:r>
            <a:r>
              <a:rPr lang="en-IN" dirty="0"/>
              <a:t>.</a:t>
            </a:r>
          </a:p>
          <a:p>
            <a:r>
              <a:rPr lang="en-IN" b="1" dirty="0"/>
              <a:t>2. Data Wrangling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Cleaned the collected data and handled missing values.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Selected relevant features for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Applied one-hot encoding to categorical variables to prepare data for machine learning.</a:t>
            </a:r>
          </a:p>
          <a:p>
            <a:r>
              <a:rPr lang="en-IN" b="1" dirty="0"/>
              <a:t>3. Exploratory Data Analysis (EDA)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Python, Pandas, Matplotlib, and Seaborn to visualize launch outcomes and identify patterns.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SQL queries to </a:t>
            </a:r>
            <a:r>
              <a:rPr lang="en-IN" dirty="0" err="1"/>
              <a:t>analyze</a:t>
            </a:r>
            <a:r>
              <a:rPr lang="en-IN" dirty="0"/>
              <a:t> launch sites, payloads, success rates, rankings, and launch trends over time.</a:t>
            </a:r>
          </a:p>
          <a:p>
            <a:r>
              <a:rPr lang="en-IN" b="1" dirty="0"/>
              <a:t>4. Interactive Visual Analytics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Folium:</a:t>
            </a:r>
            <a:r>
              <a:rPr lang="en-IN" dirty="0"/>
              <a:t> Created an interactive map showing launch sites and launch outcomes, with markers and proximity analysis.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 err="1"/>
              <a:t>Plotly</a:t>
            </a:r>
            <a:r>
              <a:rPr lang="en-IN" b="1" dirty="0"/>
              <a:t> Dash:</a:t>
            </a:r>
            <a:r>
              <a:rPr lang="en-IN" dirty="0"/>
              <a:t> Developed an interactive dashboard with dropdown filters, a payload range slider, a success pie chart, and a scatter plot.</a:t>
            </a:r>
          </a:p>
          <a:p>
            <a:r>
              <a:rPr lang="en-IN" b="1" dirty="0"/>
              <a:t>5. Predictive Analysis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Defined landing outcome (Class) as the target variable. Split the dataset into training and testing sets.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Trained and tuned Logistic Regression, Support Vector Machine (SVM), Decision Tree, and K-Nearest </a:t>
            </a:r>
            <a:r>
              <a:rPr lang="en-IN" dirty="0" err="1"/>
              <a:t>Neighbors</a:t>
            </a:r>
            <a:r>
              <a:rPr lang="en-IN" dirty="0"/>
              <a:t> (KNN) models.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Evaluated model performance using accuracy scores and confusion matrices to identify the best-performing model.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Describe how data sets were collected. 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to present your data collection process use key phrases and flowcharts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31000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SpaceX API calls </a:t>
            </a:r>
            <a:r>
              <a:rPr lang="en-US" sz="2200" dirty="0">
                <a:solidFill>
                  <a:srgbClr val="1C7DDB"/>
                </a:solidFill>
                <a:latin typeface="Abadi"/>
              </a:rPr>
              <a:t>here</a:t>
            </a:r>
            <a:endParaRPr lang="en-US"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– SpaceX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A7D17-3225-B211-95A9-FE36D6FED806}"/>
              </a:ext>
            </a:extLst>
          </p:cNvPr>
          <p:cNvSpPr txBox="1"/>
          <p:nvPr/>
        </p:nvSpPr>
        <p:spPr>
          <a:xfrm>
            <a:off x="650268" y="1440731"/>
            <a:ext cx="517071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Used the public SpaceX API to retrieve Falcon 9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Sent HTTP GET requests to API endpoints using Python's requests library.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Received launch information in JSON format.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Extracted relevant details such as flight number, launch date, launch site, payload, orbit, and landing outcome.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Converted the collected data into a Pandas </a:t>
            </a:r>
            <a:r>
              <a:rPr lang="en-IN" sz="2200" dirty="0" err="1"/>
              <a:t>DataFrame</a:t>
            </a:r>
            <a:r>
              <a:rPr lang="en-IN" sz="2200" dirty="0"/>
              <a:t> for further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2200" dirty="0"/>
          </a:p>
          <a:p>
            <a:r>
              <a:rPr lang="en-IN" b="1" dirty="0"/>
              <a:t>Tools:</a:t>
            </a:r>
            <a:r>
              <a:rPr lang="en-IN" dirty="0"/>
              <a:t> Python, Requests, JSON, Pandas</a:t>
            </a:r>
          </a:p>
          <a:p>
            <a:endParaRPr lang="en-IN" dirty="0"/>
          </a:p>
          <a:p>
            <a:r>
              <a:rPr lang="en-IN" b="1" dirty="0"/>
              <a:t>GitHub Repository:</a:t>
            </a:r>
            <a:br>
              <a:rPr lang="en-IN" dirty="0"/>
            </a:br>
            <a:r>
              <a:rPr lang="en-IN" dirty="0"/>
              <a:t>[Insert your GitHub repository URL here]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4F399B3-B041-D347-D424-C9A5F5BD0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476" y="1636991"/>
            <a:ext cx="5873524" cy="451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792288"/>
            <a:ext cx="3932238" cy="3811587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web scraping process using key phrases and flowcharts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the completed web scraping notebook, as an external reference and peer-review purpose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8B78C759-C687-440F-8CAE-D3071F1AB630}"/>
              </a:ext>
            </a:extLst>
          </p:cNvPr>
          <p:cNvSpPr txBox="1">
            <a:spLocks/>
          </p:cNvSpPr>
          <p:nvPr/>
        </p:nvSpPr>
        <p:spPr>
          <a:xfrm>
            <a:off x="5910262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web scraping here</a:t>
            </a:r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8975725" cy="4351338"/>
          </a:xfrm>
          <a:prstGeom prst="rect">
            <a:avLst/>
          </a:prstGeom>
        </p:spPr>
        <p:txBody>
          <a:bodyPr/>
          <a:lstStyle/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Describe how data were processed</a:t>
            </a:r>
          </a:p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to present your data wrangling process using key phrases and flowcharts</a:t>
            </a:r>
          </a:p>
          <a:p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data wrangling related notebooks, as an external reference and peer-review purpose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Summarize what charts were plotted and why you used those charts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EDA with data visualization notebook,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06575"/>
            <a:ext cx="9745663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Using bullet point format, summarize the SQL queries you performed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EDA with SQL notebook, as an external reference and peer-review purpose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74838"/>
            <a:ext cx="10515600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what map objects such as markers, circles, lines, etc. you created and added to a folium map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Explain why you added those objects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interactive map with Folium map, as an external reference and peer-review purpose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what plots/graphs and interactions you have added to a dashboard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Explain why you added those plots and interactions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</a:t>
            </a:r>
            <a:r>
              <a:rPr lang="en-US" sz="220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Plotly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Dash lab,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how you built, evaluated, improved, and found the best performing classification model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present your model development process using key phrases and flowchart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predictive analysis lab, as an external reference and peer-review purpose</a:t>
            </a:r>
          </a:p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Flight number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payload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Orbit 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line chart of yearly average success rate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the names of the unique launch sites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5 records where launch sites begin with `CCA`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Site Names Begin with 'CCA'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payload carried by boosters from NASA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Payload Mass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average payload mass carried by booster version F9 v1.1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Average Payload Mass by F9 v1.1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Find the dates of the first successful landing outcome on ground pad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First Successful Ground Landing Date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names of boosters which have successfully landed on drone ship and had payload mass greater than 4000 but less than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Successful Drone Ship Landing with Payload between 4000 and 6000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number of successful and failure mission outcomes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Number of Successful and Failure Mission Outcomes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 which have carried the maximum payload mass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Boosters Carried Maximum Payload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failed 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landing_outcomes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in drone ship, their booster versions, and launch site names for in year 2015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query result with a short explanation here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2015 Launch Records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Rank the count of landing outcomes (such as Failure (drone ship) or Success (ground pad)) between the date 2010-06-04 and 2017-03-20, in descending order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Rank Landing Outcomes Between 2010-06-04 and 2017-03-20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make a proper screenshot to include all launch sites’ location markers on a global map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  <a:ea typeface="+mn-lt"/>
                <a:cs typeface="+mn-lt"/>
              </a:rPr>
              <a:t>Explore the folium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map and make a proper screenshot to show the color-labeled launch outcomes on the map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spcBef>
                <a:spcPts val="1400"/>
              </a:spcBef>
            </a:pPr>
            <a:endParaRPr lang="en-US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690688"/>
            <a:ext cx="8597900" cy="431482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show the screenshot of a selected launch site to its proximities such as railway, highway, coastline, with distance calculated and displayed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launch success count for all sites, in a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55211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the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for the launch site with highest launch success ratio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414000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Replace &lt;Dashboard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screenshots of Payload vs. Launch Outcome scatter plot for all sites, with different payload selected in the range slider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screenshot, such as which payload range or booster version have the largest success rate, etc.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5326063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Visualize the built model accuracy for all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built classification models, in a bar chart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which model has the highest classification accuracy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9477375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confusion matrix of the best performing model with an explanation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74838"/>
            <a:ext cx="5903913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2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3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4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…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58963"/>
            <a:ext cx="10515600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Include any relevant assets like Python code snippets, SQL queries, charts, Notebook outputs, or data sets that you may have created during this project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2F7CB0-C005-400D-8101-957D1D433F39}">
  <we:reference id="wa200005566" version="3.0.1.2" store="en-US" storeType="OMEX"/>
  <we:alternateReferences>
    <we:reference id="wa200005566" version="3.0.1.2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</TotalTime>
  <Words>1823</Words>
  <Application>Microsoft Office PowerPoint</Application>
  <PresentationFormat>Widescreen</PresentationFormat>
  <Paragraphs>285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Abadi</vt:lpstr>
      <vt:lpstr>Aptos</vt:lpstr>
      <vt:lpstr>Arial</vt:lpstr>
      <vt:lpstr>Arial Narrow</vt:lpstr>
      <vt:lpstr>Calibri</vt:lpstr>
      <vt:lpstr>IBM Plex Mono SemiBold</vt:lpstr>
      <vt:lpstr>Wingdings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&lt;Title&gt;</dc:title>
  <dc:creator>YAN Luo</dc:creator>
  <cp:lastModifiedBy>natesan a</cp:lastModifiedBy>
  <cp:revision>200</cp:revision>
  <dcterms:created xsi:type="dcterms:W3CDTF">2021-04-29T18:58:34Z</dcterms:created>
  <dcterms:modified xsi:type="dcterms:W3CDTF">2026-10-10T16:35:23Z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